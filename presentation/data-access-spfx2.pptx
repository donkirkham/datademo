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problem" is a Speaking Events list — Title, Speaker, Session, SessionDate, SessionType, EventLogo, EventSite, SessionLink. Same CRUD operations against the same list. Six implementations.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you've ever written fetch against /_api/web, you know the headers dance. SPFx hides that. That's already a win over raw fetch."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URL — $select, $expand, $filter, $orderby. Memorize this URL shape; it matters in 30 minutes. Highlight the as IEventItem[] cast — TypeScript trusts you, SharePoint doesn't validate.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Bonus / flex slide. Pre-empt the audience question: "Don't I need to send __metadata: { type: 'SP.Data.…ListItem' } on create?" Only under odata=verbose. SPFx ships nometadata by default; PnPjs .items.add() doesn't include it either. Multi-content-type lists are the one edge case, and there the modern fix is setting ContentTypeId in the payload, not __metadata.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Bonus / flex slide. The pattern here is the same as update — POST + header override is the SP REST way of expressing every non-GET, non-create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"use Graph for everything" advice falls down. Graph is great for non-SP workloads. For SP lists, REST is often cleaner.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Prefer header is a fallback for non-indexed columns — unreliable. Indexing is the real fix. "If you've never seen these errors, that's because you've been using PnPjs and you didn't know it was hiding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Bonus / flex slide. The honesty beat: Graph's verbs are nicer than SP REST's, but the field-shape mapping is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Bonus / flex slide. If asked about soft-delete vs hard-delete: Graph deletes are hard. If you want recycle-bin behavior, SP REST has recycle() — Graph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turn. Pause here. Don't rush. "We just wrote three services. Every one of them needs the same five things added before it's production-ready. We're going to write the same three services again with PnPjs, and you're going to watch all five columns light up."
Disambiguation: the [DataDemo] lines in console aren't the data layer logging — those are component-level Logger.info calls announcing user actions. The empty-cell claim is about automatic request/response logging at the data layer, which we wire up for free in the PnPjs pass. Keep DevTools focused on Network tab during Pass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deck. Stay on it. The audience needs to leave this slide trusting that PnPjs isn't doing anything weird underneath. That trust is what makes the next slides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Bonus / flex slide. Pairs with 6a and 8a for the "compare add across all three"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Bonus / flex slide. Tease back to 6b and 8b: "Remember the SP REST X-HTTP-Method: DELETE trick? PnPjs handles that for you. The Graph version drops to a real DELETE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upgrade in the demo is a single-line toggle (a property pane checkbox for logging, an uncomment for caching, a commented block swap for batching). No live editing of fluent chains under pressure. The Caching demo is the visceral one — Click → wait → click → instant. The batching demo is the architectural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Tease: "If you're shipping into production without observability on your data calls, this is the easiest win you'll ever take." The wrapper isn't a hard requirement — Logger.subscribe(ConsoleListener()) works out of the box. The wrapper just lets us prefix [DataDemo] and route through console.info/console.debug for the collapsible-tree affordance.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$batch is not transactional. If page 3 fails, pages 1 and 2 still came back. PnPjs surfaces per-operation results so you can detect partial failures. The demo uses paginated reads because the Speaking Events list isn't big enough for a bulk-write story to land. The pattern is identical for 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to be ready for:
- "Does PnPjs work with app-only auth?" → Yes, but not via SPFx behavior — you provide your own MSAL token via using().
- "Bundle impact?" → Tree-shakes well. Import the selectives (@pnp/sp/webs, @pnp/sp/lists, @pnp/sp/items) not the barrel.
- "PnPjs v3 vs v4?" → v4 is current. v3 → v4 was the batching API rewrite (sp.createBatch() → sp.batched()).
- "Why not just use Graph for everything?" → You saw the expand=fields mess. SP REST is cleaner for SP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PACE_BASE">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 y="274320"/>
            <a:ext cx="73152" cy="73152"/>
          </a:xfrm>
          <a:prstGeom prst="rect">
            <a:avLst/>
          </a:prstGeom>
          <a:solidFill>
            <a:srgbClr val="00E5FF"/>
          </a:solidFill>
          <a:ln w="12700">
            <a:solidFill>
              <a:srgbClr val="00E5FF"/>
            </a:solidFill>
            <a:prstDash val="solid"/>
          </a:ln>
        </p:spPr>
      </p:sp>
      <p:sp>
        <p:nvSpPr>
          <p:cNvPr id="3" name="Shape 1"/>
          <p:cNvSpPr/>
          <p:nvPr/>
        </p:nvSpPr>
        <p:spPr>
          <a:xfrm>
            <a:off x="411480" y="384048"/>
            <a:ext cx="45720" cy="45720"/>
          </a:xfrm>
          <a:prstGeom prst="rect">
            <a:avLst/>
          </a:prstGeom>
          <a:solidFill>
            <a:srgbClr val="B580FF"/>
          </a:solidFill>
          <a:ln w="12700">
            <a:solidFill>
              <a:srgbClr val="B580FF"/>
            </a:solidFill>
            <a:prstDash val="solid"/>
          </a:ln>
        </p:spPr>
      </p:sp>
      <p:sp>
        <p:nvSpPr>
          <p:cNvPr id="4" name="Shape 2"/>
          <p:cNvSpPr/>
          <p:nvPr/>
        </p:nvSpPr>
        <p:spPr>
          <a:xfrm>
            <a:off x="502920" y="292608"/>
            <a:ext cx="36576" cy="36576"/>
          </a:xfrm>
          <a:prstGeom prst="rect">
            <a:avLst/>
          </a:prstGeom>
          <a:solidFill>
            <a:srgbClr val="00E5FF"/>
          </a:solidFill>
          <a:ln w="12700">
            <a:solidFill>
              <a:srgbClr val="00E5FF"/>
            </a:solidFill>
            <a:prstDash val="solid"/>
          </a:ln>
        </p:spPr>
      </p:sp>
      <p:sp>
        <p:nvSpPr>
          <p:cNvPr id="5" name="Shape 3"/>
          <p:cNvSpPr/>
          <p:nvPr/>
        </p:nvSpPr>
        <p:spPr>
          <a:xfrm>
            <a:off x="457200" y="6446520"/>
            <a:ext cx="11274552" cy="0"/>
          </a:xfrm>
          <a:prstGeom prst="line">
            <a:avLst/>
          </a:prstGeom>
          <a:noFill/>
          <a:ln w="9525">
            <a:solidFill>
              <a:srgbClr val="2A3258"/>
            </a:solidFill>
            <a:prstDash val="solid"/>
          </a:ln>
        </p:spPr>
      </p:sp>
      <p:sp>
        <p:nvSpPr>
          <p:cNvPr id="6" name="Text 4"/>
          <p:cNvSpPr/>
          <p:nvPr/>
        </p:nvSpPr>
        <p:spPr>
          <a:xfrm>
            <a:off x="457200" y="6492240"/>
            <a:ext cx="9601200" cy="274320"/>
          </a:xfrm>
          <a:prstGeom prst="rect">
            <a:avLst/>
          </a:prstGeom>
          <a:noFill/>
          <a:ln/>
        </p:spPr>
        <p:txBody>
          <a:bodyPr wrap="square" rtlCol="0" anchor="ctr"/>
          <a:lstStyle/>
          <a:p>
            <a:pPr indent="0" marL="0">
              <a:buNone/>
            </a:pPr>
            <a:r>
              <a:rPr lang="en-US" sz="900" dirty="0">
                <a:solidFill>
                  <a:srgbClr val="A4ADCE"/>
                </a:solidFill>
                <a:latin typeface="Calibri" pitchFamily="34" charset="0"/>
                <a:ea typeface="Calibri" pitchFamily="34" charset="-122"/>
                <a:cs typeface="Calibri" pitchFamily="34" charset="-120"/>
              </a:rPr>
              <a:t>Don Kirkham · Solution Foundry · Reading and Writing SharePoint Data from SPFx</a:t>
            </a:r>
            <a:endParaRPr lang="en-US" sz="900" dirty="0"/>
          </a:p>
        </p:txBody>
      </p:sp>
      <p:sp>
        <p:nvSpPr>
          <p:cNvPr id="7" name="Text 5"/>
          <p:cNvSpPr/>
          <p:nvPr/>
        </p:nvSpPr>
        <p:spPr>
          <a:xfrm>
            <a:off x="10515600" y="6492240"/>
            <a:ext cx="1188720" cy="274320"/>
          </a:xfrm>
          <a:prstGeom prst="rect">
            <a:avLst/>
          </a:prstGeom>
          <a:noFill/>
          <a:ln/>
        </p:spPr>
        <p:txBody>
          <a:bodyPr wrap="square" rtlCol="0" anchor="ctr"/>
          <a:lstStyle/>
          <a:p>
            <a:pPr algn="r" indent="0" marL="0">
              <a:buNone/>
            </a:pPr>
            <a:r>
              <a:rPr lang="en-US" sz="900" dirty="0">
                <a:solidFill>
                  <a:srgbClr val="00E5FF"/>
                </a:solidFill>
                <a:latin typeface="Calibri" pitchFamily="34" charset="0"/>
                <a:ea typeface="Calibri" pitchFamily="34" charset="-122"/>
                <a:cs typeface="Calibri" pitchFamily="34" charset="-120"/>
              </a:rPr>
              <a:t>PAGE_NUM</a:t>
            </a:r>
            <a:endParaRPr lang="en-US" sz="9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PACE_SECTION">
    <p:bg>
      <p:bgPr>
        <a:solidFill>
          <a:srgbClr val="0A0E27"/>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377440"/>
            <a:ext cx="11274552" cy="1097280"/>
          </a:xfrm>
          <a:prstGeom prst="rect">
            <a:avLst/>
          </a:prstGeom>
          <a:noFill/>
          <a:ln/>
        </p:spPr>
        <p:txBody>
          <a:bodyPr wrap="square" rtlCol="0" anchor="ctr"/>
          <a:lstStyle/>
          <a:p>
            <a:pPr algn="ctr" indent="0" marL="0">
              <a:buNone/>
            </a:pPr>
            <a:r>
              <a:rPr lang="en-US" sz="5600" b="1" dirty="0">
                <a:solidFill>
                  <a:srgbClr val="00E5FF"/>
                </a:solidFill>
                <a:latin typeface="Calibri" pitchFamily="34" charset="0"/>
                <a:ea typeface="Calibri" pitchFamily="34" charset="-122"/>
                <a:cs typeface="Calibri" pitchFamily="34" charset="-120"/>
              </a:rPr>
              <a:t>TITLE SLIDE</a:t>
            </a:r>
            <a:endParaRPr lang="en-US" sz="5600" dirty="0"/>
          </a:p>
        </p:txBody>
      </p:sp>
      <p:sp>
        <p:nvSpPr>
          <p:cNvPr id="3" name="Text 1"/>
          <p:cNvSpPr/>
          <p:nvPr/>
        </p:nvSpPr>
        <p:spPr>
          <a:xfrm>
            <a:off x="457200" y="3566160"/>
            <a:ext cx="11274552" cy="548640"/>
          </a:xfrm>
          <a:prstGeom prst="rect">
            <a:avLst/>
          </a:prstGeom>
          <a:noFill/>
          <a:ln/>
        </p:spPr>
        <p:txBody>
          <a:bodyPr wrap="square" rtlCol="0" anchor="ctr"/>
          <a:lstStyle/>
          <a:p>
            <a:pPr algn="ctr" indent="0" marL="0">
              <a:buNone/>
            </a:pPr>
            <a:r>
              <a:rPr lang="en-US" sz="2000" i="1" dirty="0">
                <a:solidFill>
                  <a:srgbClr val="A4ADCE"/>
                </a:solidFill>
                <a:latin typeface="Calibri" pitchFamily="34" charset="0"/>
                <a:ea typeface="Calibri" pitchFamily="34" charset="-122"/>
                <a:cs typeface="Calibri" pitchFamily="34" charset="-120"/>
              </a:rPr>
              <a:t>(replace with your own)</a:t>
            </a:r>
            <a:endParaRPr lang="en-US" sz="2000" dirty="0"/>
          </a:p>
        </p:txBody>
      </p:sp>
      <p:sp>
        <p:nvSpPr>
          <p:cNvPr id="4" name="Text 2"/>
          <p:cNvSpPr/>
          <p:nvPr/>
        </p:nvSpPr>
        <p:spPr>
          <a:xfrm>
            <a:off x="457200" y="4206240"/>
            <a:ext cx="11274552" cy="457200"/>
          </a:xfrm>
          <a:prstGeom prst="rect">
            <a:avLst/>
          </a:prstGeom>
          <a:noFill/>
          <a:ln/>
        </p:spPr>
        <p:txBody>
          <a:bodyPr wrap="square" rtlCol="0" anchor="ctr"/>
          <a:lstStyle/>
          <a:p>
            <a:pPr algn="ctr" indent="0" marL="0">
              <a:buNone/>
            </a:pPr>
            <a:r>
              <a:rPr lang="en-US" sz="1800" dirty="0">
                <a:solidFill>
                  <a:srgbClr val="B580FF"/>
                </a:solidFill>
                <a:latin typeface="Calibri" pitchFamily="34" charset="0"/>
                <a:ea typeface="Calibri" pitchFamily="34" charset="-122"/>
                <a:cs typeface="Calibri" pitchFamily="34" charset="-120"/>
              </a:rPr>
              <a:t>Don Kirkham · Solution Foundry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377440"/>
            <a:ext cx="11274552" cy="1097280"/>
          </a:xfrm>
          <a:prstGeom prst="rect">
            <a:avLst/>
          </a:prstGeom>
          <a:noFill/>
          <a:ln/>
        </p:spPr>
        <p:txBody>
          <a:bodyPr wrap="square" rtlCol="0" anchor="ctr"/>
          <a:lstStyle/>
          <a:p>
            <a:pPr algn="ctr" indent="0" marL="0">
              <a:buNone/>
            </a:pPr>
            <a:r>
              <a:rPr lang="en-US" sz="5600" b="1" dirty="0">
                <a:solidFill>
                  <a:srgbClr val="00E5FF"/>
                </a:solidFill>
                <a:latin typeface="Calibri" pitchFamily="34" charset="0"/>
                <a:ea typeface="Calibri" pitchFamily="34" charset="-122"/>
                <a:cs typeface="Calibri" pitchFamily="34" charset="-120"/>
              </a:rPr>
              <a:t>ABOUT ME</a:t>
            </a:r>
            <a:endParaRPr lang="en-US" sz="5600" dirty="0"/>
          </a:p>
        </p:txBody>
      </p:sp>
      <p:sp>
        <p:nvSpPr>
          <p:cNvPr id="3" name="Text 1"/>
          <p:cNvSpPr/>
          <p:nvPr/>
        </p:nvSpPr>
        <p:spPr>
          <a:xfrm>
            <a:off x="457200" y="3566160"/>
            <a:ext cx="11274552" cy="548640"/>
          </a:xfrm>
          <a:prstGeom prst="rect">
            <a:avLst/>
          </a:prstGeom>
          <a:noFill/>
          <a:ln/>
        </p:spPr>
        <p:txBody>
          <a:bodyPr wrap="square" rtlCol="0" anchor="ctr"/>
          <a:lstStyle/>
          <a:p>
            <a:pPr algn="ctr" indent="0" marL="0">
              <a:buNone/>
            </a:pPr>
            <a:r>
              <a:rPr lang="en-US" sz="2000" i="1" dirty="0">
                <a:solidFill>
                  <a:srgbClr val="A4ADCE"/>
                </a:solidFill>
                <a:latin typeface="Calibri" pitchFamily="34" charset="0"/>
                <a:ea typeface="Calibri" pitchFamily="34" charset="-122"/>
                <a:cs typeface="Calibri" pitchFamily="34" charset="-120"/>
              </a:rPr>
              <a:t>(replace with your own)</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Why this talk</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Text 2"/>
          <p:cNvSpPr/>
          <p:nvPr/>
        </p:nvSpPr>
        <p:spPr>
          <a:xfrm>
            <a:off x="457200" y="1207008"/>
            <a:ext cx="11274552" cy="365760"/>
          </a:xfrm>
          <a:prstGeom prst="rect">
            <a:avLst/>
          </a:prstGeom>
          <a:noFill/>
          <a:ln/>
        </p:spPr>
        <p:txBody>
          <a:bodyPr wrap="square" rtlCol="0" anchor="ctr"/>
          <a:lstStyle/>
          <a:p>
            <a:pPr indent="0" marL="0">
              <a:buNone/>
            </a:pPr>
            <a:r>
              <a:rPr lang="en-US" sz="1600" i="1" dirty="0">
                <a:solidFill>
                  <a:srgbClr val="A4ADCE"/>
                </a:solidFill>
                <a:latin typeface="Calibri" pitchFamily="34" charset="0"/>
                <a:ea typeface="Calibri" pitchFamily="34" charset="-122"/>
                <a:cs typeface="Calibri" pitchFamily="34" charset="-120"/>
              </a:rPr>
              <a:t>You have four ways to get data into an SPFx web part</a:t>
            </a:r>
            <a:endParaRPr lang="en-US" sz="1600" dirty="0"/>
          </a:p>
        </p:txBody>
      </p:sp>
      <p:sp>
        <p:nvSpPr>
          <p:cNvPr id="5" name="Text 3"/>
          <p:cNvSpPr/>
          <p:nvPr/>
        </p:nvSpPr>
        <p:spPr>
          <a:xfrm>
            <a:off x="457200" y="1737360"/>
            <a:ext cx="11274552" cy="4572000"/>
          </a:xfrm>
          <a:prstGeom prst="rect">
            <a:avLst/>
          </a:prstGeom>
          <a:noFill/>
          <a:ln/>
        </p:spPr>
        <p:txBody>
          <a:bodyPr wrap="square" rtlCol="0" anchor="t"/>
          <a:lstStyle/>
          <a:p>
            <a:pPr marL="342900" indent="-342900">
              <a:spcAft>
                <a:spcPts val="600"/>
              </a:spcAft>
              <a:buSzPct val="100000"/>
              <a:buChar char="●"/>
            </a:pPr>
            <a:r>
              <a:rPr lang="en-US" sz="1800" dirty="0">
                <a:solidFill>
                  <a:srgbClr val="F0F4FF"/>
                </a:solidFill>
                <a:latin typeface="Calibri" pitchFamily="34" charset="0"/>
                <a:ea typeface="Calibri" pitchFamily="34" charset="-122"/>
                <a:cs typeface="Calibri" pitchFamily="34" charset="-120"/>
              </a:rPr>
              <a:t>SP REST via SPHttpClient</a:t>
            </a:r>
            <a:endParaRPr lang="en-US" sz="1800" dirty="0"/>
          </a:p>
          <a:p>
            <a:pPr marL="342900" indent="-342900">
              <a:spcAft>
                <a:spcPts val="600"/>
              </a:spcAft>
              <a:buSzPct val="100000"/>
              <a:buChar char="●"/>
            </a:pPr>
            <a:r>
              <a:rPr lang="en-US" sz="1800" dirty="0">
                <a:solidFill>
                  <a:srgbClr val="F0F4FF"/>
                </a:solidFill>
                <a:latin typeface="Calibri" pitchFamily="34" charset="0"/>
                <a:ea typeface="Calibri" pitchFamily="34" charset="-122"/>
                <a:cs typeface="Calibri" pitchFamily="34" charset="-120"/>
              </a:rPr>
              <a:t>MS Graph via MSGraphClientV3</a:t>
            </a:r>
            <a:endParaRPr lang="en-US" sz="1800" dirty="0"/>
          </a:p>
          <a:p>
            <a:pPr marL="342900" indent="-342900">
              <a:spcAft>
                <a:spcPts val="600"/>
              </a:spcAft>
              <a:buSzPct val="100000"/>
              <a:buChar char="●"/>
            </a:pPr>
            <a:r>
              <a:rPr lang="en-US" sz="1800" dirty="0">
                <a:solidFill>
                  <a:srgbClr val="F0F4FF"/>
                </a:solidFill>
                <a:latin typeface="Calibri" pitchFamily="34" charset="0"/>
                <a:ea typeface="Calibri" pitchFamily="34" charset="-122"/>
                <a:cs typeface="Calibri" pitchFamily="34" charset="-120"/>
              </a:rPr>
              <a:t>Anonymous external APIs via HttpClient</a:t>
            </a:r>
            <a:endParaRPr lang="en-US" sz="1800" dirty="0"/>
          </a:p>
          <a:p>
            <a:pPr marL="342900" indent="-342900">
              <a:spcAft>
                <a:spcPts val="600"/>
              </a:spcAft>
              <a:buSzPct val="100000"/>
              <a:buChar char="●"/>
            </a:pPr>
            <a:r>
              <a:rPr lang="en-US" sz="1800" dirty="0">
                <a:solidFill>
                  <a:srgbClr val="F0F4FF"/>
                </a:solidFill>
                <a:latin typeface="Calibri" pitchFamily="34" charset="0"/>
                <a:ea typeface="Calibri" pitchFamily="34" charset="-122"/>
                <a:cs typeface="Calibri" pitchFamily="34" charset="-120"/>
              </a:rPr>
              <a:t>PnPjs (@pnp/sp, @pnp/graph, @pnp/queryable) — wraps the first three</a:t>
            </a:r>
            <a:pPr indent="0" marL="0">
              <a:spcAft>
                <a:spcPts val="600"/>
              </a:spcAft>
              <a:buNone/>
            </a:pPr>
            <a:r>
              <a:rPr lang="en-US" sz="1800" dirty="0">
                <a:solidFill>
                  <a:srgbClr val="F0F4FF"/>
                </a:solidFill>
                <a:latin typeface="Calibri" pitchFamily="34" charset="0"/>
                <a:ea typeface="Calibri" pitchFamily="34" charset="-122"/>
                <a:cs typeface="Calibri" pitchFamily="34" charset="-120"/>
              </a:rPr>
              <a:t> </a:t>
            </a:r>
            <a:pPr indent="0" marL="0">
              <a:spcAft>
                <a:spcPts val="600"/>
              </a:spcAft>
              <a:buNone/>
            </a:pPr>
            <a:r>
              <a:rPr lang="en-US" sz="1800" i="1" dirty="0">
                <a:solidFill>
                  <a:srgbClr val="B580FF"/>
                </a:solidFill>
                <a:latin typeface="Calibri" pitchFamily="34" charset="0"/>
                <a:ea typeface="Calibri" pitchFamily="34" charset="-122"/>
                <a:cs typeface="Calibri" pitchFamily="34" charset="-120"/>
              </a:rPr>
              <a:t>Most tutorials pick one and move on. Today we compare them on the same problem.</a:t>
            </a:r>
            <a:endParaRPr lang="en-US" sz="18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The roadmap</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Shape 2"/>
          <p:cNvSpPr/>
          <p:nvPr/>
        </p:nvSpPr>
        <p:spPr>
          <a:xfrm>
            <a:off x="457200" y="1737360"/>
            <a:ext cx="3657600" cy="4206240"/>
          </a:xfrm>
          <a:prstGeom prst="roundRect">
            <a:avLst>
              <a:gd name="adj" fmla="val 2500"/>
            </a:avLst>
          </a:prstGeom>
          <a:solidFill>
            <a:srgbClr val="141937"/>
          </a:solidFill>
          <a:ln w="19050">
            <a:solidFill>
              <a:srgbClr val="00E5FF"/>
            </a:solidFill>
            <a:prstDash val="solid"/>
          </a:ln>
        </p:spPr>
      </p:sp>
      <p:sp>
        <p:nvSpPr>
          <p:cNvPr id="5" name="Text 3"/>
          <p:cNvSpPr/>
          <p:nvPr/>
        </p:nvSpPr>
        <p:spPr>
          <a:xfrm>
            <a:off x="640080" y="1901952"/>
            <a:ext cx="3291840" cy="457200"/>
          </a:xfrm>
          <a:prstGeom prst="rect">
            <a:avLst/>
          </a:prstGeom>
          <a:noFill/>
          <a:ln/>
        </p:spPr>
        <p:txBody>
          <a:bodyPr wrap="square" rtlCol="0" anchor="ctr"/>
          <a:lstStyle/>
          <a:p>
            <a:pPr indent="0" marL="0">
              <a:buNone/>
            </a:pPr>
            <a:r>
              <a:rPr lang="en-US" sz="1600" b="1" dirty="0">
                <a:solidFill>
                  <a:srgbClr val="00E5FF"/>
                </a:solidFill>
                <a:latin typeface="Calibri" pitchFamily="34" charset="0"/>
                <a:ea typeface="Calibri" pitchFamily="34" charset="-122"/>
                <a:cs typeface="Calibri" pitchFamily="34" charset="-120"/>
              </a:rPr>
              <a:t>PASS 1 — SPFx native</a:t>
            </a:r>
            <a:endParaRPr lang="en-US" sz="1600" dirty="0"/>
          </a:p>
        </p:txBody>
      </p:sp>
      <p:sp>
        <p:nvSpPr>
          <p:cNvPr id="6" name="Text 4"/>
          <p:cNvSpPr/>
          <p:nvPr/>
        </p:nvSpPr>
        <p:spPr>
          <a:xfrm>
            <a:off x="640080" y="2377440"/>
            <a:ext cx="3291840" cy="320040"/>
          </a:xfrm>
          <a:prstGeom prst="rect">
            <a:avLst/>
          </a:prstGeom>
          <a:noFill/>
          <a:ln/>
        </p:spPr>
        <p:txBody>
          <a:bodyPr wrap="square" rtlCol="0" anchor="ctr"/>
          <a:lstStyle/>
          <a:p>
            <a:pPr indent="0" marL="0">
              <a:buNone/>
            </a:pPr>
            <a:r>
              <a:rPr lang="en-US" sz="1100" i="1" dirty="0">
                <a:solidFill>
                  <a:srgbClr val="A4ADCE"/>
                </a:solidFill>
                <a:latin typeface="Calibri" pitchFamily="34" charset="0"/>
                <a:ea typeface="Calibri" pitchFamily="34" charset="-122"/>
                <a:cs typeface="Calibri" pitchFamily="34" charset="-120"/>
              </a:rPr>
              <a:t>≈20 min</a:t>
            </a:r>
            <a:endParaRPr lang="en-US" sz="1100" dirty="0"/>
          </a:p>
        </p:txBody>
      </p:sp>
      <p:sp>
        <p:nvSpPr>
          <p:cNvPr id="7" name="Text 5"/>
          <p:cNvSpPr/>
          <p:nvPr/>
        </p:nvSpPr>
        <p:spPr>
          <a:xfrm>
            <a:off x="640080" y="2743200"/>
            <a:ext cx="3291840" cy="3017520"/>
          </a:xfrm>
          <a:prstGeom prst="rect">
            <a:avLst/>
          </a:prstGeom>
          <a:noFill/>
          <a:ln/>
        </p:spPr>
        <p:txBody>
          <a:bodyPr wrap="square" rtlCol="0" anchor="t"/>
          <a:lstStyle/>
          <a:p>
            <a:pPr marL="342900" indent="-342900">
              <a:spcAft>
                <a:spcPts val="600"/>
              </a:spcAft>
              <a:buSzPct val="100000"/>
              <a:buChar char="●"/>
            </a:pPr>
            <a:r>
              <a:rPr lang="en-US" sz="1400" dirty="0">
                <a:solidFill>
                  <a:srgbClr val="F0F4FF"/>
                </a:solidFill>
                <a:latin typeface="Calibri" pitchFamily="34" charset="0"/>
                <a:ea typeface="Calibri" pitchFamily="34" charset="-122"/>
                <a:cs typeface="Calibri" pitchFamily="34" charset="-120"/>
              </a:rPr>
              <a:t>SP REST against the list</a:t>
            </a:r>
            <a:endParaRPr lang="en-US" sz="1400" dirty="0"/>
          </a:p>
          <a:p>
            <a:pPr marL="342900" indent="-342900">
              <a:spcAft>
                <a:spcPts val="600"/>
              </a:spcAft>
              <a:buSzPct val="100000"/>
              <a:buChar char="●"/>
            </a:pPr>
            <a:r>
              <a:rPr lang="en-US" sz="1400" dirty="0">
                <a:solidFill>
                  <a:srgbClr val="F0F4FF"/>
                </a:solidFill>
                <a:latin typeface="Calibri" pitchFamily="34" charset="0"/>
                <a:ea typeface="Calibri" pitchFamily="34" charset="-122"/>
                <a:cs typeface="Calibri" pitchFamily="34" charset="-120"/>
              </a:rPr>
              <a:t>MS Graph against the same list (and Graph Explorer)</a:t>
            </a:r>
            <a:endParaRPr lang="en-US" sz="1400" dirty="0"/>
          </a:p>
          <a:p>
            <a:pPr marL="342900" indent="-342900">
              <a:spcAft>
                <a:spcPts val="600"/>
              </a:spcAft>
              <a:buSzPct val="100000"/>
              <a:buChar char="●"/>
            </a:pPr>
            <a:r>
              <a:rPr lang="en-US" sz="1400" dirty="0">
                <a:solidFill>
                  <a:srgbClr val="F0F4FF"/>
                </a:solidFill>
                <a:latin typeface="Calibri" pitchFamily="34" charset="0"/>
                <a:ea typeface="Calibri" pitchFamily="34" charset="-122"/>
                <a:cs typeface="Calibri" pitchFamily="34" charset="-120"/>
              </a:rPr>
              <a:t>Anonymous calls to a public API</a:t>
            </a:r>
            <a:endParaRPr lang="en-US" sz="1400" dirty="0"/>
          </a:p>
        </p:txBody>
      </p:sp>
      <p:sp>
        <p:nvSpPr>
          <p:cNvPr id="8" name="Shape 6"/>
          <p:cNvSpPr/>
          <p:nvPr/>
        </p:nvSpPr>
        <p:spPr>
          <a:xfrm>
            <a:off x="4233672" y="1737360"/>
            <a:ext cx="3657600" cy="4206240"/>
          </a:xfrm>
          <a:prstGeom prst="roundRect">
            <a:avLst>
              <a:gd name="adj" fmla="val 2500"/>
            </a:avLst>
          </a:prstGeom>
          <a:solidFill>
            <a:srgbClr val="141937"/>
          </a:solidFill>
          <a:ln w="19050">
            <a:solidFill>
              <a:srgbClr val="FFB347"/>
            </a:solidFill>
            <a:prstDash val="solid"/>
          </a:ln>
        </p:spPr>
      </p:sp>
      <p:sp>
        <p:nvSpPr>
          <p:cNvPr id="9" name="Text 7"/>
          <p:cNvSpPr/>
          <p:nvPr/>
        </p:nvSpPr>
        <p:spPr>
          <a:xfrm>
            <a:off x="4416552" y="1901952"/>
            <a:ext cx="3291840" cy="457200"/>
          </a:xfrm>
          <a:prstGeom prst="rect">
            <a:avLst/>
          </a:prstGeom>
          <a:noFill/>
          <a:ln/>
        </p:spPr>
        <p:txBody>
          <a:bodyPr wrap="square" rtlCol="0" anchor="ctr"/>
          <a:lstStyle/>
          <a:p>
            <a:pPr indent="0" marL="0">
              <a:buNone/>
            </a:pPr>
            <a:r>
              <a:rPr lang="en-US" sz="1600" b="1" dirty="0">
                <a:solidFill>
                  <a:srgbClr val="FFB347"/>
                </a:solidFill>
                <a:latin typeface="Calibri" pitchFamily="34" charset="0"/>
                <a:ea typeface="Calibri" pitchFamily="34" charset="-122"/>
                <a:cs typeface="Calibri" pitchFamily="34" charset="-120"/>
              </a:rPr>
              <a:t>PIVOT</a:t>
            </a:r>
            <a:endParaRPr lang="en-US" sz="1600" dirty="0"/>
          </a:p>
        </p:txBody>
      </p:sp>
      <p:sp>
        <p:nvSpPr>
          <p:cNvPr id="10" name="Text 8"/>
          <p:cNvSpPr/>
          <p:nvPr/>
        </p:nvSpPr>
        <p:spPr>
          <a:xfrm>
            <a:off x="4416552" y="2377440"/>
            <a:ext cx="3291840" cy="320040"/>
          </a:xfrm>
          <a:prstGeom prst="rect">
            <a:avLst/>
          </a:prstGeom>
          <a:noFill/>
          <a:ln/>
        </p:spPr>
        <p:txBody>
          <a:bodyPr wrap="square" rtlCol="0" anchor="ctr"/>
          <a:lstStyle/>
          <a:p>
            <a:pPr indent="0" marL="0">
              <a:buNone/>
            </a:pPr>
            <a:r>
              <a:rPr lang="en-US" sz="1100" i="1" dirty="0">
                <a:solidFill>
                  <a:srgbClr val="A4ADCE"/>
                </a:solidFill>
                <a:latin typeface="Calibri" pitchFamily="34" charset="0"/>
                <a:ea typeface="Calibri" pitchFamily="34" charset="-122"/>
                <a:cs typeface="Calibri" pitchFamily="34" charset="-120"/>
              </a:rPr>
              <a:t>≈2 min</a:t>
            </a:r>
            <a:endParaRPr lang="en-US" sz="1100" dirty="0"/>
          </a:p>
        </p:txBody>
      </p:sp>
      <p:sp>
        <p:nvSpPr>
          <p:cNvPr id="11" name="Text 9"/>
          <p:cNvSpPr/>
          <p:nvPr/>
        </p:nvSpPr>
        <p:spPr>
          <a:xfrm>
            <a:off x="4416552" y="2743200"/>
            <a:ext cx="3291840" cy="3017520"/>
          </a:xfrm>
          <a:prstGeom prst="rect">
            <a:avLst/>
          </a:prstGeom>
          <a:noFill/>
          <a:ln/>
        </p:spPr>
        <p:txBody>
          <a:bodyPr wrap="square" rtlCol="0" anchor="t"/>
          <a:lstStyle/>
          <a:p>
            <a:pPr marL="342900" indent="-342900">
              <a:spcAft>
                <a:spcPts val="600"/>
              </a:spcAft>
              <a:buSzPct val="100000"/>
              <a:buChar char="●"/>
            </a:pPr>
            <a:r>
              <a:rPr lang="en-US" sz="1400" dirty="0">
                <a:solidFill>
                  <a:srgbClr val="F0F4FF"/>
                </a:solidFill>
                <a:latin typeface="Calibri" pitchFamily="34" charset="0"/>
                <a:ea typeface="Calibri" pitchFamily="34" charset="-122"/>
                <a:cs typeface="Calibri" pitchFamily="34" charset="-120"/>
              </a:rPr>
              <a:t>What's missing?</a:t>
            </a:r>
            <a:endParaRPr lang="en-US" sz="1400" dirty="0"/>
          </a:p>
        </p:txBody>
      </p:sp>
      <p:sp>
        <p:nvSpPr>
          <p:cNvPr id="12" name="Shape 10"/>
          <p:cNvSpPr/>
          <p:nvPr/>
        </p:nvSpPr>
        <p:spPr>
          <a:xfrm>
            <a:off x="8010144" y="1737360"/>
            <a:ext cx="3657600" cy="4206240"/>
          </a:xfrm>
          <a:prstGeom prst="roundRect">
            <a:avLst>
              <a:gd name="adj" fmla="val 2500"/>
            </a:avLst>
          </a:prstGeom>
          <a:solidFill>
            <a:srgbClr val="141937"/>
          </a:solidFill>
          <a:ln w="19050">
            <a:solidFill>
              <a:srgbClr val="B580FF"/>
            </a:solidFill>
            <a:prstDash val="solid"/>
          </a:ln>
        </p:spPr>
      </p:sp>
      <p:sp>
        <p:nvSpPr>
          <p:cNvPr id="13" name="Text 11"/>
          <p:cNvSpPr/>
          <p:nvPr/>
        </p:nvSpPr>
        <p:spPr>
          <a:xfrm>
            <a:off x="8193024" y="1901952"/>
            <a:ext cx="3291840" cy="457200"/>
          </a:xfrm>
          <a:prstGeom prst="rect">
            <a:avLst/>
          </a:prstGeom>
          <a:noFill/>
          <a:ln/>
        </p:spPr>
        <p:txBody>
          <a:bodyPr wrap="square" rtlCol="0" anchor="ctr"/>
          <a:lstStyle/>
          <a:p>
            <a:pPr indent="0" marL="0">
              <a:buNone/>
            </a:pPr>
            <a:r>
              <a:rPr lang="en-US" sz="1600" b="1" dirty="0">
                <a:solidFill>
                  <a:srgbClr val="B580FF"/>
                </a:solidFill>
                <a:latin typeface="Calibri" pitchFamily="34" charset="0"/>
                <a:ea typeface="Calibri" pitchFamily="34" charset="-122"/>
                <a:cs typeface="Calibri" pitchFamily="34" charset="-120"/>
              </a:rPr>
              <a:t>PASS 2 — PnPjs</a:t>
            </a:r>
            <a:endParaRPr lang="en-US" sz="1600" dirty="0"/>
          </a:p>
        </p:txBody>
      </p:sp>
      <p:sp>
        <p:nvSpPr>
          <p:cNvPr id="14" name="Text 12"/>
          <p:cNvSpPr/>
          <p:nvPr/>
        </p:nvSpPr>
        <p:spPr>
          <a:xfrm>
            <a:off x="8193024" y="2377440"/>
            <a:ext cx="3291840" cy="320040"/>
          </a:xfrm>
          <a:prstGeom prst="rect">
            <a:avLst/>
          </a:prstGeom>
          <a:noFill/>
          <a:ln/>
        </p:spPr>
        <p:txBody>
          <a:bodyPr wrap="square" rtlCol="0" anchor="ctr"/>
          <a:lstStyle/>
          <a:p>
            <a:pPr indent="0" marL="0">
              <a:buNone/>
            </a:pPr>
            <a:r>
              <a:rPr lang="en-US" sz="1100" i="1" dirty="0">
                <a:solidFill>
                  <a:srgbClr val="A4ADCE"/>
                </a:solidFill>
                <a:latin typeface="Calibri" pitchFamily="34" charset="0"/>
                <a:ea typeface="Calibri" pitchFamily="34" charset="-122"/>
                <a:cs typeface="Calibri" pitchFamily="34" charset="-120"/>
              </a:rPr>
              <a:t>≈20 min</a:t>
            </a:r>
            <a:endParaRPr lang="en-US" sz="1100" dirty="0"/>
          </a:p>
        </p:txBody>
      </p:sp>
      <p:sp>
        <p:nvSpPr>
          <p:cNvPr id="15" name="Text 13"/>
          <p:cNvSpPr/>
          <p:nvPr/>
        </p:nvSpPr>
        <p:spPr>
          <a:xfrm>
            <a:off x="8193024" y="2743200"/>
            <a:ext cx="3291840" cy="3017520"/>
          </a:xfrm>
          <a:prstGeom prst="rect">
            <a:avLst/>
          </a:prstGeom>
          <a:noFill/>
          <a:ln/>
        </p:spPr>
        <p:txBody>
          <a:bodyPr wrap="square" rtlCol="0" anchor="t"/>
          <a:lstStyle/>
          <a:p>
            <a:pPr marL="342900" indent="-342900">
              <a:spcAft>
                <a:spcPts val="600"/>
              </a:spcAft>
              <a:buSzPct val="100000"/>
              <a:buChar char="●"/>
            </a:pPr>
            <a:r>
              <a:rPr lang="en-US" sz="1400" dirty="0">
                <a:solidFill>
                  <a:srgbClr val="F0F4FF"/>
                </a:solidFill>
                <a:latin typeface="Calibri" pitchFamily="34" charset="0"/>
                <a:ea typeface="Calibri" pitchFamily="34" charset="-122"/>
                <a:cs typeface="Calibri" pitchFamily="34" charset="-120"/>
              </a:rPr>
              <a:t>Same SP operations, fluent</a:t>
            </a:r>
            <a:endParaRPr lang="en-US" sz="1400" dirty="0"/>
          </a:p>
          <a:p>
            <a:pPr marL="342900" indent="-342900">
              <a:spcAft>
                <a:spcPts val="600"/>
              </a:spcAft>
              <a:buSzPct val="100000"/>
              <a:buChar char="●"/>
            </a:pPr>
            <a:r>
              <a:rPr lang="en-US" sz="1400" dirty="0">
                <a:solidFill>
                  <a:srgbClr val="F0F4FF"/>
                </a:solidFill>
                <a:latin typeface="Calibri" pitchFamily="34" charset="0"/>
                <a:ea typeface="Calibri" pitchFamily="34" charset="-122"/>
                <a:cs typeface="Calibri" pitchFamily="34" charset="-120"/>
              </a:rPr>
              <a:t>Same Graph operations, fluent</a:t>
            </a:r>
            <a:endParaRPr lang="en-US" sz="1400" dirty="0"/>
          </a:p>
          <a:p>
            <a:pPr marL="342900" indent="-342900">
              <a:spcAft>
                <a:spcPts val="600"/>
              </a:spcAft>
              <a:buSzPct val="100000"/>
              <a:buChar char="●"/>
            </a:pPr>
            <a:r>
              <a:rPr lang="en-US" sz="1400" dirty="0">
                <a:solidFill>
                  <a:srgbClr val="F0F4FF"/>
                </a:solidFill>
                <a:latin typeface="Calibri" pitchFamily="34" charset="0"/>
                <a:ea typeface="Calibri" pitchFamily="34" charset="-122"/>
                <a:cs typeface="Calibri" pitchFamily="34" charset="-120"/>
              </a:rPr>
              <a:t>The free upgrades: logging, caching, batching</a:t>
            </a:r>
            <a:endParaRPr lang="en-US" sz="1400" dirty="0"/>
          </a:p>
        </p:txBody>
      </p:sp>
      <p:sp>
        <p:nvSpPr>
          <p:cNvPr id="16" name="Text 14"/>
          <p:cNvSpPr/>
          <p:nvPr/>
        </p:nvSpPr>
        <p:spPr>
          <a:xfrm>
            <a:off x="457200" y="6080760"/>
            <a:ext cx="11274552" cy="365760"/>
          </a:xfrm>
          <a:prstGeom prst="rect">
            <a:avLst/>
          </a:prstGeom>
          <a:noFill/>
          <a:ln/>
        </p:spPr>
        <p:txBody>
          <a:bodyPr wrap="square" rtlCol="0" anchor="ctr"/>
          <a:lstStyle/>
          <a:p>
            <a:pPr algn="ctr" indent="0" marL="0">
              <a:buNone/>
            </a:pPr>
            <a:r>
              <a:rPr lang="en-US" sz="1300" i="1" dirty="0">
                <a:solidFill>
                  <a:srgbClr val="A4ADCE"/>
                </a:solidFill>
                <a:latin typeface="Calibri" pitchFamily="34" charset="0"/>
                <a:ea typeface="Calibri" pitchFamily="34" charset="-122"/>
                <a:cs typeface="Calibri" pitchFamily="34" charset="-120"/>
              </a:rPr>
              <a:t>Wrap (≈8 min) — when to still use SPFx-native, decision cheat sheet, Q&amp;A</a:t>
            </a:r>
            <a:endParaRPr lang="en-US" sz="13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286000"/>
            <a:ext cx="11274552" cy="731520"/>
          </a:xfrm>
          <a:prstGeom prst="rect">
            <a:avLst/>
          </a:prstGeom>
          <a:noFill/>
          <a:ln/>
        </p:spPr>
        <p:txBody>
          <a:bodyPr wrap="square" rtlCol="0" anchor="ctr"/>
          <a:lstStyle/>
          <a:p>
            <a:pPr algn="ctr" indent="0" marL="0">
              <a:buNone/>
            </a:pPr>
            <a:r>
              <a:rPr lang="en-US" sz="1800" spc="1200" kern="0" dirty="0">
                <a:solidFill>
                  <a:srgbClr val="B580FF"/>
                </a:solidFill>
                <a:latin typeface="Calibri" pitchFamily="34" charset="0"/>
                <a:ea typeface="Calibri" pitchFamily="34" charset="-122"/>
                <a:cs typeface="Calibri" pitchFamily="34" charset="-120"/>
              </a:rPr>
              <a:t>PASS 1</a:t>
            </a:r>
            <a:endParaRPr lang="en-US" sz="1800" dirty="0"/>
          </a:p>
        </p:txBody>
      </p:sp>
      <p:sp>
        <p:nvSpPr>
          <p:cNvPr id="3" name="Text 1"/>
          <p:cNvSpPr/>
          <p:nvPr/>
        </p:nvSpPr>
        <p:spPr>
          <a:xfrm>
            <a:off x="457200" y="3017520"/>
            <a:ext cx="11274552" cy="1280160"/>
          </a:xfrm>
          <a:prstGeom prst="rect">
            <a:avLst/>
          </a:prstGeom>
          <a:noFill/>
          <a:ln/>
        </p:spPr>
        <p:txBody>
          <a:bodyPr wrap="square" rtlCol="0" anchor="ctr"/>
          <a:lstStyle/>
          <a:p>
            <a:pPr algn="ctr" indent="0" marL="0">
              <a:buNone/>
            </a:pPr>
            <a:r>
              <a:rPr lang="en-US" sz="6400" b="1" dirty="0">
                <a:solidFill>
                  <a:srgbClr val="00E5FF"/>
                </a:solidFill>
                <a:latin typeface="Calibri" pitchFamily="34" charset="0"/>
                <a:ea typeface="Calibri" pitchFamily="34" charset="-122"/>
                <a:cs typeface="Calibri" pitchFamily="34" charset="-120"/>
              </a:rPr>
              <a:t>The SPFx Way</a:t>
            </a:r>
            <a:endParaRPr lang="en-US" sz="6400" dirty="0"/>
          </a:p>
        </p:txBody>
      </p:sp>
      <p:sp>
        <p:nvSpPr>
          <p:cNvPr id="4" name="Shape 2"/>
          <p:cNvSpPr/>
          <p:nvPr/>
        </p:nvSpPr>
        <p:spPr>
          <a:xfrm>
            <a:off x="5641848" y="4434840"/>
            <a:ext cx="914400" cy="45720"/>
          </a:xfrm>
          <a:prstGeom prst="rect">
            <a:avLst/>
          </a:prstGeom>
          <a:solidFill>
            <a:srgbClr val="B580FF"/>
          </a:solidFill>
          <a:ln w="12700">
            <a:solidFill>
              <a:srgbClr val="B580FF"/>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SPHttpClient: the mechanics</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Text 2"/>
          <p:cNvSpPr/>
          <p:nvPr/>
        </p:nvSpPr>
        <p:spPr>
          <a:xfrm>
            <a:off x="457200" y="1207008"/>
            <a:ext cx="11274552" cy="365760"/>
          </a:xfrm>
          <a:prstGeom prst="rect">
            <a:avLst/>
          </a:prstGeom>
          <a:noFill/>
          <a:ln/>
        </p:spPr>
        <p:txBody>
          <a:bodyPr wrap="square" rtlCol="0" anchor="ctr"/>
          <a:lstStyle/>
          <a:p>
            <a:pPr indent="0" marL="0">
              <a:buNone/>
            </a:pPr>
            <a:r>
              <a:rPr lang="en-US" sz="1600" i="1" dirty="0">
                <a:solidFill>
                  <a:srgbClr val="A4ADCE"/>
                </a:solidFill>
                <a:latin typeface="Calibri" pitchFamily="34" charset="0"/>
                <a:ea typeface="Calibri" pitchFamily="34" charset="-122"/>
                <a:cs typeface="Calibri" pitchFamily="34" charset="-120"/>
              </a:rPr>
              <a:t>A fetch wrapper from @microsoft/sp-http, already authenticated to your site</a:t>
            </a:r>
            <a:endParaRPr lang="en-US" sz="1600" dirty="0"/>
          </a:p>
        </p:txBody>
      </p:sp>
      <p:sp>
        <p:nvSpPr>
          <p:cNvPr id="5" name="Text 3"/>
          <p:cNvSpPr/>
          <p:nvPr/>
        </p:nvSpPr>
        <p:spPr>
          <a:xfrm>
            <a:off x="457200" y="1737360"/>
            <a:ext cx="5486400" cy="365760"/>
          </a:xfrm>
          <a:prstGeom prst="rect">
            <a:avLst/>
          </a:prstGeom>
          <a:noFill/>
          <a:ln/>
        </p:spPr>
        <p:txBody>
          <a:bodyPr wrap="square" rtlCol="0" anchor="ctr"/>
          <a:lstStyle/>
          <a:p>
            <a:pPr indent="0" marL="0">
              <a:buNone/>
            </a:pPr>
            <a:r>
              <a:rPr lang="en-US" sz="1600" b="1" dirty="0">
                <a:solidFill>
                  <a:srgbClr val="7EE787"/>
                </a:solidFill>
                <a:latin typeface="Calibri" pitchFamily="34" charset="0"/>
                <a:ea typeface="Calibri" pitchFamily="34" charset="-122"/>
                <a:cs typeface="Calibri" pitchFamily="34" charset="-120"/>
              </a:rPr>
              <a:t>What you get for free</a:t>
            </a:r>
            <a:endParaRPr lang="en-US" sz="1600" dirty="0"/>
          </a:p>
        </p:txBody>
      </p:sp>
      <p:sp>
        <p:nvSpPr>
          <p:cNvPr id="6" name="Text 4"/>
          <p:cNvSpPr/>
          <p:nvPr/>
        </p:nvSpPr>
        <p:spPr>
          <a:xfrm>
            <a:off x="457200" y="2194560"/>
            <a:ext cx="5486400" cy="3931920"/>
          </a:xfrm>
          <a:prstGeom prst="rect">
            <a:avLst/>
          </a:prstGeom>
          <a:noFill/>
          <a:ln/>
        </p:spPr>
        <p:txBody>
          <a:bodyPr wrap="square" rtlCol="0" anchor="t"/>
          <a:lstStyle/>
          <a:p>
            <a:pPr marL="342900" indent="-342900">
              <a:spcAft>
                <a:spcPts val="600"/>
              </a:spcAft>
              <a:buSzPct val="100000"/>
              <a:buChar char="●"/>
            </a:pPr>
            <a:r>
              <a:rPr lang="en-US" sz="1600" dirty="0">
                <a:solidFill>
                  <a:srgbClr val="F0F4FF"/>
                </a:solidFill>
                <a:latin typeface="Calibri" pitchFamily="34" charset="0"/>
                <a:ea typeface="Calibri" pitchFamily="34" charset="-122"/>
                <a:cs typeface="Calibri" pitchFamily="34" charset="-120"/>
              </a:rPr>
              <a:t>Auth headers (cookies + bearer)</a:t>
            </a:r>
            <a:endParaRPr lang="en-US" sz="1600" dirty="0"/>
          </a:p>
          <a:p>
            <a:pPr marL="342900" indent="-342900">
              <a:spcAft>
                <a:spcPts val="600"/>
              </a:spcAft>
              <a:buSzPct val="100000"/>
              <a:buChar char="●"/>
            </a:pPr>
            <a:r>
              <a:rPr lang="en-US" sz="1600" dirty="0">
                <a:solidFill>
                  <a:srgbClr val="F0F4FF"/>
                </a:solidFill>
                <a:latin typeface="Calibri" pitchFamily="34" charset="0"/>
                <a:ea typeface="Calibri" pitchFamily="34" charset="-122"/>
                <a:cs typeface="Calibri" pitchFamily="34" charset="-120"/>
              </a:rPr>
              <a:t>Form digest on writes</a:t>
            </a:r>
            <a:endParaRPr lang="en-US" sz="1600" dirty="0"/>
          </a:p>
          <a:p>
            <a:pPr marL="342900" indent="-342900">
              <a:spcAft>
                <a:spcPts val="600"/>
              </a:spcAft>
              <a:buSzPct val="100000"/>
              <a:buChar char="●"/>
            </a:pPr>
            <a:r>
              <a:rPr lang="en-US" sz="1600" dirty="0">
                <a:solidFill>
                  <a:srgbClr val="F0F4FF"/>
                </a:solidFill>
                <a:latin typeface="Calibri" pitchFamily="34" charset="0"/>
                <a:ea typeface="Calibri" pitchFamily="34" charset="-122"/>
                <a:cs typeface="Calibri" pitchFamily="34" charset="-120"/>
              </a:rPr>
              <a:t>Sensible defaults</a:t>
            </a:r>
            <a:pPr indent="0" marL="0">
              <a:spcAft>
                <a:spcPts val="600"/>
              </a:spcAft>
              <a:buNone/>
            </a:pPr>
            <a:r>
              <a:rPr lang="en-US" sz="1300" dirty="0">
                <a:solidFill>
                  <a:srgbClr val="A4ADCE"/>
                </a:solidFill>
                <a:latin typeface="Consolas" pitchFamily="34" charset="0"/>
                <a:ea typeface="Consolas" pitchFamily="34" charset="-122"/>
                <a:cs typeface="Consolas" pitchFamily="34" charset="-120"/>
              </a:rPr>
              <a:t>  Accept: application/json;odata=nometadata</a:t>
            </a:r>
            <a:endParaRPr lang="en-US" sz="1600" dirty="0"/>
          </a:p>
        </p:txBody>
      </p:sp>
      <p:sp>
        <p:nvSpPr>
          <p:cNvPr id="7" name="Text 5"/>
          <p:cNvSpPr/>
          <p:nvPr/>
        </p:nvSpPr>
        <p:spPr>
          <a:xfrm>
            <a:off x="6245352" y="1737360"/>
            <a:ext cx="5486400" cy="365760"/>
          </a:xfrm>
          <a:prstGeom prst="rect">
            <a:avLst/>
          </a:prstGeom>
          <a:noFill/>
          <a:ln/>
        </p:spPr>
        <p:txBody>
          <a:bodyPr wrap="square" rtlCol="0" anchor="ctr"/>
          <a:lstStyle/>
          <a:p>
            <a:pPr indent="0" marL="0">
              <a:buNone/>
            </a:pPr>
            <a:r>
              <a:rPr lang="en-US" sz="1600" b="1" dirty="0">
                <a:solidFill>
                  <a:srgbClr val="FF6B6B"/>
                </a:solidFill>
                <a:latin typeface="Calibri" pitchFamily="34" charset="0"/>
                <a:ea typeface="Calibri" pitchFamily="34" charset="-122"/>
                <a:cs typeface="Calibri" pitchFamily="34" charset="-120"/>
              </a:rPr>
              <a:t>What you don't</a:t>
            </a:r>
            <a:endParaRPr lang="en-US" sz="1600" dirty="0"/>
          </a:p>
        </p:txBody>
      </p:sp>
      <p:sp>
        <p:nvSpPr>
          <p:cNvPr id="8" name="Text 6"/>
          <p:cNvSpPr/>
          <p:nvPr/>
        </p:nvSpPr>
        <p:spPr>
          <a:xfrm>
            <a:off x="6245352" y="2194560"/>
            <a:ext cx="5486400" cy="3931920"/>
          </a:xfrm>
          <a:prstGeom prst="rect">
            <a:avLst/>
          </a:prstGeom>
          <a:noFill/>
          <a:ln/>
        </p:spPr>
        <p:txBody>
          <a:bodyPr wrap="square" rtlCol="0" anchor="t"/>
          <a:lstStyle/>
          <a:p>
            <a:pPr marL="342900" indent="-342900">
              <a:spcAft>
                <a:spcPts val="600"/>
              </a:spcAft>
              <a:buSzPct val="100000"/>
              <a:buChar char="●"/>
            </a:pPr>
            <a:r>
              <a:rPr lang="en-US" sz="1600" dirty="0">
                <a:solidFill>
                  <a:srgbClr val="F0F4FF"/>
                </a:solidFill>
                <a:latin typeface="Calibri" pitchFamily="34" charset="0"/>
                <a:ea typeface="Calibri" pitchFamily="34" charset="-122"/>
                <a:cs typeface="Calibri" pitchFamily="34" charset="-120"/>
              </a:rPr>
              <a:t>Logging</a:t>
            </a:r>
            <a:endParaRPr lang="en-US" sz="1600" dirty="0"/>
          </a:p>
          <a:p>
            <a:pPr marL="342900" indent="-342900">
              <a:spcAft>
                <a:spcPts val="600"/>
              </a:spcAft>
              <a:buSzPct val="100000"/>
              <a:buChar char="●"/>
            </a:pPr>
            <a:r>
              <a:rPr lang="en-US" sz="1600" dirty="0">
                <a:solidFill>
                  <a:srgbClr val="F0F4FF"/>
                </a:solidFill>
                <a:latin typeface="Calibri" pitchFamily="34" charset="0"/>
                <a:ea typeface="Calibri" pitchFamily="34" charset="-122"/>
                <a:cs typeface="Calibri" pitchFamily="34" charset="-120"/>
              </a:rPr>
              <a:t>Caching</a:t>
            </a:r>
            <a:endParaRPr lang="en-US" sz="1600" dirty="0"/>
          </a:p>
          <a:p>
            <a:pPr marL="342900" indent="-342900">
              <a:spcAft>
                <a:spcPts val="600"/>
              </a:spcAft>
              <a:buSzPct val="100000"/>
              <a:buChar char="●"/>
            </a:pPr>
            <a:r>
              <a:rPr lang="en-US" sz="1600" dirty="0">
                <a:solidFill>
                  <a:srgbClr val="F0F4FF"/>
                </a:solidFill>
                <a:latin typeface="Calibri" pitchFamily="34" charset="0"/>
                <a:ea typeface="Calibri" pitchFamily="34" charset="-122"/>
                <a:cs typeface="Calibri" pitchFamily="34" charset="-120"/>
              </a:rPr>
              <a:t>Batching</a:t>
            </a:r>
            <a:endParaRPr lang="en-US" sz="1600" dirty="0"/>
          </a:p>
          <a:p>
            <a:pPr marL="342900" indent="-342900">
              <a:spcAft>
                <a:spcPts val="600"/>
              </a:spcAft>
              <a:buSzPct val="100000"/>
              <a:buChar char="●"/>
            </a:pPr>
            <a:r>
              <a:rPr lang="en-US" sz="1600" dirty="0">
                <a:solidFill>
                  <a:srgbClr val="F0F4FF"/>
                </a:solidFill>
                <a:latin typeface="Calibri" pitchFamily="34" charset="0"/>
                <a:ea typeface="Calibri" pitchFamily="34" charset="-122"/>
                <a:cs typeface="Calibri" pitchFamily="34" charset="-120"/>
              </a:rPr>
              <a:t>Retry</a:t>
            </a:r>
            <a:endParaRPr lang="en-US" sz="1600" dirty="0"/>
          </a:p>
          <a:p>
            <a:pPr marL="342900" indent="-342900">
              <a:spcAft>
                <a:spcPts val="600"/>
              </a:spcAft>
              <a:buSzPct val="100000"/>
              <a:buChar char="●"/>
            </a:pPr>
            <a:r>
              <a:rPr lang="en-US" sz="1600" dirty="0">
                <a:solidFill>
                  <a:srgbClr val="F0F4FF"/>
                </a:solidFill>
                <a:latin typeface="Calibri" pitchFamily="34" charset="0"/>
                <a:ea typeface="Calibri" pitchFamily="34" charset="-122"/>
                <a:cs typeface="Calibri" pitchFamily="34" charset="-120"/>
              </a:rPr>
              <a:t>Type-safe results</a:t>
            </a:r>
            <a:endParaRPr lang="en-US" sz="16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SPFx + SP REST: read</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Shape 2"/>
          <p:cNvSpPr/>
          <p:nvPr/>
        </p:nvSpPr>
        <p:spPr>
          <a:xfrm>
            <a:off x="457200" y="1737360"/>
            <a:ext cx="11274552" cy="3657600"/>
          </a:xfrm>
          <a:prstGeom prst="roundRect">
            <a:avLst>
              <a:gd name="adj" fmla="val 2000"/>
            </a:avLst>
          </a:prstGeom>
          <a:solidFill>
            <a:srgbClr val="141937"/>
          </a:solidFill>
          <a:ln w="9525">
            <a:solidFill>
              <a:srgbClr val="2A3258"/>
            </a:solidFill>
            <a:prstDash val="solid"/>
          </a:ln>
        </p:spPr>
      </p:sp>
      <p:sp>
        <p:nvSpPr>
          <p:cNvPr id="5" name="Text 3"/>
          <p:cNvSpPr/>
          <p:nvPr/>
        </p:nvSpPr>
        <p:spPr>
          <a:xfrm>
            <a:off x="621792" y="1847088"/>
            <a:ext cx="10945368" cy="3438144"/>
          </a:xfrm>
          <a:prstGeom prst="rect">
            <a:avLst/>
          </a:prstGeom>
          <a:noFill/>
          <a:ln/>
        </p:spPr>
        <p:txBody>
          <a:bodyPr wrap="square" rtlCol="0" anchor="t"/>
          <a:lstStyle/>
          <a:p>
            <a:pPr indent="0" marL="0">
              <a:buNone/>
            </a:pPr>
            <a:r>
              <a:rPr lang="en-US" sz="1200" dirty="0">
                <a:solidFill>
                  <a:srgbClr val="C678DD"/>
                </a:solidFill>
                <a:latin typeface="Consolas" pitchFamily="34" charset="0"/>
                <a:ea typeface="Consolas" pitchFamily="34" charset="-122"/>
                <a:cs typeface="Consolas" pitchFamily="34" charset="-120"/>
              </a:rPr>
              <a:t>public</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async</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82AAFF"/>
                </a:solidFill>
                <a:latin typeface="Consolas" pitchFamily="34" charset="0"/>
                <a:ea typeface="Consolas" pitchFamily="34" charset="-122"/>
                <a:cs typeface="Consolas" pitchFamily="34" charset="-120"/>
              </a:rPr>
              <a:t>getItems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list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00E5FF"/>
                </a:solidFill>
                <a:latin typeface="Consolas" pitchFamily="34" charset="0"/>
                <a:ea typeface="Consolas" pitchFamily="34" charset="-122"/>
                <a:cs typeface="Consolas" pitchFamily="34" charset="-120"/>
              </a:rPr>
              <a:t>IListIdentifier</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00E5FF"/>
                </a:solidFill>
                <a:latin typeface="Consolas" pitchFamily="34" charset="0"/>
                <a:ea typeface="Consolas" pitchFamily="34" charset="-122"/>
                <a:cs typeface="Consolas" pitchFamily="34" charset="-120"/>
              </a:rPr>
              <a:t>Promise</a:t>
            </a:r>
            <a:pPr indent="0" marL="0">
              <a:buNone/>
            </a:pPr>
            <a:r>
              <a:rPr lang="en-US" sz="1200" dirty="0">
                <a:solidFill>
                  <a:srgbClr val="F0F4FF"/>
                </a:solidFill>
                <a:latin typeface="Consolas" pitchFamily="34" charset="0"/>
                <a:ea typeface="Consolas" pitchFamily="34" charset="-122"/>
                <a:cs typeface="Consolas" pitchFamily="34" charset="-120"/>
              </a:rPr>
              <a:t>&lt;</a:t>
            </a:r>
            <a:pPr indent="0" marL="0">
              <a:buNone/>
            </a:pPr>
            <a:r>
              <a:rPr lang="en-US" sz="1200" dirty="0">
                <a:solidFill>
                  <a:srgbClr val="00E5FF"/>
                </a:solidFill>
                <a:latin typeface="Consolas" pitchFamily="34" charset="0"/>
                <a:ea typeface="Consolas" pitchFamily="34" charset="-122"/>
                <a:cs typeface="Consolas" pitchFamily="34" charset="-120"/>
              </a:rPr>
              <a:t>IEventItem</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&gt;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const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url</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98D894"/>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C678DD"/>
                </a:solidFill>
                <a:latin typeface="Consolas" pitchFamily="34" charset="0"/>
                <a:ea typeface="Consolas" pitchFamily="34" charset="-122"/>
                <a:cs typeface="Consolas" pitchFamily="34" charset="-120"/>
              </a:rPr>
              <a:t>this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siteUrl</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/_api/web/lists/getbytitle('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list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title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')/items`</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98D894"/>
                </a:solidFill>
                <a:latin typeface="Consolas" pitchFamily="34" charset="0"/>
                <a:ea typeface="Consolas" pitchFamily="34" charset="-122"/>
                <a:cs typeface="Consolas" pitchFamily="34" charset="-120"/>
              </a:rPr>
              <a:t>`?$select=Id,Title,Session,SessionDate,SessionType,EventSite,SessionLink,`</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98D894"/>
                </a:solidFill>
                <a:latin typeface="Consolas" pitchFamily="34" charset="0"/>
                <a:ea typeface="Consolas" pitchFamily="34" charset="-122"/>
                <a:cs typeface="Consolas" pitchFamily="34" charset="-120"/>
              </a:rPr>
              <a:t>`Speaker/Id,Speaker/Title,Speaker/EMail`</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98D894"/>
                </a:solidFill>
                <a:latin typeface="Consolas" pitchFamily="34" charset="0"/>
                <a:ea typeface="Consolas" pitchFamily="34" charset="-122"/>
                <a:cs typeface="Consolas" pitchFamily="34" charset="-120"/>
              </a:rPr>
              <a:t>`&amp;$expand=Speaker`</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98D894"/>
                </a:solidFill>
                <a:latin typeface="Consolas" pitchFamily="34" charset="0"/>
                <a:ea typeface="Consolas" pitchFamily="34" charset="-122"/>
                <a:cs typeface="Consolas" pitchFamily="34" charset="-120"/>
              </a:rPr>
              <a:t>`&amp;$filter=</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encodeURIComponent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`SessionDate ge datetime'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startOfTodayIso</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98D894"/>
                </a:solidFill>
                <a:latin typeface="Consolas" pitchFamily="34" charset="0"/>
                <a:ea typeface="Consolas" pitchFamily="34" charset="-122"/>
                <a:cs typeface="Consolas" pitchFamily="34" charset="-120"/>
              </a:rPr>
              <a:t>`&amp;$orderby=SessionDate asc`</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const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response</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await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this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spHttpClient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get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url</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00E5FF"/>
                </a:solidFill>
                <a:latin typeface="Consolas" pitchFamily="34" charset="0"/>
                <a:ea typeface="Consolas" pitchFamily="34" charset="-122"/>
                <a:cs typeface="Consolas" pitchFamily="34" charset="-120"/>
              </a:rPr>
              <a:t>SPHttpClient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configurations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v1</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if</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response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ok</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throw</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new</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00E5FF"/>
                </a:solidFill>
                <a:latin typeface="Consolas" pitchFamily="34" charset="0"/>
                <a:ea typeface="Consolas" pitchFamily="34" charset="-122"/>
                <a:cs typeface="Consolas" pitchFamily="34" charset="-120"/>
              </a:rPr>
              <a:t>Error</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`Failed to get items: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response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statusText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const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data</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await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response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json</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return</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data</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value</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as</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00E5FF"/>
                </a:solidFill>
                <a:latin typeface="Consolas" pitchFamily="34" charset="0"/>
                <a:ea typeface="Consolas" pitchFamily="34" charset="-122"/>
                <a:cs typeface="Consolas" pitchFamily="34" charset="-120"/>
              </a:rPr>
              <a:t>IEventItem</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p:txBody>
      </p:sp>
      <p:sp>
        <p:nvSpPr>
          <p:cNvPr id="6" name="Text 4"/>
          <p:cNvSpPr/>
          <p:nvPr/>
        </p:nvSpPr>
        <p:spPr>
          <a:xfrm>
            <a:off x="457200" y="5532120"/>
            <a:ext cx="11274552" cy="457200"/>
          </a:xfrm>
          <a:prstGeom prst="rect">
            <a:avLst/>
          </a:prstGeom>
          <a:noFill/>
          <a:ln/>
        </p:spPr>
        <p:txBody>
          <a:bodyPr wrap="square" rtlCol="0" anchor="ctr"/>
          <a:lstStyle/>
          <a:p>
            <a:pPr indent="0" marL="0">
              <a:buNone/>
            </a:pPr>
            <a:r>
              <a:rPr lang="en-US" sz="1600" i="1" dirty="0">
                <a:solidFill>
                  <a:srgbClr val="B580FF"/>
                </a:solidFill>
                <a:latin typeface="Calibri" pitchFamily="34" charset="0"/>
                <a:ea typeface="Calibri" pitchFamily="34" charset="-122"/>
                <a:cs typeface="Calibri" pitchFamily="34" charset="-120"/>
              </a:rPr>
              <a:t>It works. It's also a string-concatenated URL, a manual cast, and zero observability.</a:t>
            </a:r>
            <a:endParaRPr lang="en-US" sz="16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SPFx + SP REST: write</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Shape 2"/>
          <p:cNvSpPr/>
          <p:nvPr/>
        </p:nvSpPr>
        <p:spPr>
          <a:xfrm>
            <a:off x="457200" y="1737360"/>
            <a:ext cx="11274552" cy="2926080"/>
          </a:xfrm>
          <a:prstGeom prst="roundRect">
            <a:avLst>
              <a:gd name="adj" fmla="val 2500"/>
            </a:avLst>
          </a:prstGeom>
          <a:solidFill>
            <a:srgbClr val="141937"/>
          </a:solidFill>
          <a:ln w="9525">
            <a:solidFill>
              <a:srgbClr val="2A3258"/>
            </a:solidFill>
            <a:prstDash val="solid"/>
          </a:ln>
        </p:spPr>
      </p:sp>
      <p:sp>
        <p:nvSpPr>
          <p:cNvPr id="5" name="Text 3"/>
          <p:cNvSpPr/>
          <p:nvPr/>
        </p:nvSpPr>
        <p:spPr>
          <a:xfrm>
            <a:off x="621792" y="1847088"/>
            <a:ext cx="10945368" cy="2706624"/>
          </a:xfrm>
          <a:prstGeom prst="rect">
            <a:avLst/>
          </a:prstGeom>
          <a:noFill/>
          <a:ln/>
        </p:spPr>
        <p:txBody>
          <a:bodyPr wrap="square" rtlCol="0" anchor="t"/>
          <a:lstStyle/>
          <a:p>
            <a:pPr indent="0" marL="0">
              <a:buNone/>
            </a:pPr>
            <a:r>
              <a:rPr lang="en-US" sz="1200" dirty="0">
                <a:solidFill>
                  <a:srgbClr val="C678DD"/>
                </a:solidFill>
                <a:latin typeface="Consolas" pitchFamily="34" charset="0"/>
                <a:ea typeface="Consolas" pitchFamily="34" charset="-122"/>
                <a:cs typeface="Consolas" pitchFamily="34" charset="-120"/>
              </a:rPr>
              <a:t>public</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async</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82AAFF"/>
                </a:solidFill>
                <a:latin typeface="Consolas" pitchFamily="34" charset="0"/>
                <a:ea typeface="Consolas" pitchFamily="34" charset="-122"/>
                <a:cs typeface="Consolas" pitchFamily="34" charset="-120"/>
              </a:rPr>
              <a:t>updateItem</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list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itemId</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item</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00E5FF"/>
                </a:solidFill>
                <a:latin typeface="Consolas" pitchFamily="34" charset="0"/>
                <a:ea typeface="Consolas" pitchFamily="34" charset="-122"/>
                <a:cs typeface="Consolas" pitchFamily="34" charset="-120"/>
              </a:rPr>
              <a:t>Promise</a:t>
            </a:r>
            <a:pPr indent="0" marL="0">
              <a:buNone/>
            </a:pPr>
            <a:r>
              <a:rPr lang="en-US" sz="1200" dirty="0">
                <a:solidFill>
                  <a:srgbClr val="F0F4FF"/>
                </a:solidFill>
                <a:latin typeface="Consolas" pitchFamily="34" charset="0"/>
                <a:ea typeface="Consolas" pitchFamily="34" charset="-122"/>
                <a:cs typeface="Consolas" pitchFamily="34" charset="-120"/>
              </a:rPr>
              <a:t>&lt;</a:t>
            </a:r>
            <a:pPr indent="0" marL="0">
              <a:buNone/>
            </a:pPr>
            <a:r>
              <a:rPr lang="en-US" sz="1200" dirty="0">
                <a:solidFill>
                  <a:srgbClr val="00E5FF"/>
                </a:solidFill>
                <a:latin typeface="Consolas" pitchFamily="34" charset="0"/>
                <a:ea typeface="Consolas" pitchFamily="34" charset="-122"/>
                <a:cs typeface="Consolas" pitchFamily="34" charset="-120"/>
              </a:rPr>
              <a:t>IEventItem</a:t>
            </a:r>
            <a:pPr indent="0" marL="0">
              <a:buNone/>
            </a:pPr>
            <a:r>
              <a:rPr lang="en-US" sz="1200" dirty="0">
                <a:solidFill>
                  <a:srgbClr val="F0F4FF"/>
                </a:solidFill>
                <a:latin typeface="Consolas" pitchFamily="34" charset="0"/>
                <a:ea typeface="Consolas" pitchFamily="34" charset="-122"/>
                <a:cs typeface="Consolas" pitchFamily="34" charset="-120"/>
              </a:rPr>
              <a:t>&gt;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const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url</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98D894"/>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C678DD"/>
                </a:solidFill>
                <a:latin typeface="Consolas" pitchFamily="34" charset="0"/>
                <a:ea typeface="Consolas" pitchFamily="34" charset="-122"/>
                <a:cs typeface="Consolas" pitchFamily="34" charset="-120"/>
              </a:rPr>
              <a:t>this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siteUrl</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/_api/web/lists/getbytitle('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list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title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')/items(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itemId</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const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options</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headers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98D894"/>
                </a:solidFill>
                <a:latin typeface="Consolas" pitchFamily="34" charset="0"/>
                <a:ea typeface="Consolas" pitchFamily="34" charset="-122"/>
                <a:cs typeface="Consolas" pitchFamily="34" charset="-120"/>
              </a:rPr>
              <a:t>'IF-MATCH'</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98D894"/>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98D894"/>
                </a:solidFill>
                <a:latin typeface="Consolas" pitchFamily="34" charset="0"/>
                <a:ea typeface="Consolas" pitchFamily="34" charset="-122"/>
                <a:cs typeface="Consolas" pitchFamily="34" charset="-120"/>
              </a:rPr>
              <a:t>'X-HTTP-Method'</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98D894"/>
                </a:solidFill>
                <a:latin typeface="Consolas" pitchFamily="34" charset="0"/>
                <a:ea typeface="Consolas" pitchFamily="34" charset="-122"/>
                <a:cs typeface="Consolas" pitchFamily="34" charset="-120"/>
              </a:rPr>
              <a:t>'MERGE'</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body</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00E5FF"/>
                </a:solidFill>
                <a:latin typeface="Consolas" pitchFamily="34" charset="0"/>
                <a:ea typeface="Consolas" pitchFamily="34" charset="-122"/>
                <a:cs typeface="Consolas" pitchFamily="34" charset="-120"/>
              </a:rPr>
              <a:t>JSON</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stringify</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toSpWritePayload</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item</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const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response</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await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this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spHttpClient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post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url</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00E5FF"/>
                </a:solidFill>
                <a:latin typeface="Consolas" pitchFamily="34" charset="0"/>
                <a:ea typeface="Consolas" pitchFamily="34" charset="-122"/>
                <a:cs typeface="Consolas" pitchFamily="34" charset="-120"/>
              </a:rPr>
              <a:t>SPHttpClient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configurations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v1</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options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if</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response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ok</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throw</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new</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00E5FF"/>
                </a:solidFill>
                <a:latin typeface="Consolas" pitchFamily="34" charset="0"/>
                <a:ea typeface="Consolas" pitchFamily="34" charset="-122"/>
                <a:cs typeface="Consolas" pitchFamily="34" charset="-120"/>
              </a:rPr>
              <a:t>Error</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`Failed to update item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itemId</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response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statusText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return</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item</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00E5FF"/>
                </a:solidFill>
                <a:latin typeface="Consolas" pitchFamily="34" charset="0"/>
                <a:ea typeface="Consolas" pitchFamily="34" charset="-122"/>
                <a:cs typeface="Consolas" pitchFamily="34" charset="-120"/>
              </a:rPr>
              <a:t>Id</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itemId</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p:txBody>
      </p:sp>
      <p:sp>
        <p:nvSpPr>
          <p:cNvPr id="6" name="Text 4"/>
          <p:cNvSpPr/>
          <p:nvPr/>
        </p:nvSpPr>
        <p:spPr>
          <a:xfrm>
            <a:off x="457200" y="4800600"/>
            <a:ext cx="11274552" cy="365760"/>
          </a:xfrm>
          <a:prstGeom prst="rect">
            <a:avLst/>
          </a:prstGeom>
          <a:noFill/>
          <a:ln/>
        </p:spPr>
        <p:txBody>
          <a:bodyPr wrap="square" rtlCol="0" anchor="ctr"/>
          <a:lstStyle/>
          <a:p>
            <a:pPr indent="0" marL="0">
              <a:buNone/>
            </a:pPr>
            <a:r>
              <a:rPr lang="en-US" sz="1400" b="1" dirty="0">
                <a:solidFill>
                  <a:srgbClr val="FFB347"/>
                </a:solidFill>
                <a:latin typeface="Calibri" pitchFamily="34" charset="0"/>
                <a:ea typeface="Calibri" pitchFamily="34" charset="-122"/>
                <a:cs typeface="Calibri" pitchFamily="34" charset="-120"/>
              </a:rPr>
              <a:t>Note the ceremony</a:t>
            </a:r>
            <a:endParaRPr lang="en-US" sz="1400" dirty="0"/>
          </a:p>
        </p:txBody>
      </p:sp>
      <p:sp>
        <p:nvSpPr>
          <p:cNvPr id="7" name="Text 5"/>
          <p:cNvSpPr/>
          <p:nvPr/>
        </p:nvSpPr>
        <p:spPr>
          <a:xfrm>
            <a:off x="457200" y="5120640"/>
            <a:ext cx="11274552" cy="1188720"/>
          </a:xfrm>
          <a:prstGeom prst="rect">
            <a:avLst/>
          </a:prstGeom>
          <a:noFill/>
          <a:ln/>
        </p:spPr>
        <p:txBody>
          <a:bodyPr wrap="square" rtlCol="0" anchor="t"/>
          <a:lstStyle/>
          <a:p>
            <a:pPr marL="342900" indent="-342900">
              <a:spcAft>
                <a:spcPts val="400"/>
              </a:spcAft>
              <a:buSzPct val="100000"/>
              <a:buChar char="●"/>
            </a:pPr>
            <a:r>
              <a:rPr lang="en-US" sz="1400" dirty="0">
                <a:solidFill>
                  <a:srgbClr val="F0F4FF"/>
                </a:solidFill>
                <a:latin typeface="Calibri" pitchFamily="34" charset="0"/>
                <a:ea typeface="Calibri" pitchFamily="34" charset="-122"/>
                <a:cs typeface="Calibri" pitchFamily="34" charset="-120"/>
              </a:rPr>
              <a:t>IF-MATCH: '*' — opt out of ETag concurrency</a:t>
            </a:r>
            <a:endParaRPr lang="en-US" sz="1400" dirty="0"/>
          </a:p>
          <a:p>
            <a:pPr marL="342900" indent="-342900">
              <a:spcAft>
                <a:spcPts val="400"/>
              </a:spcAft>
              <a:buSzPct val="100000"/>
              <a:buChar char="●"/>
            </a:pPr>
            <a:r>
              <a:rPr lang="en-US" sz="1400" dirty="0">
                <a:solidFill>
                  <a:srgbClr val="F0F4FF"/>
                </a:solidFill>
                <a:latin typeface="Calibri" pitchFamily="34" charset="0"/>
                <a:ea typeface="Calibri" pitchFamily="34" charset="-122"/>
                <a:cs typeface="Calibri" pitchFamily="34" charset="-120"/>
              </a:rPr>
              <a:t>X-HTTP-Method: MERGE — because it's a POST pretending to be a PATCH</a:t>
            </a:r>
            <a:endParaRPr lang="en-US" sz="1400" dirty="0"/>
          </a:p>
          <a:p>
            <a:pPr marL="342900" indent="-342900">
              <a:spcAft>
                <a:spcPts val="400"/>
              </a:spcAft>
              <a:buSzPct val="100000"/>
              <a:buChar char="●"/>
            </a:pPr>
            <a:r>
              <a:rPr lang="en-US" sz="1400" dirty="0">
                <a:solidFill>
                  <a:srgbClr val="F0F4FF"/>
                </a:solidFill>
                <a:latin typeface="Calibri" pitchFamily="34" charset="0"/>
                <a:ea typeface="Calibri" pitchFamily="34" charset="-122"/>
                <a:cs typeface="Calibri" pitchFamily="34" charset="-120"/>
              </a:rPr>
              <a:t>A separate toSpWritePayload(item) mapper for SharePoint field shapes</a:t>
            </a:r>
            <a:endParaRPr lang="en-US" sz="1400" dirty="0"/>
          </a:p>
        </p:txBody>
      </p:sp>
      <p:sp>
        <p:nvSpPr>
          <p:cNvPr id="8" name="Text 6"/>
          <p:cNvSpPr/>
          <p:nvPr/>
        </p:nvSpPr>
        <p:spPr>
          <a:xfrm>
            <a:off x="10058400" y="5989320"/>
            <a:ext cx="1673352" cy="320040"/>
          </a:xfrm>
          <a:prstGeom prst="rect">
            <a:avLst/>
          </a:prstGeom>
          <a:noFill/>
          <a:ln/>
        </p:spPr>
        <p:txBody>
          <a:bodyPr wrap="square" rtlCol="0" anchor="ctr"/>
          <a:lstStyle/>
          <a:p>
            <a:pPr algn="r" indent="0" marL="0">
              <a:buNone/>
            </a:pPr>
            <a:r>
              <a:rPr lang="en-US" sz="1200" b="1" dirty="0">
                <a:solidFill>
                  <a:srgbClr val="00E5FF"/>
                </a:solidFill>
                <a:latin typeface="Calibri" pitchFamily="34" charset="0"/>
                <a:ea typeface="Calibri" pitchFamily="34" charset="-122"/>
                <a:cs typeface="Calibri" pitchFamily="34" charset="-120"/>
              </a:rPr>
              <a:t>▶ Demo 1</a:t>
            </a:r>
            <a:endParaRPr lang="en-US" sz="12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SPFx + SP REST: add</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Text 2"/>
          <p:cNvSpPr/>
          <p:nvPr/>
        </p:nvSpPr>
        <p:spPr>
          <a:xfrm>
            <a:off x="457200" y="1207008"/>
            <a:ext cx="11274552" cy="365760"/>
          </a:xfrm>
          <a:prstGeom prst="rect">
            <a:avLst/>
          </a:prstGeom>
          <a:noFill/>
          <a:ln/>
        </p:spPr>
        <p:txBody>
          <a:bodyPr wrap="square" rtlCol="0" anchor="ctr"/>
          <a:lstStyle/>
          <a:p>
            <a:pPr indent="0" marL="0">
              <a:buNone/>
            </a:pPr>
            <a:r>
              <a:rPr lang="en-US" sz="1600" i="1" dirty="0">
                <a:solidFill>
                  <a:srgbClr val="A4ADCE"/>
                </a:solidFill>
                <a:latin typeface="Calibri" pitchFamily="34" charset="0"/>
                <a:ea typeface="Calibri" pitchFamily="34" charset="-122"/>
                <a:cs typeface="Calibri" pitchFamily="34" charset="-120"/>
              </a:rPr>
              <a:t>Bonus — the cleanest verb in the SP REST set</a:t>
            </a:r>
            <a:endParaRPr lang="en-US" sz="1600" dirty="0"/>
          </a:p>
        </p:txBody>
      </p:sp>
      <p:sp>
        <p:nvSpPr>
          <p:cNvPr id="5" name="Shape 3"/>
          <p:cNvSpPr/>
          <p:nvPr/>
        </p:nvSpPr>
        <p:spPr>
          <a:xfrm>
            <a:off x="457200" y="1737360"/>
            <a:ext cx="11274552" cy="2377440"/>
          </a:xfrm>
          <a:prstGeom prst="roundRect">
            <a:avLst>
              <a:gd name="adj" fmla="val 3077"/>
            </a:avLst>
          </a:prstGeom>
          <a:solidFill>
            <a:srgbClr val="141937"/>
          </a:solidFill>
          <a:ln w="9525">
            <a:solidFill>
              <a:srgbClr val="2A3258"/>
            </a:solidFill>
            <a:prstDash val="solid"/>
          </a:ln>
        </p:spPr>
      </p:sp>
      <p:sp>
        <p:nvSpPr>
          <p:cNvPr id="6" name="Text 4"/>
          <p:cNvSpPr/>
          <p:nvPr/>
        </p:nvSpPr>
        <p:spPr>
          <a:xfrm>
            <a:off x="621792" y="1847088"/>
            <a:ext cx="10945368" cy="2157984"/>
          </a:xfrm>
          <a:prstGeom prst="rect">
            <a:avLst/>
          </a:prstGeom>
          <a:noFill/>
          <a:ln/>
        </p:spPr>
        <p:txBody>
          <a:bodyPr wrap="square" rtlCol="0" anchor="t"/>
          <a:lstStyle/>
          <a:p>
            <a:pPr indent="0" marL="0">
              <a:buNone/>
            </a:pPr>
            <a:r>
              <a:rPr lang="en-US" sz="1400" dirty="0">
                <a:solidFill>
                  <a:srgbClr val="C678DD"/>
                </a:solidFill>
                <a:latin typeface="Consolas" pitchFamily="34" charset="0"/>
                <a:ea typeface="Consolas" pitchFamily="34" charset="-122"/>
                <a:cs typeface="Consolas" pitchFamily="34" charset="-120"/>
              </a:rPr>
              <a:t>public</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async</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82AAFF"/>
                </a:solidFill>
                <a:latin typeface="Consolas" pitchFamily="34" charset="0"/>
                <a:ea typeface="Consolas" pitchFamily="34" charset="-122"/>
                <a:cs typeface="Consolas" pitchFamily="34" charset="-120"/>
              </a:rPr>
              <a:t>createItem</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list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item</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00E5FF"/>
                </a:solidFill>
                <a:latin typeface="Consolas" pitchFamily="34" charset="0"/>
                <a:ea typeface="Consolas" pitchFamily="34" charset="-122"/>
                <a:cs typeface="Consolas" pitchFamily="34" charset="-120"/>
              </a:rPr>
              <a:t>Promise</a:t>
            </a:r>
            <a:pPr indent="0" marL="0">
              <a:buNone/>
            </a:pPr>
            <a:r>
              <a:rPr lang="en-US" sz="1400" dirty="0">
                <a:solidFill>
                  <a:srgbClr val="F0F4FF"/>
                </a:solidFill>
                <a:latin typeface="Consolas" pitchFamily="34" charset="0"/>
                <a:ea typeface="Consolas" pitchFamily="34" charset="-122"/>
                <a:cs typeface="Consolas" pitchFamily="34" charset="-120"/>
              </a:rPr>
              <a:t>&lt;</a:t>
            </a:r>
            <a:pPr indent="0" marL="0">
              <a:buNone/>
            </a:pPr>
            <a:r>
              <a:rPr lang="en-US" sz="1400" dirty="0">
                <a:solidFill>
                  <a:srgbClr val="00E5FF"/>
                </a:solidFill>
                <a:latin typeface="Consolas" pitchFamily="34" charset="0"/>
                <a:ea typeface="Consolas" pitchFamily="34" charset="-122"/>
                <a:cs typeface="Consolas" pitchFamily="34" charset="-120"/>
              </a:rPr>
              <a:t>IEventItem</a:t>
            </a:r>
            <a:pPr indent="0" marL="0">
              <a:buNone/>
            </a:pPr>
            <a:r>
              <a:rPr lang="en-US" sz="1400" dirty="0">
                <a:solidFill>
                  <a:srgbClr val="F0F4FF"/>
                </a:solidFill>
                <a:latin typeface="Consolas" pitchFamily="34" charset="0"/>
                <a:ea typeface="Consolas" pitchFamily="34" charset="-122"/>
                <a:cs typeface="Consolas" pitchFamily="34" charset="-120"/>
              </a:rPr>
              <a:t>&gt;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const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url</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98D894"/>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C678DD"/>
                </a:solidFill>
                <a:latin typeface="Consolas" pitchFamily="34" charset="0"/>
                <a:ea typeface="Consolas" pitchFamily="34" charset="-122"/>
                <a:cs typeface="Consolas" pitchFamily="34" charset="-120"/>
              </a:rPr>
              <a:t>this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siteUrl</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98D894"/>
                </a:solidFill>
                <a:latin typeface="Consolas" pitchFamily="34" charset="0"/>
                <a:ea typeface="Consolas" pitchFamily="34" charset="-122"/>
                <a:cs typeface="Consolas" pitchFamily="34" charset="-120"/>
              </a:rPr>
              <a:t>/_api/web/lists/getbytitle('</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list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title</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98D894"/>
                </a:solidFill>
                <a:latin typeface="Consolas" pitchFamily="34" charset="0"/>
                <a:ea typeface="Consolas" pitchFamily="34" charset="-122"/>
                <a:cs typeface="Consolas" pitchFamily="34" charset="-120"/>
              </a:rPr>
              <a:t>')/items`</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const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options</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body</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00E5FF"/>
                </a:solidFill>
                <a:latin typeface="Consolas" pitchFamily="34" charset="0"/>
                <a:ea typeface="Consolas" pitchFamily="34" charset="-122"/>
                <a:cs typeface="Consolas" pitchFamily="34" charset="-120"/>
              </a:rPr>
              <a:t>JSON</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82AAFF"/>
                </a:solidFill>
                <a:latin typeface="Consolas" pitchFamily="34" charset="0"/>
                <a:ea typeface="Consolas" pitchFamily="34" charset="-122"/>
                <a:cs typeface="Consolas" pitchFamily="34" charset="-120"/>
              </a:rPr>
              <a:t>stringify</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82AAFF"/>
                </a:solidFill>
                <a:latin typeface="Consolas" pitchFamily="34" charset="0"/>
                <a:ea typeface="Consolas" pitchFamily="34" charset="-122"/>
                <a:cs typeface="Consolas" pitchFamily="34" charset="-120"/>
              </a:rPr>
              <a:t>toSpWritePayload</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item</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const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response</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await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this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spHttpClient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82AAFF"/>
                </a:solidFill>
                <a:latin typeface="Consolas" pitchFamily="34" charset="0"/>
                <a:ea typeface="Consolas" pitchFamily="34" charset="-122"/>
                <a:cs typeface="Consolas" pitchFamily="34" charset="-120"/>
              </a:rPr>
              <a:t>post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url</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00E5FF"/>
                </a:solidFill>
                <a:latin typeface="Consolas" pitchFamily="34" charset="0"/>
                <a:ea typeface="Consolas" pitchFamily="34" charset="-122"/>
                <a:cs typeface="Consolas" pitchFamily="34" charset="-120"/>
              </a:rPr>
              <a:t>SPHttpClient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configurations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v1</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options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if</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response</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ok</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throw</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new</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00E5FF"/>
                </a:solidFill>
                <a:latin typeface="Consolas" pitchFamily="34" charset="0"/>
                <a:ea typeface="Consolas" pitchFamily="34" charset="-122"/>
                <a:cs typeface="Consolas" pitchFamily="34" charset="-120"/>
              </a:rPr>
              <a:t>Error</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98D894"/>
                </a:solidFill>
                <a:latin typeface="Consolas" pitchFamily="34" charset="0"/>
                <a:ea typeface="Consolas" pitchFamily="34" charset="-122"/>
                <a:cs typeface="Consolas" pitchFamily="34" charset="-120"/>
              </a:rPr>
              <a:t>`Failed to create item: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response</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statusText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98D894"/>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return</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await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response</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82AAFF"/>
                </a:solidFill>
                <a:latin typeface="Consolas" pitchFamily="34" charset="0"/>
                <a:ea typeface="Consolas" pitchFamily="34" charset="-122"/>
                <a:cs typeface="Consolas" pitchFamily="34" charset="-120"/>
              </a:rPr>
              <a:t>json</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as</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00E5FF"/>
                </a:solidFill>
                <a:latin typeface="Consolas" pitchFamily="34" charset="0"/>
                <a:ea typeface="Consolas" pitchFamily="34" charset="-122"/>
                <a:cs typeface="Consolas" pitchFamily="34" charset="-120"/>
              </a:rPr>
              <a:t>IEventItem</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p:txBody>
      </p:sp>
      <p:sp>
        <p:nvSpPr>
          <p:cNvPr id="7" name="Text 5"/>
          <p:cNvSpPr/>
          <p:nvPr/>
        </p:nvSpPr>
        <p:spPr>
          <a:xfrm>
            <a:off x="457200" y="4297680"/>
            <a:ext cx="11274552" cy="457200"/>
          </a:xfrm>
          <a:prstGeom prst="rect">
            <a:avLst/>
          </a:prstGeom>
          <a:noFill/>
          <a:ln/>
        </p:spPr>
        <p:txBody>
          <a:bodyPr wrap="square" rtlCol="0" anchor="ctr"/>
          <a:lstStyle/>
          <a:p>
            <a:pPr indent="0" marL="0">
              <a:buNone/>
            </a:pPr>
            <a:r>
              <a:rPr lang="en-US" sz="1600" dirty="0">
                <a:solidFill>
                  <a:srgbClr val="F0F4FF"/>
                </a:solidFill>
                <a:latin typeface="Calibri" pitchFamily="34" charset="0"/>
                <a:ea typeface="Calibri" pitchFamily="34" charset="-122"/>
                <a:cs typeface="Calibri" pitchFamily="34" charset="-120"/>
              </a:rPr>
              <a:t>A real POST to the list endpoint. No IF-MATCH. No X-HTTP-Method override. The body is just your fields.</a:t>
            </a:r>
            <a:endParaRPr lang="en-US" sz="1600" dirty="0"/>
          </a:p>
        </p:txBody>
      </p:sp>
      <p:sp>
        <p:nvSpPr>
          <p:cNvPr id="8" name="Shape 6"/>
          <p:cNvSpPr/>
          <p:nvPr/>
        </p:nvSpPr>
        <p:spPr>
          <a:xfrm>
            <a:off x="457200" y="4983480"/>
            <a:ext cx="54864" cy="1005840"/>
          </a:xfrm>
          <a:prstGeom prst="rect">
            <a:avLst/>
          </a:prstGeom>
          <a:solidFill>
            <a:srgbClr val="FFB347"/>
          </a:solidFill>
          <a:ln w="12700">
            <a:solidFill>
              <a:srgbClr val="FFB347"/>
            </a:solidFill>
            <a:prstDash val="solid"/>
          </a:ln>
        </p:spPr>
      </p:sp>
      <p:sp>
        <p:nvSpPr>
          <p:cNvPr id="9" name="Text 7"/>
          <p:cNvSpPr/>
          <p:nvPr/>
        </p:nvSpPr>
        <p:spPr>
          <a:xfrm>
            <a:off x="685800" y="4983480"/>
            <a:ext cx="10972800" cy="1005840"/>
          </a:xfrm>
          <a:prstGeom prst="rect">
            <a:avLst/>
          </a:prstGeom>
          <a:noFill/>
          <a:ln/>
        </p:spPr>
        <p:txBody>
          <a:bodyPr wrap="square" rtlCol="0" anchor="ctr"/>
          <a:lstStyle/>
          <a:p>
            <a:pPr indent="0" marL="0">
              <a:spcAft>
                <a:spcPts val="200"/>
              </a:spcAft>
              <a:buNone/>
            </a:pPr>
            <a:r>
              <a:rPr lang="en-US" sz="1400" b="1" i="1" dirty="0">
                <a:solidFill>
                  <a:srgbClr val="FFB347"/>
                </a:solidFill>
                <a:latin typeface="Calibri" pitchFamily="34" charset="0"/>
                <a:ea typeface="Calibri" pitchFamily="34" charset="-122"/>
                <a:cs typeface="Calibri" pitchFamily="34" charset="-120"/>
              </a:rPr>
              <a:t>And no, you don't need ListItemEntityTypeFullName.</a:t>
            </a:r>
            <a:endParaRPr lang="en-US" sz="1400" dirty="0"/>
          </a:p>
          <a:p>
            <a:pPr indent="0" marL="0">
              <a:spcAft>
                <a:spcPts val="200"/>
              </a:spcAft>
              <a:buNone/>
            </a:pPr>
            <a:r>
              <a:rPr lang="en-US" sz="1300" i="1" dirty="0">
                <a:solidFill>
                  <a:srgbClr val="A4ADCE"/>
                </a:solidFill>
                <a:latin typeface="Calibri" pitchFamily="34" charset="0"/>
                <a:ea typeface="Calibri" pitchFamily="34" charset="-122"/>
                <a:cs typeface="Calibri" pitchFamily="34" charset="-120"/>
              </a:rPr>
              <a:t>That was an odata=verbose thing. SPFx defaults to nometadata, so the body is just your fields.</a:t>
            </a:r>
            <a:endParaRPr lang="en-US" sz="14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SPFx + SP REST: delete</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Text 2"/>
          <p:cNvSpPr/>
          <p:nvPr/>
        </p:nvSpPr>
        <p:spPr>
          <a:xfrm>
            <a:off x="457200" y="1207008"/>
            <a:ext cx="11274552" cy="365760"/>
          </a:xfrm>
          <a:prstGeom prst="rect">
            <a:avLst/>
          </a:prstGeom>
          <a:noFill/>
          <a:ln/>
        </p:spPr>
        <p:txBody>
          <a:bodyPr wrap="square" rtlCol="0" anchor="ctr"/>
          <a:lstStyle/>
          <a:p>
            <a:pPr indent="0" marL="0">
              <a:buNone/>
            </a:pPr>
            <a:r>
              <a:rPr lang="en-US" sz="1600" i="1" dirty="0">
                <a:solidFill>
                  <a:srgbClr val="A4ADCE"/>
                </a:solidFill>
                <a:latin typeface="Calibri" pitchFamily="34" charset="0"/>
                <a:ea typeface="Calibri" pitchFamily="34" charset="-122"/>
                <a:cs typeface="Calibri" pitchFamily="34" charset="-120"/>
              </a:rPr>
              <a:t>Bonus — another POST in disguise</a:t>
            </a:r>
            <a:endParaRPr lang="en-US" sz="1600" dirty="0"/>
          </a:p>
        </p:txBody>
      </p:sp>
      <p:sp>
        <p:nvSpPr>
          <p:cNvPr id="5" name="Shape 3"/>
          <p:cNvSpPr/>
          <p:nvPr/>
        </p:nvSpPr>
        <p:spPr>
          <a:xfrm>
            <a:off x="457200" y="1737360"/>
            <a:ext cx="11274552" cy="2377440"/>
          </a:xfrm>
          <a:prstGeom prst="roundRect">
            <a:avLst>
              <a:gd name="adj" fmla="val 3077"/>
            </a:avLst>
          </a:prstGeom>
          <a:solidFill>
            <a:srgbClr val="141937"/>
          </a:solidFill>
          <a:ln w="9525">
            <a:solidFill>
              <a:srgbClr val="2A3258"/>
            </a:solidFill>
            <a:prstDash val="solid"/>
          </a:ln>
        </p:spPr>
      </p:sp>
      <p:sp>
        <p:nvSpPr>
          <p:cNvPr id="6" name="Text 4"/>
          <p:cNvSpPr/>
          <p:nvPr/>
        </p:nvSpPr>
        <p:spPr>
          <a:xfrm>
            <a:off x="621792" y="1847088"/>
            <a:ext cx="10945368" cy="2157984"/>
          </a:xfrm>
          <a:prstGeom prst="rect">
            <a:avLst/>
          </a:prstGeom>
          <a:noFill/>
          <a:ln/>
        </p:spPr>
        <p:txBody>
          <a:bodyPr wrap="square" rtlCol="0" anchor="t"/>
          <a:lstStyle/>
          <a:p>
            <a:pPr indent="0" marL="0">
              <a:buNone/>
            </a:pPr>
            <a:r>
              <a:rPr lang="en-US" sz="1400" dirty="0">
                <a:solidFill>
                  <a:srgbClr val="C678DD"/>
                </a:solidFill>
                <a:latin typeface="Consolas" pitchFamily="34" charset="0"/>
                <a:ea typeface="Consolas" pitchFamily="34" charset="-122"/>
                <a:cs typeface="Consolas" pitchFamily="34" charset="-120"/>
              </a:rPr>
              <a:t>public</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async</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82AAFF"/>
                </a:solidFill>
                <a:latin typeface="Consolas" pitchFamily="34" charset="0"/>
                <a:ea typeface="Consolas" pitchFamily="34" charset="-122"/>
                <a:cs typeface="Consolas" pitchFamily="34" charset="-120"/>
              </a:rPr>
              <a:t>deleteItem</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list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itemId</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00E5FF"/>
                </a:solidFill>
                <a:latin typeface="Consolas" pitchFamily="34" charset="0"/>
                <a:ea typeface="Consolas" pitchFamily="34" charset="-122"/>
                <a:cs typeface="Consolas" pitchFamily="34" charset="-120"/>
              </a:rPr>
              <a:t>Promise</a:t>
            </a:r>
            <a:pPr indent="0" marL="0">
              <a:buNone/>
            </a:pPr>
            <a:r>
              <a:rPr lang="en-US" sz="1400" dirty="0">
                <a:solidFill>
                  <a:srgbClr val="F0F4FF"/>
                </a:solidFill>
                <a:latin typeface="Consolas" pitchFamily="34" charset="0"/>
                <a:ea typeface="Consolas" pitchFamily="34" charset="-122"/>
                <a:cs typeface="Consolas" pitchFamily="34" charset="-120"/>
              </a:rPr>
              <a:t>&lt;</a:t>
            </a:r>
            <a:pPr indent="0" marL="0">
              <a:buNone/>
            </a:pPr>
            <a:r>
              <a:rPr lang="en-US" sz="1400" dirty="0">
                <a:solidFill>
                  <a:srgbClr val="00E5FF"/>
                </a:solidFill>
                <a:latin typeface="Consolas" pitchFamily="34" charset="0"/>
                <a:ea typeface="Consolas" pitchFamily="34" charset="-122"/>
                <a:cs typeface="Consolas" pitchFamily="34" charset="-120"/>
              </a:rPr>
              <a:t>void</a:t>
            </a:r>
            <a:pPr indent="0" marL="0">
              <a:buNone/>
            </a:pPr>
            <a:r>
              <a:rPr lang="en-US" sz="1400" dirty="0">
                <a:solidFill>
                  <a:srgbClr val="F0F4FF"/>
                </a:solidFill>
                <a:latin typeface="Consolas" pitchFamily="34" charset="0"/>
                <a:ea typeface="Consolas" pitchFamily="34" charset="-122"/>
                <a:cs typeface="Consolas" pitchFamily="34" charset="-120"/>
              </a:rPr>
              <a:t>&gt;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const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url</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98D894"/>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C678DD"/>
                </a:solidFill>
                <a:latin typeface="Consolas" pitchFamily="34" charset="0"/>
                <a:ea typeface="Consolas" pitchFamily="34" charset="-122"/>
                <a:cs typeface="Consolas" pitchFamily="34" charset="-120"/>
              </a:rPr>
              <a:t>this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siteUrl</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98D894"/>
                </a:solidFill>
                <a:latin typeface="Consolas" pitchFamily="34" charset="0"/>
                <a:ea typeface="Consolas" pitchFamily="34" charset="-122"/>
                <a:cs typeface="Consolas" pitchFamily="34" charset="-120"/>
              </a:rPr>
              <a:t>/_api/web/lists/getbytitle('</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list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title</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98D894"/>
                </a:solidFill>
                <a:latin typeface="Consolas" pitchFamily="34" charset="0"/>
                <a:ea typeface="Consolas" pitchFamily="34" charset="-122"/>
                <a:cs typeface="Consolas" pitchFamily="34" charset="-120"/>
              </a:rPr>
              <a:t>')/items(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itemId</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98D894"/>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const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options</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headers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98D894"/>
                </a:solidFill>
                <a:latin typeface="Consolas" pitchFamily="34" charset="0"/>
                <a:ea typeface="Consolas" pitchFamily="34" charset="-122"/>
                <a:cs typeface="Consolas" pitchFamily="34" charset="-120"/>
              </a:rPr>
              <a:t>'IF-MATCH'</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98D894"/>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98D894"/>
                </a:solidFill>
                <a:latin typeface="Consolas" pitchFamily="34" charset="0"/>
                <a:ea typeface="Consolas" pitchFamily="34" charset="-122"/>
                <a:cs typeface="Consolas" pitchFamily="34" charset="-120"/>
              </a:rPr>
              <a:t>'X-HTTP-Method'</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98D894"/>
                </a:solidFill>
                <a:latin typeface="Consolas" pitchFamily="34" charset="0"/>
                <a:ea typeface="Consolas" pitchFamily="34" charset="-122"/>
                <a:cs typeface="Consolas" pitchFamily="34" charset="-120"/>
              </a:rPr>
              <a:t>'DELETE'</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const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response</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await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this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spHttpClient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82AAFF"/>
                </a:solidFill>
                <a:latin typeface="Consolas" pitchFamily="34" charset="0"/>
                <a:ea typeface="Consolas" pitchFamily="34" charset="-122"/>
                <a:cs typeface="Consolas" pitchFamily="34" charset="-120"/>
              </a:rPr>
              <a:t>post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url</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00E5FF"/>
                </a:solidFill>
                <a:latin typeface="Consolas" pitchFamily="34" charset="0"/>
                <a:ea typeface="Consolas" pitchFamily="34" charset="-122"/>
                <a:cs typeface="Consolas" pitchFamily="34" charset="-120"/>
              </a:rPr>
              <a:t>SPHttpClient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configurations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v1</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options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if</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response</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ok</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throw</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new</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00E5FF"/>
                </a:solidFill>
                <a:latin typeface="Consolas" pitchFamily="34" charset="0"/>
                <a:ea typeface="Consolas" pitchFamily="34" charset="-122"/>
                <a:cs typeface="Consolas" pitchFamily="34" charset="-120"/>
              </a:rPr>
              <a:t>Error</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98D894"/>
                </a:solidFill>
                <a:latin typeface="Consolas" pitchFamily="34" charset="0"/>
                <a:ea typeface="Consolas" pitchFamily="34" charset="-122"/>
                <a:cs typeface="Consolas" pitchFamily="34" charset="-120"/>
              </a:rPr>
              <a:t>`Failed to delete item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itemId</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98D894"/>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response</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statusText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98D894"/>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p:txBody>
      </p:sp>
      <p:sp>
        <p:nvSpPr>
          <p:cNvPr id="7" name="Text 5"/>
          <p:cNvSpPr/>
          <p:nvPr/>
        </p:nvSpPr>
        <p:spPr>
          <a:xfrm>
            <a:off x="457200" y="4297680"/>
            <a:ext cx="11274552" cy="365760"/>
          </a:xfrm>
          <a:prstGeom prst="rect">
            <a:avLst/>
          </a:prstGeom>
          <a:noFill/>
          <a:ln/>
        </p:spPr>
        <p:txBody>
          <a:bodyPr wrap="square" rtlCol="0" anchor="ctr"/>
          <a:lstStyle/>
          <a:p>
            <a:pPr indent="0" marL="0">
              <a:buNone/>
            </a:pPr>
            <a:r>
              <a:rPr lang="en-US" sz="1400" b="1" dirty="0">
                <a:solidFill>
                  <a:srgbClr val="FFB347"/>
                </a:solidFill>
                <a:latin typeface="Calibri" pitchFamily="34" charset="0"/>
                <a:ea typeface="Calibri" pitchFamily="34" charset="-122"/>
                <a:cs typeface="Calibri" pitchFamily="34" charset="-120"/>
              </a:rPr>
              <a:t>Note the ceremony</a:t>
            </a:r>
            <a:endParaRPr lang="en-US" sz="1400" dirty="0"/>
          </a:p>
        </p:txBody>
      </p:sp>
      <p:sp>
        <p:nvSpPr>
          <p:cNvPr id="8" name="Text 6"/>
          <p:cNvSpPr/>
          <p:nvPr/>
        </p:nvSpPr>
        <p:spPr>
          <a:xfrm>
            <a:off x="457200" y="4617720"/>
            <a:ext cx="11274552" cy="1554480"/>
          </a:xfrm>
          <a:prstGeom prst="rect">
            <a:avLst/>
          </a:prstGeom>
          <a:noFill/>
          <a:ln/>
        </p:spPr>
        <p:txBody>
          <a:bodyPr wrap="square" rtlCol="0" anchor="t"/>
          <a:lstStyle/>
          <a:p>
            <a:pPr marL="342900" indent="-342900">
              <a:spcAft>
                <a:spcPts val="400"/>
              </a:spcAft>
              <a:buSzPct val="100000"/>
              <a:buChar char="●"/>
            </a:pPr>
            <a:r>
              <a:rPr lang="en-US" sz="1400" dirty="0">
                <a:solidFill>
                  <a:srgbClr val="F0F4FF"/>
                </a:solidFill>
                <a:latin typeface="Calibri" pitchFamily="34" charset="0"/>
                <a:ea typeface="Calibri" pitchFamily="34" charset="-122"/>
                <a:cs typeface="Calibri" pitchFamily="34" charset="-120"/>
              </a:rPr>
              <a:t>It is a POST. The only thing that turns it into a delete is X-HTTP-Method: DELETE in the headers.</a:t>
            </a:r>
            <a:endParaRPr lang="en-US" sz="1400" dirty="0"/>
          </a:p>
          <a:p>
            <a:pPr marL="342900" indent="-342900">
              <a:spcAft>
                <a:spcPts val="400"/>
              </a:spcAft>
              <a:buSzPct val="100000"/>
              <a:buChar char="●"/>
            </a:pPr>
            <a:r>
              <a:rPr lang="en-US" sz="1400" dirty="0">
                <a:solidFill>
                  <a:srgbClr val="F0F4FF"/>
                </a:solidFill>
                <a:latin typeface="Calibri" pitchFamily="34" charset="0"/>
                <a:ea typeface="Calibri" pitchFamily="34" charset="-122"/>
                <a:cs typeface="Calibri" pitchFamily="34" charset="-120"/>
              </a:rPr>
              <a:t>Same IF-MATCH: '*' opt-out as update.</a:t>
            </a:r>
            <a:endParaRPr lang="en-US" sz="1400" dirty="0"/>
          </a:p>
          <a:p>
            <a:pPr marL="342900" indent="-342900">
              <a:spcAft>
                <a:spcPts val="400"/>
              </a:spcAft>
              <a:buSzPct val="100000"/>
              <a:buChar char="●"/>
            </a:pPr>
            <a:r>
              <a:rPr lang="en-US" sz="1400" dirty="0">
                <a:solidFill>
                  <a:srgbClr val="F0F4FF"/>
                </a:solidFill>
                <a:latin typeface="Calibri" pitchFamily="34" charset="0"/>
                <a:ea typeface="Calibri" pitchFamily="34" charset="-122"/>
                <a:cs typeface="Calibri" pitchFamily="34" charset="-120"/>
              </a:rPr>
              <a:t>Why isn't this spHttpClient.delete()? Because the SP REST endpoint expects POST with the override header. SPFx mirrors what the wire wants.</a:t>
            </a:r>
            <a:endParaRPr lang="en-US" sz="14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When SP REST stops being enough</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Text 2"/>
          <p:cNvSpPr/>
          <p:nvPr/>
        </p:nvSpPr>
        <p:spPr>
          <a:xfrm>
            <a:off x="457200" y="1207008"/>
            <a:ext cx="11274552" cy="365760"/>
          </a:xfrm>
          <a:prstGeom prst="rect">
            <a:avLst/>
          </a:prstGeom>
          <a:noFill/>
          <a:ln/>
        </p:spPr>
        <p:txBody>
          <a:bodyPr wrap="square" rtlCol="0" anchor="ctr"/>
          <a:lstStyle/>
          <a:p>
            <a:pPr indent="0" marL="0">
              <a:buNone/>
            </a:pPr>
            <a:r>
              <a:rPr lang="en-US" sz="1600" i="1" dirty="0">
                <a:solidFill>
                  <a:srgbClr val="A4ADCE"/>
                </a:solidFill>
                <a:latin typeface="Calibri" pitchFamily="34" charset="0"/>
                <a:ea typeface="Calibri" pitchFamily="34" charset="-122"/>
                <a:cs typeface="Calibri" pitchFamily="34" charset="-120"/>
              </a:rPr>
              <a:t>Reach for MS Graph when…</a:t>
            </a:r>
            <a:endParaRPr lang="en-US" sz="1600" dirty="0"/>
          </a:p>
        </p:txBody>
      </p:sp>
      <p:sp>
        <p:nvSpPr>
          <p:cNvPr id="5" name="Text 3"/>
          <p:cNvSpPr/>
          <p:nvPr/>
        </p:nvSpPr>
        <p:spPr>
          <a:xfrm>
            <a:off x="457200" y="1737360"/>
            <a:ext cx="11274552" cy="4572000"/>
          </a:xfrm>
          <a:prstGeom prst="rect">
            <a:avLst/>
          </a:prstGeom>
          <a:noFill/>
          <a:ln/>
        </p:spPr>
        <p:txBody>
          <a:bodyPr wrap="square" rtlCol="0" anchor="t"/>
          <a:lstStyle/>
          <a:p>
            <a:pPr marL="342900" indent="-342900">
              <a:spcAft>
                <a:spcPts val="600"/>
              </a:spcAft>
              <a:buSzPct val="100000"/>
              <a:buChar char="●"/>
            </a:pPr>
            <a:r>
              <a:rPr lang="en-US" sz="1800" dirty="0">
                <a:solidFill>
                  <a:srgbClr val="F0F4FF"/>
                </a:solidFill>
                <a:latin typeface="Calibri" pitchFamily="34" charset="0"/>
                <a:ea typeface="Calibri" pitchFamily="34" charset="-122"/>
                <a:cs typeface="Calibri" pitchFamily="34" charset="-120"/>
              </a:rPr>
              <a:t>You need data outside SharePoint (Outlook, Teams, OneDrive, users, groups)</a:t>
            </a:r>
            <a:endParaRPr lang="en-US" sz="1800" dirty="0"/>
          </a:p>
          <a:p>
            <a:pPr marL="342900" indent="-342900">
              <a:spcAft>
                <a:spcPts val="600"/>
              </a:spcAft>
              <a:buSzPct val="100000"/>
              <a:buChar char="●"/>
            </a:pPr>
            <a:r>
              <a:rPr lang="en-US" sz="1800" dirty="0">
                <a:solidFill>
                  <a:srgbClr val="F0F4FF"/>
                </a:solidFill>
                <a:latin typeface="Calibri" pitchFamily="34" charset="0"/>
                <a:ea typeface="Calibri" pitchFamily="34" charset="-122"/>
                <a:cs typeface="Calibri" pitchFamily="34" charset="-120"/>
              </a:rPr>
              <a:t>You need to span sites or tenants without site-collection-scoped tokens</a:t>
            </a:r>
            <a:endParaRPr lang="en-US" sz="1800" dirty="0"/>
          </a:p>
          <a:p>
            <a:pPr marL="342900" indent="-342900">
              <a:spcAft>
                <a:spcPts val="600"/>
              </a:spcAft>
              <a:buSzPct val="100000"/>
              <a:buChar char="●"/>
            </a:pPr>
            <a:r>
              <a:rPr lang="en-US" sz="1800" dirty="0">
                <a:solidFill>
                  <a:srgbClr val="F0F4FF"/>
                </a:solidFill>
                <a:latin typeface="Calibri" pitchFamily="34" charset="0"/>
                <a:ea typeface="Calibri" pitchFamily="34" charset="-122"/>
                <a:cs typeface="Calibri" pitchFamily="34" charset="-120"/>
              </a:rPr>
              <a:t>You want one API instead of three</a:t>
            </a:r>
            <a:pPr indent="0" marL="0">
              <a:spcAft>
                <a:spcPts val="600"/>
              </a:spcAft>
              <a:buNone/>
            </a:pPr>
            <a:r>
              <a:rPr lang="en-US" sz="1800" dirty="0">
                <a:solidFill>
                  <a:srgbClr val="F0F4FF"/>
                </a:solidFill>
                <a:latin typeface="Calibri" pitchFamily="34" charset="0"/>
                <a:ea typeface="Calibri" pitchFamily="34" charset="-122"/>
                <a:cs typeface="Calibri" pitchFamily="34" charset="-120"/>
              </a:rPr>
              <a:t> </a:t>
            </a:r>
            <a:pPr indent="0" marL="0">
              <a:spcAft>
                <a:spcPts val="600"/>
              </a:spcAft>
              <a:buNone/>
            </a:pPr>
            <a:r>
              <a:rPr lang="en-US" sz="1800" i="1" dirty="0">
                <a:solidFill>
                  <a:srgbClr val="FFB347"/>
                </a:solidFill>
                <a:latin typeface="Calibri" pitchFamily="34" charset="0"/>
                <a:ea typeface="Calibri" pitchFamily="34" charset="-122"/>
                <a:cs typeface="Calibri" pitchFamily="34" charset="-120"/>
              </a:rPr>
              <a:t>Caveat: Graph for SharePoint list items is awkward. You'll see why in a minute.</a:t>
            </a:r>
            <a:endParaRPr lang="en-US" sz="18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SPFx + Graph: read list items</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Shape 2"/>
          <p:cNvSpPr/>
          <p:nvPr/>
        </p:nvSpPr>
        <p:spPr>
          <a:xfrm>
            <a:off x="457200" y="1737360"/>
            <a:ext cx="11274552" cy="2743200"/>
          </a:xfrm>
          <a:prstGeom prst="roundRect">
            <a:avLst>
              <a:gd name="adj" fmla="val 2667"/>
            </a:avLst>
          </a:prstGeom>
          <a:solidFill>
            <a:srgbClr val="141937"/>
          </a:solidFill>
          <a:ln w="9525">
            <a:solidFill>
              <a:srgbClr val="2A3258"/>
            </a:solidFill>
            <a:prstDash val="solid"/>
          </a:ln>
        </p:spPr>
      </p:sp>
      <p:sp>
        <p:nvSpPr>
          <p:cNvPr id="5" name="Text 3"/>
          <p:cNvSpPr/>
          <p:nvPr/>
        </p:nvSpPr>
        <p:spPr>
          <a:xfrm>
            <a:off x="621792" y="1847088"/>
            <a:ext cx="10945368" cy="2523744"/>
          </a:xfrm>
          <a:prstGeom prst="rect">
            <a:avLst/>
          </a:prstGeom>
          <a:noFill/>
          <a:ln/>
        </p:spPr>
        <p:txBody>
          <a:bodyPr wrap="square" rtlCol="0" anchor="t"/>
          <a:lstStyle/>
          <a:p>
            <a:pPr indent="0" marL="0">
              <a:buNone/>
            </a:pPr>
            <a:r>
              <a:rPr lang="en-US" sz="1200" dirty="0">
                <a:solidFill>
                  <a:srgbClr val="C678DD"/>
                </a:solidFill>
                <a:latin typeface="Consolas" pitchFamily="34" charset="0"/>
                <a:ea typeface="Consolas" pitchFamily="34" charset="-122"/>
                <a:cs typeface="Consolas" pitchFamily="34" charset="-120"/>
              </a:rPr>
              <a:t>const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qs</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98D894"/>
                </a:solidFill>
                <a:latin typeface="Consolas" pitchFamily="34" charset="0"/>
                <a:ea typeface="Consolas" pitchFamily="34" charset="-122"/>
                <a:cs typeface="Consolas" pitchFamily="34" charset="-120"/>
              </a:rPr>
              <a:t>`expand=fields(select=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00E5FF"/>
                </a:solidFill>
                <a:latin typeface="Consolas" pitchFamily="34" charset="0"/>
                <a:ea typeface="Consolas" pitchFamily="34" charset="-122"/>
                <a:cs typeface="Consolas" pitchFamily="34" charset="-120"/>
              </a:rPr>
              <a:t>GRAPH_FIELD_SELECT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6B7299"/>
                </a:solidFill>
                <a:latin typeface="Consolas" pitchFamily="34" charset="0"/>
                <a:ea typeface="Consolas" pitchFamily="34" charset="-122"/>
                <a:cs typeface="Consolas" pitchFamily="34" charset="-120"/>
              </a:rPr>
              <a:t>// &lt;-- no $ on expand</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98D894"/>
                </a:solidFill>
                <a:latin typeface="Consolas" pitchFamily="34" charset="0"/>
                <a:ea typeface="Consolas" pitchFamily="34" charset="-122"/>
                <a:cs typeface="Consolas" pitchFamily="34" charset="-120"/>
              </a:rPr>
              <a:t>`$filter=fields/SessionDate ge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startOfTodayIsoNoMs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6B7299"/>
                </a:solidFill>
                <a:latin typeface="Consolas" pitchFamily="34" charset="0"/>
                <a:ea typeface="Consolas" pitchFamily="34" charset="-122"/>
                <a:cs typeface="Consolas" pitchFamily="34" charset="-120"/>
              </a:rPr>
              <a:t>// &lt;-- single-quoted ISO</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98D894"/>
                </a:solidFill>
                <a:latin typeface="Consolas" pitchFamily="34" charset="0"/>
                <a:ea typeface="Consolas" pitchFamily="34" charset="-122"/>
                <a:cs typeface="Consolas" pitchFamily="34" charset="-120"/>
              </a:rPr>
              <a:t>`$orderby=fields/SessionDate asc`</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join</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'&amp;'</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C678DD"/>
                </a:solidFill>
                <a:latin typeface="Consolas" pitchFamily="34" charset="0"/>
                <a:ea typeface="Consolas" pitchFamily="34" charset="-122"/>
                <a:cs typeface="Consolas" pitchFamily="34" charset="-120"/>
              </a:rPr>
              <a:t>const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response</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await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this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graphClient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api</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`/sites/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C678DD"/>
                </a:solidFill>
                <a:latin typeface="Consolas" pitchFamily="34" charset="0"/>
                <a:ea typeface="Consolas" pitchFamily="34" charset="-122"/>
                <a:cs typeface="Consolas" pitchFamily="34" charset="-120"/>
              </a:rPr>
              <a:t>this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siteId</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/lists/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list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id</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/items`</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version</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'v1.0'</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header</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'Prefer'</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98D894"/>
                </a:solidFill>
                <a:latin typeface="Consolas" pitchFamily="34" charset="0"/>
                <a:ea typeface="Consolas" pitchFamily="34" charset="-122"/>
                <a:cs typeface="Consolas" pitchFamily="34" charset="-120"/>
              </a:rPr>
              <a:t>'HonorNonIndexedQueriesWarningMayFailRandomly'</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query</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qs</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get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p:txBody>
      </p:sp>
      <p:sp>
        <p:nvSpPr>
          <p:cNvPr id="6" name="Text 4"/>
          <p:cNvSpPr/>
          <p:nvPr/>
        </p:nvSpPr>
        <p:spPr>
          <a:xfrm>
            <a:off x="457200" y="4617720"/>
            <a:ext cx="11274552" cy="365760"/>
          </a:xfrm>
          <a:prstGeom prst="rect">
            <a:avLst/>
          </a:prstGeom>
          <a:noFill/>
          <a:ln/>
        </p:spPr>
        <p:txBody>
          <a:bodyPr wrap="square" rtlCol="0" anchor="ctr"/>
          <a:lstStyle/>
          <a:p>
            <a:pPr indent="0" marL="0">
              <a:buNone/>
            </a:pPr>
            <a:r>
              <a:rPr lang="en-US" sz="1400" b="1" dirty="0">
                <a:solidFill>
                  <a:srgbClr val="FFB347"/>
                </a:solidFill>
                <a:latin typeface="Calibri" pitchFamily="34" charset="0"/>
                <a:ea typeface="Calibri" pitchFamily="34" charset="-122"/>
                <a:cs typeface="Calibri" pitchFamily="34" charset="-120"/>
              </a:rPr>
              <a:t>Three Graph-specific gotchas already on this slide</a:t>
            </a:r>
            <a:endParaRPr lang="en-US" sz="1400" dirty="0"/>
          </a:p>
        </p:txBody>
      </p:sp>
      <p:sp>
        <p:nvSpPr>
          <p:cNvPr id="7" name="Text 5"/>
          <p:cNvSpPr/>
          <p:nvPr/>
        </p:nvSpPr>
        <p:spPr>
          <a:xfrm>
            <a:off x="457200" y="4937760"/>
            <a:ext cx="11274552" cy="1188720"/>
          </a:xfrm>
          <a:prstGeom prst="rect">
            <a:avLst/>
          </a:prstGeom>
          <a:noFill/>
          <a:ln/>
        </p:spPr>
        <p:txBody>
          <a:bodyPr wrap="square" rtlCol="0" anchor="t"/>
          <a:lstStyle/>
          <a:p>
            <a:pPr indent="0" marL="0">
              <a:spcAft>
                <a:spcPts val="400"/>
              </a:spcAft>
              <a:buNone/>
            </a:pPr>
            <a:r>
              <a:rPr lang="en-US" sz="1400" dirty="0">
                <a:solidFill>
                  <a:srgbClr val="F0F4FF"/>
                </a:solidFill>
                <a:latin typeface="Calibri" pitchFamily="34" charset="0"/>
                <a:ea typeface="Calibri" pitchFamily="34" charset="-122"/>
                <a:cs typeface="Calibri" pitchFamily="34" charset="-120"/>
              </a:rPr>
              <a:t>1. expand=fields(select=...) — no $. With $expand you get an OData parser error.</a:t>
            </a:r>
            <a:pPr indent="0" marL="0">
              <a:spcAft>
                <a:spcPts val="400"/>
              </a:spcAft>
              <a:buNone/>
            </a:pPr>
            <a:r>
              <a:rPr lang="en-US" sz="1400" dirty="0">
                <a:solidFill>
                  <a:srgbClr val="F0F4FF"/>
                </a:solidFill>
                <a:latin typeface="Calibri" pitchFamily="34" charset="0"/>
                <a:ea typeface="Calibri" pitchFamily="34" charset="-122"/>
                <a:cs typeface="Calibri" pitchFamily="34" charset="-120"/>
              </a:rPr>
              <a:t>2. Datetime literal must be a single-quoted ISO 8601 string. datetime'...' returns 400.</a:t>
            </a:r>
            <a:pPr indent="0" marL="0">
              <a:spcAft>
                <a:spcPts val="400"/>
              </a:spcAft>
              <a:buNone/>
            </a:pPr>
            <a:r>
              <a:rPr lang="en-US" sz="1400" dirty="0">
                <a:solidFill>
                  <a:srgbClr val="F0F4FF"/>
                </a:solidFill>
                <a:latin typeface="Calibri" pitchFamily="34" charset="0"/>
                <a:ea typeface="Calibri" pitchFamily="34" charset="-122"/>
                <a:cs typeface="Calibri" pitchFamily="34" charset="-120"/>
              </a:rPr>
              <a:t>3. $filter / $orderby against fields/&lt;column&gt; requires the column to be indexed.</a:t>
            </a:r>
            <a:endParaRPr lang="en-US" sz="14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SPFx + Graph: add</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Text 2"/>
          <p:cNvSpPr/>
          <p:nvPr/>
        </p:nvSpPr>
        <p:spPr>
          <a:xfrm>
            <a:off x="457200" y="1207008"/>
            <a:ext cx="11274552" cy="365760"/>
          </a:xfrm>
          <a:prstGeom prst="rect">
            <a:avLst/>
          </a:prstGeom>
          <a:noFill/>
          <a:ln/>
        </p:spPr>
        <p:txBody>
          <a:bodyPr wrap="square" rtlCol="0" anchor="ctr"/>
          <a:lstStyle/>
          <a:p>
            <a:pPr indent="0" marL="0">
              <a:buNone/>
            </a:pPr>
            <a:r>
              <a:rPr lang="en-US" sz="1600" i="1" dirty="0">
                <a:solidFill>
                  <a:srgbClr val="A4ADCE"/>
                </a:solidFill>
                <a:latin typeface="Calibri" pitchFamily="34" charset="0"/>
                <a:ea typeface="Calibri" pitchFamily="34" charset="-122"/>
                <a:cs typeface="Calibri" pitchFamily="34" charset="-120"/>
              </a:rPr>
              <a:t>Bonus — a real POST, plus the fields envelope</a:t>
            </a:r>
            <a:endParaRPr lang="en-US" sz="1600" dirty="0"/>
          </a:p>
        </p:txBody>
      </p:sp>
      <p:sp>
        <p:nvSpPr>
          <p:cNvPr id="5" name="Shape 3"/>
          <p:cNvSpPr/>
          <p:nvPr/>
        </p:nvSpPr>
        <p:spPr>
          <a:xfrm>
            <a:off x="457200" y="1737360"/>
            <a:ext cx="11274552" cy="2194560"/>
          </a:xfrm>
          <a:prstGeom prst="roundRect">
            <a:avLst>
              <a:gd name="adj" fmla="val 3333"/>
            </a:avLst>
          </a:prstGeom>
          <a:solidFill>
            <a:srgbClr val="141937"/>
          </a:solidFill>
          <a:ln w="9525">
            <a:solidFill>
              <a:srgbClr val="2A3258"/>
            </a:solidFill>
            <a:prstDash val="solid"/>
          </a:ln>
        </p:spPr>
      </p:sp>
      <p:sp>
        <p:nvSpPr>
          <p:cNvPr id="6" name="Text 4"/>
          <p:cNvSpPr/>
          <p:nvPr/>
        </p:nvSpPr>
        <p:spPr>
          <a:xfrm>
            <a:off x="621792" y="1847088"/>
            <a:ext cx="10945368" cy="1975104"/>
          </a:xfrm>
          <a:prstGeom prst="rect">
            <a:avLst/>
          </a:prstGeom>
          <a:noFill/>
          <a:ln/>
        </p:spPr>
        <p:txBody>
          <a:bodyPr wrap="square" rtlCol="0" anchor="t"/>
          <a:lstStyle/>
          <a:p>
            <a:pPr indent="0" marL="0">
              <a:buNone/>
            </a:pPr>
            <a:r>
              <a:rPr lang="en-US" sz="1400" dirty="0">
                <a:solidFill>
                  <a:srgbClr val="C678DD"/>
                </a:solidFill>
                <a:latin typeface="Consolas" pitchFamily="34" charset="0"/>
                <a:ea typeface="Consolas" pitchFamily="34" charset="-122"/>
                <a:cs typeface="Consolas" pitchFamily="34" charset="-120"/>
              </a:rPr>
              <a:t>public</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async</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82AAFF"/>
                </a:solidFill>
                <a:latin typeface="Consolas" pitchFamily="34" charset="0"/>
                <a:ea typeface="Consolas" pitchFamily="34" charset="-122"/>
                <a:cs typeface="Consolas" pitchFamily="34" charset="-120"/>
              </a:rPr>
              <a:t>createItem</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list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item</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00E5FF"/>
                </a:solidFill>
                <a:latin typeface="Consolas" pitchFamily="34" charset="0"/>
                <a:ea typeface="Consolas" pitchFamily="34" charset="-122"/>
                <a:cs typeface="Consolas" pitchFamily="34" charset="-120"/>
              </a:rPr>
              <a:t>Promise</a:t>
            </a:r>
            <a:pPr indent="0" marL="0">
              <a:buNone/>
            </a:pPr>
            <a:r>
              <a:rPr lang="en-US" sz="1400" dirty="0">
                <a:solidFill>
                  <a:srgbClr val="F0F4FF"/>
                </a:solidFill>
                <a:latin typeface="Consolas" pitchFamily="34" charset="0"/>
                <a:ea typeface="Consolas" pitchFamily="34" charset="-122"/>
                <a:cs typeface="Consolas" pitchFamily="34" charset="-120"/>
              </a:rPr>
              <a:t>&lt;</a:t>
            </a:r>
            <a:pPr indent="0" marL="0">
              <a:buNone/>
            </a:pPr>
            <a:r>
              <a:rPr lang="en-US" sz="1400" dirty="0">
                <a:solidFill>
                  <a:srgbClr val="00E5FF"/>
                </a:solidFill>
                <a:latin typeface="Consolas" pitchFamily="34" charset="0"/>
                <a:ea typeface="Consolas" pitchFamily="34" charset="-122"/>
                <a:cs typeface="Consolas" pitchFamily="34" charset="-120"/>
              </a:rPr>
              <a:t>IEventItem</a:t>
            </a:r>
            <a:pPr indent="0" marL="0">
              <a:buNone/>
            </a:pPr>
            <a:r>
              <a:rPr lang="en-US" sz="1400" dirty="0">
                <a:solidFill>
                  <a:srgbClr val="F0F4FF"/>
                </a:solidFill>
                <a:latin typeface="Consolas" pitchFamily="34" charset="0"/>
                <a:ea typeface="Consolas" pitchFamily="34" charset="-122"/>
                <a:cs typeface="Consolas" pitchFamily="34" charset="-120"/>
              </a:rPr>
              <a:t>&gt;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const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response</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await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this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graphClient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82AAFF"/>
                </a:solidFill>
                <a:latin typeface="Consolas" pitchFamily="34" charset="0"/>
                <a:ea typeface="Consolas" pitchFamily="34" charset="-122"/>
                <a:cs typeface="Consolas" pitchFamily="34" charset="-120"/>
              </a:rPr>
              <a:t>api</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98D894"/>
                </a:solidFill>
                <a:latin typeface="Consolas" pitchFamily="34" charset="0"/>
                <a:ea typeface="Consolas" pitchFamily="34" charset="-122"/>
                <a:cs typeface="Consolas" pitchFamily="34" charset="-120"/>
              </a:rPr>
              <a:t>`/sites/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C678DD"/>
                </a:solidFill>
                <a:latin typeface="Consolas" pitchFamily="34" charset="0"/>
                <a:ea typeface="Consolas" pitchFamily="34" charset="-122"/>
                <a:cs typeface="Consolas" pitchFamily="34" charset="-120"/>
              </a:rPr>
              <a:t>this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siteId</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98D894"/>
                </a:solidFill>
                <a:latin typeface="Consolas" pitchFamily="34" charset="0"/>
                <a:ea typeface="Consolas" pitchFamily="34" charset="-122"/>
                <a:cs typeface="Consolas" pitchFamily="34" charset="-120"/>
              </a:rPr>
              <a:t>/lists/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list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id</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98D894"/>
                </a:solidFill>
                <a:latin typeface="Consolas" pitchFamily="34" charset="0"/>
                <a:ea typeface="Consolas" pitchFamily="34" charset="-122"/>
                <a:cs typeface="Consolas" pitchFamily="34" charset="-120"/>
              </a:rPr>
              <a:t>/items`</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82AAFF"/>
                </a:solidFill>
                <a:latin typeface="Consolas" pitchFamily="34" charset="0"/>
                <a:ea typeface="Consolas" pitchFamily="34" charset="-122"/>
                <a:cs typeface="Consolas" pitchFamily="34" charset="-120"/>
              </a:rPr>
              <a:t>version</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98D894"/>
                </a:solidFill>
                <a:latin typeface="Consolas" pitchFamily="34" charset="0"/>
                <a:ea typeface="Consolas" pitchFamily="34" charset="-122"/>
                <a:cs typeface="Consolas" pitchFamily="34" charset="-120"/>
              </a:rPr>
              <a:t>'v1.0'</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82AAFF"/>
                </a:solidFill>
                <a:latin typeface="Consolas" pitchFamily="34" charset="0"/>
                <a:ea typeface="Consolas" pitchFamily="34" charset="-122"/>
                <a:cs typeface="Consolas" pitchFamily="34" charset="-120"/>
              </a:rPr>
              <a:t>post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fields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82AAFF"/>
                </a:solidFill>
                <a:latin typeface="Consolas" pitchFamily="34" charset="0"/>
                <a:ea typeface="Consolas" pitchFamily="34" charset="-122"/>
                <a:cs typeface="Consolas" pitchFamily="34" charset="-120"/>
              </a:rPr>
              <a:t>toGraphWriteFields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item</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return</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82AAFF"/>
                </a:solidFill>
                <a:latin typeface="Consolas" pitchFamily="34" charset="0"/>
                <a:ea typeface="Consolas" pitchFamily="34" charset="-122"/>
                <a:cs typeface="Consolas" pitchFamily="34" charset="-120"/>
              </a:rPr>
              <a:t>fromGraphItem</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response</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as</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00E5FF"/>
                </a:solidFill>
                <a:latin typeface="Consolas" pitchFamily="34" charset="0"/>
                <a:ea typeface="Consolas" pitchFamily="34" charset="-122"/>
                <a:cs typeface="Consolas" pitchFamily="34" charset="-120"/>
              </a:rPr>
              <a:t>IGraphListItem</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p:txBody>
      </p:sp>
      <p:sp>
        <p:nvSpPr>
          <p:cNvPr id="7" name="Text 5"/>
          <p:cNvSpPr/>
          <p:nvPr/>
        </p:nvSpPr>
        <p:spPr>
          <a:xfrm>
            <a:off x="457200" y="4114800"/>
            <a:ext cx="11274552" cy="457200"/>
          </a:xfrm>
          <a:prstGeom prst="rect">
            <a:avLst/>
          </a:prstGeom>
          <a:noFill/>
          <a:ln/>
        </p:spPr>
        <p:txBody>
          <a:bodyPr wrap="square" rtlCol="0" anchor="ctr"/>
          <a:lstStyle/>
          <a:p>
            <a:pPr indent="0" marL="0">
              <a:buNone/>
            </a:pPr>
            <a:r>
              <a:rPr lang="en-US" sz="1600" dirty="0">
                <a:solidFill>
                  <a:srgbClr val="7EE787"/>
                </a:solidFill>
                <a:latin typeface="Calibri" pitchFamily="34" charset="0"/>
                <a:ea typeface="Calibri" pitchFamily="34" charset="-122"/>
                <a:cs typeface="Calibri" pitchFamily="34" charset="-120"/>
              </a:rPr>
              <a:t>A real .post() — no method-override gymnastics, no IF-MATCH.</a:t>
            </a:r>
            <a:endParaRPr lang="en-US" sz="1600" dirty="0"/>
          </a:p>
        </p:txBody>
      </p:sp>
      <p:sp>
        <p:nvSpPr>
          <p:cNvPr id="8" name="Text 6"/>
          <p:cNvSpPr/>
          <p:nvPr/>
        </p:nvSpPr>
        <p:spPr>
          <a:xfrm>
            <a:off x="457200" y="4663440"/>
            <a:ext cx="11274552" cy="365760"/>
          </a:xfrm>
          <a:prstGeom prst="rect">
            <a:avLst/>
          </a:prstGeom>
          <a:noFill/>
          <a:ln/>
        </p:spPr>
        <p:txBody>
          <a:bodyPr wrap="square" rtlCol="0" anchor="ctr"/>
          <a:lstStyle/>
          <a:p>
            <a:pPr indent="0" marL="0">
              <a:buNone/>
            </a:pPr>
            <a:r>
              <a:rPr lang="en-US" sz="1400" b="1" dirty="0">
                <a:solidFill>
                  <a:srgbClr val="FFB347"/>
                </a:solidFill>
                <a:latin typeface="Calibri" pitchFamily="34" charset="0"/>
                <a:ea typeface="Calibri" pitchFamily="34" charset="-122"/>
                <a:cs typeface="Calibri" pitchFamily="34" charset="-120"/>
              </a:rPr>
              <a:t>But the { fields: … } envelope is mandatory</a:t>
            </a:r>
            <a:endParaRPr lang="en-US" sz="1400" dirty="0"/>
          </a:p>
        </p:txBody>
      </p:sp>
      <p:sp>
        <p:nvSpPr>
          <p:cNvPr id="9" name="Text 7"/>
          <p:cNvSpPr/>
          <p:nvPr/>
        </p:nvSpPr>
        <p:spPr>
          <a:xfrm>
            <a:off x="457200" y="4983480"/>
            <a:ext cx="11274552" cy="1280160"/>
          </a:xfrm>
          <a:prstGeom prst="rect">
            <a:avLst/>
          </a:prstGeom>
          <a:noFill/>
          <a:ln/>
        </p:spPr>
        <p:txBody>
          <a:bodyPr wrap="square" rtlCol="0" anchor="t"/>
          <a:lstStyle/>
          <a:p>
            <a:pPr marL="342900" indent="-342900">
              <a:spcAft>
                <a:spcPts val="400"/>
              </a:spcAft>
              <a:buSzPct val="100000"/>
              <a:buChar char="●"/>
            </a:pPr>
            <a:r>
              <a:rPr lang="en-US" sz="1300" dirty="0">
                <a:solidFill>
                  <a:srgbClr val="F0F4FF"/>
                </a:solidFill>
                <a:latin typeface="Calibri" pitchFamily="34" charset="0"/>
                <a:ea typeface="Calibri" pitchFamily="34" charset="-122"/>
                <a:cs typeface="Calibri" pitchFamily="34" charset="-120"/>
              </a:rPr>
              <a:t>Graph won't accept a flat field bag — it wants the wrapper.</a:t>
            </a:r>
            <a:endParaRPr lang="en-US" sz="1300" dirty="0"/>
          </a:p>
          <a:p>
            <a:pPr marL="342900" indent="-342900">
              <a:spcAft>
                <a:spcPts val="400"/>
              </a:spcAft>
              <a:buSzPct val="100000"/>
              <a:buChar char="●"/>
            </a:pPr>
            <a:r>
              <a:rPr lang="en-US" sz="1300" dirty="0">
                <a:solidFill>
                  <a:srgbClr val="F0F4FF"/>
                </a:solidFill>
                <a:latin typeface="Calibri" pitchFamily="34" charset="0"/>
                <a:ea typeface="Calibri" pitchFamily="34" charset="-122"/>
                <a:cs typeface="Calibri" pitchFamily="34" charset="-120"/>
              </a:rPr>
              <a:t>toGraphWriteFields does the same translations as the SP REST mapper (Speaker → SpeakerLookupId, URL → { Url, Description }).</a:t>
            </a:r>
            <a:endParaRPr lang="en-US" sz="1300" dirty="0"/>
          </a:p>
          <a:p>
            <a:pPr marL="342900" indent="-342900">
              <a:spcAft>
                <a:spcPts val="400"/>
              </a:spcAft>
              <a:buSzPct val="100000"/>
              <a:buChar char="●"/>
            </a:pPr>
            <a:r>
              <a:rPr lang="en-US" sz="1300" dirty="0">
                <a:solidFill>
                  <a:srgbClr val="F0F4FF"/>
                </a:solidFill>
                <a:latin typeface="Calibri" pitchFamily="34" charset="0"/>
                <a:ea typeface="Calibri" pitchFamily="34" charset="-122"/>
                <a:cs typeface="Calibri" pitchFamily="34" charset="-120"/>
              </a:rPr>
              <a:t>Mapping ceremony is a SharePoint shape problem, not an HTTP-client problem.</a:t>
            </a:r>
            <a:endParaRPr lang="en-US" sz="13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SPFx + Graph: delete</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Text 2"/>
          <p:cNvSpPr/>
          <p:nvPr/>
        </p:nvSpPr>
        <p:spPr>
          <a:xfrm>
            <a:off x="457200" y="1207008"/>
            <a:ext cx="11274552" cy="365760"/>
          </a:xfrm>
          <a:prstGeom prst="rect">
            <a:avLst/>
          </a:prstGeom>
          <a:noFill/>
          <a:ln/>
        </p:spPr>
        <p:txBody>
          <a:bodyPr wrap="square" rtlCol="0" anchor="ctr"/>
          <a:lstStyle/>
          <a:p>
            <a:pPr indent="0" marL="0">
              <a:buNone/>
            </a:pPr>
            <a:r>
              <a:rPr lang="en-US" sz="1600" i="1" dirty="0">
                <a:solidFill>
                  <a:srgbClr val="A4ADCE"/>
                </a:solidFill>
                <a:latin typeface="Calibri" pitchFamily="34" charset="0"/>
                <a:ea typeface="Calibri" pitchFamily="34" charset="-122"/>
                <a:cs typeface="Calibri" pitchFamily="34" charset="-120"/>
              </a:rPr>
              <a:t>Bonus — the cleanest delete in the deck</a:t>
            </a:r>
            <a:endParaRPr lang="en-US" sz="1600" dirty="0"/>
          </a:p>
        </p:txBody>
      </p:sp>
      <p:sp>
        <p:nvSpPr>
          <p:cNvPr id="5" name="Shape 3"/>
          <p:cNvSpPr/>
          <p:nvPr/>
        </p:nvSpPr>
        <p:spPr>
          <a:xfrm>
            <a:off x="457200" y="1737360"/>
            <a:ext cx="11274552" cy="1737360"/>
          </a:xfrm>
          <a:prstGeom prst="roundRect">
            <a:avLst>
              <a:gd name="adj" fmla="val 4211"/>
            </a:avLst>
          </a:prstGeom>
          <a:solidFill>
            <a:srgbClr val="141937"/>
          </a:solidFill>
          <a:ln w="9525">
            <a:solidFill>
              <a:srgbClr val="2A3258"/>
            </a:solidFill>
            <a:prstDash val="solid"/>
          </a:ln>
        </p:spPr>
      </p:sp>
      <p:sp>
        <p:nvSpPr>
          <p:cNvPr id="6" name="Text 4"/>
          <p:cNvSpPr/>
          <p:nvPr/>
        </p:nvSpPr>
        <p:spPr>
          <a:xfrm>
            <a:off x="621792" y="1847088"/>
            <a:ext cx="10945368" cy="1517904"/>
          </a:xfrm>
          <a:prstGeom prst="rect">
            <a:avLst/>
          </a:prstGeom>
          <a:noFill/>
          <a:ln/>
        </p:spPr>
        <p:txBody>
          <a:bodyPr wrap="square" rtlCol="0" anchor="t"/>
          <a:lstStyle/>
          <a:p>
            <a:pPr indent="0" marL="0">
              <a:buNone/>
            </a:pPr>
            <a:r>
              <a:rPr lang="en-US" sz="1400" dirty="0">
                <a:solidFill>
                  <a:srgbClr val="C678DD"/>
                </a:solidFill>
                <a:latin typeface="Consolas" pitchFamily="34" charset="0"/>
                <a:ea typeface="Consolas" pitchFamily="34" charset="-122"/>
                <a:cs typeface="Consolas" pitchFamily="34" charset="-120"/>
              </a:rPr>
              <a:t>public</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async</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82AAFF"/>
                </a:solidFill>
                <a:latin typeface="Consolas" pitchFamily="34" charset="0"/>
                <a:ea typeface="Consolas" pitchFamily="34" charset="-122"/>
                <a:cs typeface="Consolas" pitchFamily="34" charset="-120"/>
              </a:rPr>
              <a:t>deleteItem</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list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itemId</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00E5FF"/>
                </a:solidFill>
                <a:latin typeface="Consolas" pitchFamily="34" charset="0"/>
                <a:ea typeface="Consolas" pitchFamily="34" charset="-122"/>
                <a:cs typeface="Consolas" pitchFamily="34" charset="-120"/>
              </a:rPr>
              <a:t>Promise</a:t>
            </a:r>
            <a:pPr indent="0" marL="0">
              <a:buNone/>
            </a:pPr>
            <a:r>
              <a:rPr lang="en-US" sz="1400" dirty="0">
                <a:solidFill>
                  <a:srgbClr val="F0F4FF"/>
                </a:solidFill>
                <a:latin typeface="Consolas" pitchFamily="34" charset="0"/>
                <a:ea typeface="Consolas" pitchFamily="34" charset="-122"/>
                <a:cs typeface="Consolas" pitchFamily="34" charset="-120"/>
              </a:rPr>
              <a:t>&lt;</a:t>
            </a:r>
            <a:pPr indent="0" marL="0">
              <a:buNone/>
            </a:pPr>
            <a:r>
              <a:rPr lang="en-US" sz="1400" dirty="0">
                <a:solidFill>
                  <a:srgbClr val="00E5FF"/>
                </a:solidFill>
                <a:latin typeface="Consolas" pitchFamily="34" charset="0"/>
                <a:ea typeface="Consolas" pitchFamily="34" charset="-122"/>
                <a:cs typeface="Consolas" pitchFamily="34" charset="-120"/>
              </a:rPr>
              <a:t>void</a:t>
            </a:r>
            <a:pPr indent="0" marL="0">
              <a:buNone/>
            </a:pPr>
            <a:r>
              <a:rPr lang="en-US" sz="1400" dirty="0">
                <a:solidFill>
                  <a:srgbClr val="F0F4FF"/>
                </a:solidFill>
                <a:latin typeface="Consolas" pitchFamily="34" charset="0"/>
                <a:ea typeface="Consolas" pitchFamily="34" charset="-122"/>
                <a:cs typeface="Consolas" pitchFamily="34" charset="-120"/>
              </a:rPr>
              <a:t>&gt;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await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this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graphClient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82AAFF"/>
                </a:solidFill>
                <a:latin typeface="Consolas" pitchFamily="34" charset="0"/>
                <a:ea typeface="Consolas" pitchFamily="34" charset="-122"/>
                <a:cs typeface="Consolas" pitchFamily="34" charset="-120"/>
              </a:rPr>
              <a:t>api</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98D894"/>
                </a:solidFill>
                <a:latin typeface="Consolas" pitchFamily="34" charset="0"/>
                <a:ea typeface="Consolas" pitchFamily="34" charset="-122"/>
                <a:cs typeface="Consolas" pitchFamily="34" charset="-120"/>
              </a:rPr>
              <a:t>`/sites/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C678DD"/>
                </a:solidFill>
                <a:latin typeface="Consolas" pitchFamily="34" charset="0"/>
                <a:ea typeface="Consolas" pitchFamily="34" charset="-122"/>
                <a:cs typeface="Consolas" pitchFamily="34" charset="-120"/>
              </a:rPr>
              <a:t>this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siteId</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98D894"/>
                </a:solidFill>
                <a:latin typeface="Consolas" pitchFamily="34" charset="0"/>
                <a:ea typeface="Consolas" pitchFamily="34" charset="-122"/>
                <a:cs typeface="Consolas" pitchFamily="34" charset="-120"/>
              </a:rPr>
              <a:t>/lists/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list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id</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98D894"/>
                </a:solidFill>
                <a:latin typeface="Consolas" pitchFamily="34" charset="0"/>
                <a:ea typeface="Consolas" pitchFamily="34" charset="-122"/>
                <a:cs typeface="Consolas" pitchFamily="34" charset="-120"/>
              </a:rPr>
              <a:t>/items/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itemId</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98D894"/>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82AAFF"/>
                </a:solidFill>
                <a:latin typeface="Consolas" pitchFamily="34" charset="0"/>
                <a:ea typeface="Consolas" pitchFamily="34" charset="-122"/>
                <a:cs typeface="Consolas" pitchFamily="34" charset="-120"/>
              </a:rPr>
              <a:t>version</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98D894"/>
                </a:solidFill>
                <a:latin typeface="Consolas" pitchFamily="34" charset="0"/>
                <a:ea typeface="Consolas" pitchFamily="34" charset="-122"/>
                <a:cs typeface="Consolas" pitchFamily="34" charset="-120"/>
              </a:rPr>
              <a:t>'v1.0'</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82AAFF"/>
                </a:solidFill>
                <a:latin typeface="Consolas" pitchFamily="34" charset="0"/>
                <a:ea typeface="Consolas" pitchFamily="34" charset="-122"/>
                <a:cs typeface="Consolas" pitchFamily="34" charset="-120"/>
              </a:rPr>
              <a:t>delete</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p:txBody>
      </p:sp>
      <p:sp>
        <p:nvSpPr>
          <p:cNvPr id="7" name="Text 5"/>
          <p:cNvSpPr/>
          <p:nvPr/>
        </p:nvSpPr>
        <p:spPr>
          <a:xfrm>
            <a:off x="457200" y="3657600"/>
            <a:ext cx="11274552" cy="457200"/>
          </a:xfrm>
          <a:prstGeom prst="rect">
            <a:avLst/>
          </a:prstGeom>
          <a:noFill/>
          <a:ln/>
        </p:spPr>
        <p:txBody>
          <a:bodyPr wrap="square" rtlCol="0" anchor="ctr"/>
          <a:lstStyle/>
          <a:p>
            <a:pPr indent="0" marL="0">
              <a:buNone/>
            </a:pPr>
            <a:r>
              <a:rPr lang="en-US" sz="1600" b="1" dirty="0">
                <a:solidFill>
                  <a:srgbClr val="7EE787"/>
                </a:solidFill>
                <a:latin typeface="Calibri" pitchFamily="34" charset="0"/>
                <a:ea typeface="Calibri" pitchFamily="34" charset="-122"/>
                <a:cs typeface="Calibri" pitchFamily="34" charset="-120"/>
              </a:rPr>
              <a:t>A real .delete(). No POST. No X-HTTP-Method. No IF-MATCH.</a:t>
            </a:r>
            <a:endParaRPr lang="en-US" sz="1600" dirty="0"/>
          </a:p>
        </p:txBody>
      </p:sp>
      <p:sp>
        <p:nvSpPr>
          <p:cNvPr id="8" name="Shape 6"/>
          <p:cNvSpPr/>
          <p:nvPr/>
        </p:nvSpPr>
        <p:spPr>
          <a:xfrm>
            <a:off x="457200" y="4434840"/>
            <a:ext cx="54864" cy="1005840"/>
          </a:xfrm>
          <a:prstGeom prst="rect">
            <a:avLst/>
          </a:prstGeom>
          <a:solidFill>
            <a:srgbClr val="00E5FF"/>
          </a:solidFill>
          <a:ln w="12700">
            <a:solidFill>
              <a:srgbClr val="00E5FF"/>
            </a:solidFill>
            <a:prstDash val="solid"/>
          </a:ln>
        </p:spPr>
      </p:sp>
      <p:sp>
        <p:nvSpPr>
          <p:cNvPr id="9" name="Text 7"/>
          <p:cNvSpPr/>
          <p:nvPr/>
        </p:nvSpPr>
        <p:spPr>
          <a:xfrm>
            <a:off x="685800" y="4434840"/>
            <a:ext cx="10972800" cy="1005840"/>
          </a:xfrm>
          <a:prstGeom prst="rect">
            <a:avLst/>
          </a:prstGeom>
          <a:noFill/>
          <a:ln/>
        </p:spPr>
        <p:txBody>
          <a:bodyPr wrap="square" rtlCol="0" anchor="ctr"/>
          <a:lstStyle/>
          <a:p>
            <a:pPr indent="0" marL="0">
              <a:spcAft>
                <a:spcPts val="200"/>
              </a:spcAft>
              <a:buNone/>
            </a:pPr>
            <a:r>
              <a:rPr lang="en-US" sz="1800" i="1" dirty="0">
                <a:solidFill>
                  <a:srgbClr val="F0F4FF"/>
                </a:solidFill>
                <a:latin typeface="Calibri" pitchFamily="34" charset="0"/>
                <a:ea typeface="Calibri" pitchFamily="34" charset="-122"/>
                <a:cs typeface="Calibri" pitchFamily="34" charset="-120"/>
              </a:rPr>
              <a:t>The SP REST workaround is REST-the-protocol's fault,</a:t>
            </a:r>
            <a:endParaRPr lang="en-US" sz="1800" dirty="0"/>
          </a:p>
          <a:p>
            <a:pPr indent="0" marL="0">
              <a:spcAft>
                <a:spcPts val="200"/>
              </a:spcAft>
              <a:buNone/>
            </a:pPr>
            <a:r>
              <a:rPr lang="en-US" sz="1800" b="1" i="1" dirty="0">
                <a:solidFill>
                  <a:srgbClr val="00E5FF"/>
                </a:solidFill>
                <a:latin typeface="Calibri" pitchFamily="34" charset="0"/>
                <a:ea typeface="Calibri" pitchFamily="34" charset="-122"/>
                <a:cs typeface="Calibri" pitchFamily="34" charset="-120"/>
              </a:rPr>
              <a:t>not Graph's.</a:t>
            </a:r>
            <a:endParaRPr lang="en-US" sz="18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The Graph Explorer detour</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Text 2"/>
          <p:cNvSpPr/>
          <p:nvPr/>
        </p:nvSpPr>
        <p:spPr>
          <a:xfrm>
            <a:off x="457200" y="1207008"/>
            <a:ext cx="11274552" cy="365760"/>
          </a:xfrm>
          <a:prstGeom prst="rect">
            <a:avLst/>
          </a:prstGeom>
          <a:noFill/>
          <a:ln/>
        </p:spPr>
        <p:txBody>
          <a:bodyPr wrap="square" rtlCol="0" anchor="ctr"/>
          <a:lstStyle/>
          <a:p>
            <a:pPr indent="0" marL="0">
              <a:buNone/>
            </a:pPr>
            <a:r>
              <a:rPr lang="en-US" sz="1600" i="1" dirty="0">
                <a:solidFill>
                  <a:srgbClr val="A4ADCE"/>
                </a:solidFill>
                <a:latin typeface="Calibri" pitchFamily="34" charset="0"/>
                <a:ea typeface="Calibri" pitchFamily="34" charset="-122"/>
                <a:cs typeface="Calibri" pitchFamily="34" charset="-120"/>
              </a:rPr>
              <a:t>Same SPFx MSGraphClientV3, no list at all — just path → JSON</a:t>
            </a:r>
            <a:endParaRPr lang="en-US" sz="1600" dirty="0"/>
          </a:p>
        </p:txBody>
      </p:sp>
      <p:sp>
        <p:nvSpPr>
          <p:cNvPr id="5" name="Shape 3"/>
          <p:cNvSpPr/>
          <p:nvPr/>
        </p:nvSpPr>
        <p:spPr>
          <a:xfrm>
            <a:off x="457200" y="1828800"/>
            <a:ext cx="11274552" cy="1280160"/>
          </a:xfrm>
          <a:prstGeom prst="roundRect">
            <a:avLst>
              <a:gd name="adj" fmla="val 5714"/>
            </a:avLst>
          </a:prstGeom>
          <a:solidFill>
            <a:srgbClr val="141937"/>
          </a:solidFill>
          <a:ln w="9525">
            <a:solidFill>
              <a:srgbClr val="2A3258"/>
            </a:solidFill>
            <a:prstDash val="solid"/>
          </a:ln>
        </p:spPr>
      </p:sp>
      <p:sp>
        <p:nvSpPr>
          <p:cNvPr id="6" name="Text 4"/>
          <p:cNvSpPr/>
          <p:nvPr/>
        </p:nvSpPr>
        <p:spPr>
          <a:xfrm>
            <a:off x="621792" y="1938528"/>
            <a:ext cx="10945368" cy="1060704"/>
          </a:xfrm>
          <a:prstGeom prst="rect">
            <a:avLst/>
          </a:prstGeom>
          <a:noFill/>
          <a:ln/>
        </p:spPr>
        <p:txBody>
          <a:bodyPr wrap="square" rtlCol="0" anchor="t"/>
          <a:lstStyle/>
          <a:p>
            <a:pPr indent="0" marL="0">
              <a:buNone/>
            </a:pPr>
            <a:r>
              <a:rPr lang="en-US" sz="1400" dirty="0">
                <a:solidFill>
                  <a:srgbClr val="C678DD"/>
                </a:solidFill>
                <a:latin typeface="Consolas" pitchFamily="34" charset="0"/>
                <a:ea typeface="Consolas" pitchFamily="34" charset="-122"/>
                <a:cs typeface="Consolas" pitchFamily="34" charset="-120"/>
              </a:rPr>
              <a:t>public</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async</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82AAFF"/>
                </a:solidFill>
                <a:latin typeface="Consolas" pitchFamily="34" charset="0"/>
                <a:ea typeface="Consolas" pitchFamily="34" charset="-122"/>
                <a:cs typeface="Consolas" pitchFamily="34" charset="-120"/>
              </a:rPr>
              <a:t>runQuery</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path</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00E5FF"/>
                </a:solidFill>
                <a:latin typeface="Consolas" pitchFamily="34" charset="0"/>
                <a:ea typeface="Consolas" pitchFamily="34" charset="-122"/>
                <a:cs typeface="Consolas" pitchFamily="34" charset="-120"/>
              </a:rPr>
              <a:t>string</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00E5FF"/>
                </a:solidFill>
                <a:latin typeface="Consolas" pitchFamily="34" charset="0"/>
                <a:ea typeface="Consolas" pitchFamily="34" charset="-122"/>
                <a:cs typeface="Consolas" pitchFamily="34" charset="-120"/>
              </a:rPr>
              <a:t>Promise</a:t>
            </a:r>
            <a:pPr indent="0" marL="0">
              <a:buNone/>
            </a:pPr>
            <a:r>
              <a:rPr lang="en-US" sz="1400" dirty="0">
                <a:solidFill>
                  <a:srgbClr val="F0F4FF"/>
                </a:solidFill>
                <a:latin typeface="Consolas" pitchFamily="34" charset="0"/>
                <a:ea typeface="Consolas" pitchFamily="34" charset="-122"/>
                <a:cs typeface="Consolas" pitchFamily="34" charset="-120"/>
              </a:rPr>
              <a:t>&lt;</a:t>
            </a:r>
            <a:pPr indent="0" marL="0">
              <a:buNone/>
            </a:pPr>
            <a:r>
              <a:rPr lang="en-US" sz="1400" dirty="0">
                <a:solidFill>
                  <a:srgbClr val="00E5FF"/>
                </a:solidFill>
                <a:latin typeface="Consolas" pitchFamily="34" charset="0"/>
                <a:ea typeface="Consolas" pitchFamily="34" charset="-122"/>
                <a:cs typeface="Consolas" pitchFamily="34" charset="-120"/>
              </a:rPr>
              <a:t>unknown</a:t>
            </a:r>
            <a:pPr indent="0" marL="0">
              <a:buNone/>
            </a:pPr>
            <a:r>
              <a:rPr lang="en-US" sz="1400" dirty="0">
                <a:solidFill>
                  <a:srgbClr val="F0F4FF"/>
                </a:solidFill>
                <a:latin typeface="Consolas" pitchFamily="34" charset="0"/>
                <a:ea typeface="Consolas" pitchFamily="34" charset="-122"/>
                <a:cs typeface="Consolas" pitchFamily="34" charset="-120"/>
              </a:rPr>
              <a:t>&gt;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return</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await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this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graphClient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82AAFF"/>
                </a:solidFill>
                <a:latin typeface="Consolas" pitchFamily="34" charset="0"/>
                <a:ea typeface="Consolas" pitchFamily="34" charset="-122"/>
                <a:cs typeface="Consolas" pitchFamily="34" charset="-120"/>
              </a:rPr>
              <a:t>api</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path</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82AAFF"/>
                </a:solidFill>
                <a:latin typeface="Consolas" pitchFamily="34" charset="0"/>
                <a:ea typeface="Consolas" pitchFamily="34" charset="-122"/>
                <a:cs typeface="Consolas" pitchFamily="34" charset="-120"/>
              </a:rPr>
              <a:t>version</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98D894"/>
                </a:solidFill>
                <a:latin typeface="Consolas" pitchFamily="34" charset="0"/>
                <a:ea typeface="Consolas" pitchFamily="34" charset="-122"/>
                <a:cs typeface="Consolas" pitchFamily="34" charset="-120"/>
              </a:rPr>
              <a:t>'v1.0'</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82AAFF"/>
                </a:solidFill>
                <a:latin typeface="Consolas" pitchFamily="34" charset="0"/>
                <a:ea typeface="Consolas" pitchFamily="34" charset="-122"/>
                <a:cs typeface="Consolas" pitchFamily="34" charset="-120"/>
              </a:rPr>
              <a:t>get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p:txBody>
      </p:sp>
      <p:sp>
        <p:nvSpPr>
          <p:cNvPr id="7" name="Text 5"/>
          <p:cNvSpPr/>
          <p:nvPr/>
        </p:nvSpPr>
        <p:spPr>
          <a:xfrm>
            <a:off x="457200" y="3383280"/>
            <a:ext cx="11274552" cy="1371600"/>
          </a:xfrm>
          <a:prstGeom prst="rect">
            <a:avLst/>
          </a:prstGeom>
          <a:noFill/>
          <a:ln/>
        </p:spPr>
        <p:txBody>
          <a:bodyPr wrap="square" rtlCol="0" anchor="t"/>
          <a:lstStyle/>
          <a:p>
            <a:pPr indent="0" marL="0">
              <a:buNone/>
            </a:pPr>
            <a:r>
              <a:rPr lang="en-US" sz="1600" dirty="0">
                <a:solidFill>
                  <a:srgbClr val="F0F4FF"/>
                </a:solidFill>
                <a:latin typeface="Calibri" pitchFamily="34" charset="0"/>
                <a:ea typeface="Calibri" pitchFamily="34" charset="-122"/>
                <a:cs typeface="Calibri" pitchFamily="34" charset="-120"/>
              </a:rPr>
              <a:t>Use this in real life when prototyping or exploring a Graph endpoint before you commit to a service implementation. Cheaper than Postman because the auth is already there.</a:t>
            </a:r>
            <a:endParaRPr lang="en-US" sz="1600" dirty="0"/>
          </a:p>
        </p:txBody>
      </p:sp>
      <p:sp>
        <p:nvSpPr>
          <p:cNvPr id="8" name="Text 6"/>
          <p:cNvSpPr/>
          <p:nvPr/>
        </p:nvSpPr>
        <p:spPr>
          <a:xfrm>
            <a:off x="10058400" y="5989320"/>
            <a:ext cx="1673352" cy="320040"/>
          </a:xfrm>
          <a:prstGeom prst="rect">
            <a:avLst/>
          </a:prstGeom>
          <a:noFill/>
          <a:ln/>
        </p:spPr>
        <p:txBody>
          <a:bodyPr wrap="square" rtlCol="0" anchor="ctr"/>
          <a:lstStyle/>
          <a:p>
            <a:pPr algn="r" indent="0" marL="0">
              <a:buNone/>
            </a:pPr>
            <a:r>
              <a:rPr lang="en-US" sz="1200" b="1" dirty="0">
                <a:solidFill>
                  <a:srgbClr val="00E5FF"/>
                </a:solidFill>
                <a:latin typeface="Calibri" pitchFamily="34" charset="0"/>
                <a:ea typeface="Calibri" pitchFamily="34" charset="-122"/>
                <a:cs typeface="Calibri" pitchFamily="34" charset="-120"/>
              </a:rPr>
              <a:t>▶ Demo 2</a:t>
            </a:r>
            <a:endParaRPr lang="en-US" sz="12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SPFx + anonymous APIs</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Text 2"/>
          <p:cNvSpPr/>
          <p:nvPr/>
        </p:nvSpPr>
        <p:spPr>
          <a:xfrm>
            <a:off x="457200" y="1207008"/>
            <a:ext cx="11274552" cy="365760"/>
          </a:xfrm>
          <a:prstGeom prst="rect">
            <a:avLst/>
          </a:prstGeom>
          <a:noFill/>
          <a:ln/>
        </p:spPr>
        <p:txBody>
          <a:bodyPr wrap="square" rtlCol="0" anchor="ctr"/>
          <a:lstStyle/>
          <a:p>
            <a:pPr indent="0" marL="0">
              <a:buNone/>
            </a:pPr>
            <a:r>
              <a:rPr lang="en-US" sz="1600" i="1" dirty="0">
                <a:solidFill>
                  <a:srgbClr val="A4ADCE"/>
                </a:solidFill>
                <a:latin typeface="Calibri" pitchFamily="34" charset="0"/>
                <a:ea typeface="Calibri" pitchFamily="34" charset="-122"/>
                <a:cs typeface="Calibri" pitchFamily="34" charset="-120"/>
              </a:rPr>
              <a:t>The third HTTP client in @microsoft/sp-http: HttpClient. No auth. Plain fetch.</a:t>
            </a:r>
            <a:endParaRPr lang="en-US" sz="1600" dirty="0"/>
          </a:p>
        </p:txBody>
      </p:sp>
      <p:sp>
        <p:nvSpPr>
          <p:cNvPr id="5" name="Shape 3"/>
          <p:cNvSpPr/>
          <p:nvPr/>
        </p:nvSpPr>
        <p:spPr>
          <a:xfrm>
            <a:off x="457200" y="1828800"/>
            <a:ext cx="11274552" cy="2011680"/>
          </a:xfrm>
          <a:prstGeom prst="roundRect">
            <a:avLst>
              <a:gd name="adj" fmla="val 3636"/>
            </a:avLst>
          </a:prstGeom>
          <a:solidFill>
            <a:srgbClr val="141937"/>
          </a:solidFill>
          <a:ln w="9525">
            <a:solidFill>
              <a:srgbClr val="2A3258"/>
            </a:solidFill>
            <a:prstDash val="solid"/>
          </a:ln>
        </p:spPr>
      </p:sp>
      <p:sp>
        <p:nvSpPr>
          <p:cNvPr id="6" name="Text 4"/>
          <p:cNvSpPr/>
          <p:nvPr/>
        </p:nvSpPr>
        <p:spPr>
          <a:xfrm>
            <a:off x="621792" y="1938528"/>
            <a:ext cx="10945368" cy="1792224"/>
          </a:xfrm>
          <a:prstGeom prst="rect">
            <a:avLst/>
          </a:prstGeom>
          <a:noFill/>
          <a:ln/>
        </p:spPr>
        <p:txBody>
          <a:bodyPr wrap="square" rtlCol="0" anchor="t"/>
          <a:lstStyle/>
          <a:p>
            <a:pPr indent="0" marL="0">
              <a:buNone/>
            </a:pPr>
            <a:r>
              <a:rPr lang="en-US" sz="1400" dirty="0">
                <a:solidFill>
                  <a:srgbClr val="C678DD"/>
                </a:solidFill>
                <a:latin typeface="Consolas" pitchFamily="34" charset="0"/>
                <a:ea typeface="Consolas" pitchFamily="34" charset="-122"/>
                <a:cs typeface="Consolas" pitchFamily="34" charset="-120"/>
              </a:rPr>
              <a:t>const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response</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await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this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httpClient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82AAFF"/>
                </a:solidFill>
                <a:latin typeface="Consolas" pitchFamily="34" charset="0"/>
                <a:ea typeface="Consolas" pitchFamily="34" charset="-122"/>
                <a:cs typeface="Consolas" pitchFamily="34" charset="-120"/>
              </a:rPr>
              <a:t>get</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98D894"/>
                </a:solidFill>
                <a:latin typeface="Consolas" pitchFamily="34" charset="0"/>
                <a:ea typeface="Consolas" pitchFamily="34" charset="-122"/>
                <a:cs typeface="Consolas" pitchFamily="34" charset="-120"/>
              </a:rPr>
              <a:t>'https://official-joke-api.appspot.com/random_joke'</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00E5FF"/>
                </a:solidFill>
                <a:latin typeface="Consolas" pitchFamily="34" charset="0"/>
                <a:ea typeface="Consolas" pitchFamily="34" charset="-122"/>
                <a:cs typeface="Consolas" pitchFamily="34" charset="-120"/>
              </a:rPr>
              <a:t>HttpClient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configurations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v1</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C678DD"/>
                </a:solidFill>
                <a:latin typeface="Consolas" pitchFamily="34" charset="0"/>
                <a:ea typeface="Consolas" pitchFamily="34" charset="-122"/>
                <a:cs typeface="Consolas" pitchFamily="34" charset="-120"/>
              </a:rPr>
              <a:t>const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joke</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00E5FF"/>
                </a:solidFill>
                <a:latin typeface="Consolas" pitchFamily="34" charset="0"/>
                <a:ea typeface="Consolas" pitchFamily="34" charset="-122"/>
                <a:cs typeface="Consolas" pitchFamily="34" charset="-120"/>
              </a:rPr>
              <a:t>IJokeResponse</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await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response</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82AAFF"/>
                </a:solidFill>
                <a:latin typeface="Consolas" pitchFamily="34" charset="0"/>
                <a:ea typeface="Consolas" pitchFamily="34" charset="-122"/>
                <a:cs typeface="Consolas" pitchFamily="34" charset="-120"/>
              </a:rPr>
              <a:t>json</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C678DD"/>
                </a:solidFill>
                <a:latin typeface="Consolas" pitchFamily="34" charset="0"/>
                <a:ea typeface="Consolas" pitchFamily="34" charset="-122"/>
                <a:cs typeface="Consolas" pitchFamily="34" charset="-120"/>
              </a:rPr>
              <a:t>return</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id</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joke</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id</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setup</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joke</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setup</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punchline</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joke</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punchline</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p:txBody>
      </p:sp>
      <p:sp>
        <p:nvSpPr>
          <p:cNvPr id="7" name="Text 5"/>
          <p:cNvSpPr/>
          <p:nvPr/>
        </p:nvSpPr>
        <p:spPr>
          <a:xfrm>
            <a:off x="457200" y="4114800"/>
            <a:ext cx="11274552" cy="457200"/>
          </a:xfrm>
          <a:prstGeom prst="rect">
            <a:avLst/>
          </a:prstGeom>
          <a:noFill/>
          <a:ln/>
        </p:spPr>
        <p:txBody>
          <a:bodyPr wrap="square" rtlCol="0" anchor="ctr"/>
          <a:lstStyle/>
          <a:p>
            <a:pPr indent="0" marL="0">
              <a:buNone/>
            </a:pPr>
            <a:r>
              <a:rPr lang="en-US" sz="1600" i="1" dirty="0">
                <a:solidFill>
                  <a:srgbClr val="B580FF"/>
                </a:solidFill>
                <a:latin typeface="Calibri" pitchFamily="34" charset="0"/>
                <a:ea typeface="Calibri" pitchFamily="34" charset="-122"/>
                <a:cs typeface="Calibri" pitchFamily="34" charset="-120"/>
              </a:rPr>
              <a:t>Use this for any external API that doesn't need your tenant's auth.</a:t>
            </a:r>
            <a:endParaRPr lang="en-US" sz="1600" dirty="0"/>
          </a:p>
        </p:txBody>
      </p:sp>
      <p:sp>
        <p:nvSpPr>
          <p:cNvPr id="8" name="Text 6"/>
          <p:cNvSpPr/>
          <p:nvPr/>
        </p:nvSpPr>
        <p:spPr>
          <a:xfrm>
            <a:off x="10058400" y="5989320"/>
            <a:ext cx="1673352" cy="320040"/>
          </a:xfrm>
          <a:prstGeom prst="rect">
            <a:avLst/>
          </a:prstGeom>
          <a:noFill/>
          <a:ln/>
        </p:spPr>
        <p:txBody>
          <a:bodyPr wrap="square" rtlCol="0" anchor="ctr"/>
          <a:lstStyle/>
          <a:p>
            <a:pPr algn="r" indent="0" marL="0">
              <a:buNone/>
            </a:pPr>
            <a:r>
              <a:rPr lang="en-US" sz="1200" b="1" dirty="0">
                <a:solidFill>
                  <a:srgbClr val="00E5FF"/>
                </a:solidFill>
                <a:latin typeface="Calibri" pitchFamily="34" charset="0"/>
                <a:ea typeface="Calibri" pitchFamily="34" charset="-122"/>
                <a:cs typeface="Calibri" pitchFamily="34" charset="-120"/>
              </a:rPr>
              <a:t>▶ Demo 3</a:t>
            </a:r>
            <a:endParaRPr lang="en-US" sz="12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Pivot: notice anything?</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Text 2"/>
          <p:cNvSpPr/>
          <p:nvPr/>
        </p:nvSpPr>
        <p:spPr>
          <a:xfrm>
            <a:off x="457200" y="1207008"/>
            <a:ext cx="11274552" cy="365760"/>
          </a:xfrm>
          <a:prstGeom prst="rect">
            <a:avLst/>
          </a:prstGeom>
          <a:noFill/>
          <a:ln/>
        </p:spPr>
        <p:txBody>
          <a:bodyPr wrap="square" rtlCol="0" anchor="ctr"/>
          <a:lstStyle/>
          <a:p>
            <a:pPr indent="0" marL="0">
              <a:buNone/>
            </a:pPr>
            <a:r>
              <a:rPr lang="en-US" sz="1600" i="1" dirty="0">
                <a:solidFill>
                  <a:srgbClr val="A4ADCE"/>
                </a:solidFill>
                <a:latin typeface="Calibri" pitchFamily="34" charset="0"/>
                <a:ea typeface="Calibri" pitchFamily="34" charset="-122"/>
                <a:cs typeface="Calibri" pitchFamily="34" charset="-120"/>
              </a:rPr>
              <a:t>Look at what we wrote across three services</a:t>
            </a:r>
            <a:endParaRPr lang="en-US" sz="1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11274552" cy="914400"/>
        </p:xfrm>
        <a:graphic>
          <a:graphicData uri="http://schemas.openxmlformats.org/drawingml/2006/table">
            <a:tbl>
              <a:tblPr/>
              <a:tblGrid>
                <a:gridCol w="2743200"/>
                <a:gridCol w="1706270"/>
                <a:gridCol w="1706270"/>
                <a:gridCol w="1706270"/>
                <a:gridCol w="1706270"/>
                <a:gridCol w="1706270"/>
              </a:tblGrid>
              <a:tr h="502920">
                <a:tc>
                  <a:txBody>
                    <a:bodyPr/>
                    <a:lstStyle/>
                    <a:p>
                      <a:pPr algn="l" indent="0" marL="0">
                        <a:buNone/>
                      </a:pPr>
                      <a:endParaRPr lang="en-US" sz="16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B2348"/>
                    </a:solidFill>
                  </a:tcPr>
                </a:tc>
                <a:tc>
                  <a:txBody>
                    <a:bodyPr/>
                    <a:lstStyle/>
                    <a:p>
                      <a:pPr algn="ctr" indent="0" marL="0">
                        <a:buNone/>
                      </a:pPr>
                      <a:r>
                        <a:rPr lang="en-US" sz="1600" b="1" dirty="0">
                          <a:solidFill>
                            <a:srgbClr val="00E5FF"/>
                          </a:solidFill>
                          <a:latin typeface="Calibri" pitchFamily="34" charset="0"/>
                          <a:ea typeface="Calibri" pitchFamily="34" charset="-122"/>
                          <a:cs typeface="Calibri" pitchFamily="34" charset="-120"/>
                        </a:rPr>
                        <a:t>Logging</a:t>
                      </a:r>
                      <a:endParaRPr lang="en-US" sz="16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B2348"/>
                    </a:solidFill>
                  </a:tcPr>
                </a:tc>
                <a:tc>
                  <a:txBody>
                    <a:bodyPr/>
                    <a:lstStyle/>
                    <a:p>
                      <a:pPr algn="ctr" indent="0" marL="0">
                        <a:buNone/>
                      </a:pPr>
                      <a:r>
                        <a:rPr lang="en-US" sz="1600" b="1" dirty="0">
                          <a:solidFill>
                            <a:srgbClr val="00E5FF"/>
                          </a:solidFill>
                          <a:latin typeface="Calibri" pitchFamily="34" charset="0"/>
                          <a:ea typeface="Calibri" pitchFamily="34" charset="-122"/>
                          <a:cs typeface="Calibri" pitchFamily="34" charset="-120"/>
                        </a:rPr>
                        <a:t>Caching</a:t>
                      </a:r>
                      <a:endParaRPr lang="en-US" sz="16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B2348"/>
                    </a:solidFill>
                  </a:tcPr>
                </a:tc>
                <a:tc>
                  <a:txBody>
                    <a:bodyPr/>
                    <a:lstStyle/>
                    <a:p>
                      <a:pPr algn="ctr" indent="0" marL="0">
                        <a:buNone/>
                      </a:pPr>
                      <a:r>
                        <a:rPr lang="en-US" sz="1600" b="1" dirty="0">
                          <a:solidFill>
                            <a:srgbClr val="00E5FF"/>
                          </a:solidFill>
                          <a:latin typeface="Calibri" pitchFamily="34" charset="0"/>
                          <a:ea typeface="Calibri" pitchFamily="34" charset="-122"/>
                          <a:cs typeface="Calibri" pitchFamily="34" charset="-120"/>
                        </a:rPr>
                        <a:t>Batching</a:t>
                      </a:r>
                      <a:endParaRPr lang="en-US" sz="16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B2348"/>
                    </a:solidFill>
                  </a:tcPr>
                </a:tc>
                <a:tc>
                  <a:txBody>
                    <a:bodyPr/>
                    <a:lstStyle/>
                    <a:p>
                      <a:pPr algn="ctr" indent="0" marL="0">
                        <a:buNone/>
                      </a:pPr>
                      <a:r>
                        <a:rPr lang="en-US" sz="1600" b="1" dirty="0">
                          <a:solidFill>
                            <a:srgbClr val="00E5FF"/>
                          </a:solidFill>
                          <a:latin typeface="Calibri" pitchFamily="34" charset="0"/>
                          <a:ea typeface="Calibri" pitchFamily="34" charset="-122"/>
                          <a:cs typeface="Calibri" pitchFamily="34" charset="-120"/>
                        </a:rPr>
                        <a:t>Retry</a:t>
                      </a:r>
                      <a:endParaRPr lang="en-US" sz="16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B2348"/>
                    </a:solidFill>
                  </a:tcPr>
                </a:tc>
                <a:tc>
                  <a:txBody>
                    <a:bodyPr/>
                    <a:lstStyle/>
                    <a:p>
                      <a:pPr algn="ctr" indent="0" marL="0">
                        <a:buNone/>
                      </a:pPr>
                      <a:r>
                        <a:rPr lang="en-US" sz="1600" b="1" dirty="0">
                          <a:solidFill>
                            <a:srgbClr val="00E5FF"/>
                          </a:solidFill>
                          <a:latin typeface="Calibri" pitchFamily="34" charset="0"/>
                          <a:ea typeface="Calibri" pitchFamily="34" charset="-122"/>
                          <a:cs typeface="Calibri" pitchFamily="34" charset="-120"/>
                        </a:rPr>
                        <a:t>Types</a:t>
                      </a:r>
                      <a:endParaRPr lang="en-US" sz="16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B2348"/>
                    </a:solidFill>
                  </a:tcPr>
                </a:tc>
              </a:tr>
              <a:tr h="502920">
                <a:tc>
                  <a:txBody>
                    <a:bodyPr/>
                    <a:lstStyle/>
                    <a:p>
                      <a:pPr algn="l" indent="0" marL="0">
                        <a:buNone/>
                      </a:pPr>
                      <a:r>
                        <a:rPr lang="en-US" sz="1600" b="1" dirty="0">
                          <a:solidFill>
                            <a:srgbClr val="F0F4FF"/>
                          </a:solidFill>
                          <a:latin typeface="Calibri" pitchFamily="34" charset="0"/>
                          <a:ea typeface="Calibri" pitchFamily="34" charset="-122"/>
                          <a:cs typeface="Calibri" pitchFamily="34" charset="-120"/>
                        </a:rPr>
                        <a:t>SPHttpClient</a:t>
                      </a:r>
                      <a:endParaRPr lang="en-US" sz="16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algn="ctr" indent="0" marL="0">
                        <a:buNone/>
                      </a:pPr>
                      <a:r>
                        <a:rPr lang="en-US" sz="1800" dirty="0">
                          <a:solidFill>
                            <a:srgbClr val="FF6B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algn="ctr" indent="0" marL="0">
                        <a:buNone/>
                      </a:pPr>
                      <a:r>
                        <a:rPr lang="en-US" sz="1800" dirty="0">
                          <a:solidFill>
                            <a:srgbClr val="FF6B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algn="ctr" indent="0" marL="0">
                        <a:buNone/>
                      </a:pPr>
                      <a:r>
                        <a:rPr lang="en-US" sz="1800" dirty="0">
                          <a:solidFill>
                            <a:srgbClr val="FF6B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algn="ctr" indent="0" marL="0">
                        <a:buNone/>
                      </a:pPr>
                      <a:r>
                        <a:rPr lang="en-US" sz="1800" dirty="0">
                          <a:solidFill>
                            <a:srgbClr val="FF6B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algn="ctr" indent="0" marL="0">
                        <a:buNone/>
                      </a:pPr>
                      <a:r>
                        <a:rPr lang="en-US" sz="1800" dirty="0">
                          <a:solidFill>
                            <a:srgbClr val="FFB347"/>
                          </a:solidFill>
                          <a:latin typeface="Consolas" pitchFamily="34" charset="0"/>
                          <a:ea typeface="Consolas" pitchFamily="34" charset="-122"/>
                          <a:cs typeface="Consolas" pitchFamily="34" charset="-120"/>
                        </a:rPr>
                        <a:t>cast</a:t>
                      </a:r>
                      <a:endParaRPr lang="en-US" sz="1800" dirty="0">
                        <a:latin typeface="Consolas" charset="0"/>
                        <a:ea typeface="Consolas" charset="0"/>
                        <a:cs typeface="Consolas"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r>
              <a:tr h="502920">
                <a:tc>
                  <a:txBody>
                    <a:bodyPr/>
                    <a:lstStyle/>
                    <a:p>
                      <a:pPr algn="l" indent="0" marL="0">
                        <a:buNone/>
                      </a:pPr>
                      <a:r>
                        <a:rPr lang="en-US" sz="1600" b="1" dirty="0">
                          <a:solidFill>
                            <a:srgbClr val="F0F4FF"/>
                          </a:solidFill>
                          <a:latin typeface="Calibri" pitchFamily="34" charset="0"/>
                          <a:ea typeface="Calibri" pitchFamily="34" charset="-122"/>
                          <a:cs typeface="Calibri" pitchFamily="34" charset="-120"/>
                        </a:rPr>
                        <a:t>MSGraphClientV3</a:t>
                      </a:r>
                      <a:endParaRPr lang="en-US" sz="16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algn="ctr" indent="0" marL="0">
                        <a:buNone/>
                      </a:pPr>
                      <a:r>
                        <a:rPr lang="en-US" sz="1800" dirty="0">
                          <a:solidFill>
                            <a:srgbClr val="FF6B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algn="ctr" indent="0" marL="0">
                        <a:buNone/>
                      </a:pPr>
                      <a:r>
                        <a:rPr lang="en-US" sz="1800" dirty="0">
                          <a:solidFill>
                            <a:srgbClr val="FF6B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algn="ctr" indent="0" marL="0">
                        <a:buNone/>
                      </a:pPr>
                      <a:r>
                        <a:rPr lang="en-US" sz="1800" dirty="0">
                          <a:solidFill>
                            <a:srgbClr val="FF6B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algn="ctr" indent="0" marL="0">
                        <a:buNone/>
                      </a:pPr>
                      <a:r>
                        <a:rPr lang="en-US" sz="1800" dirty="0">
                          <a:solidFill>
                            <a:srgbClr val="FF6B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algn="ctr" indent="0" marL="0">
                        <a:buNone/>
                      </a:pPr>
                      <a:r>
                        <a:rPr lang="en-US" sz="1800" dirty="0">
                          <a:solidFill>
                            <a:srgbClr val="FFB347"/>
                          </a:solidFill>
                          <a:latin typeface="Consolas" pitchFamily="34" charset="0"/>
                          <a:ea typeface="Consolas" pitchFamily="34" charset="-122"/>
                          <a:cs typeface="Consolas" pitchFamily="34" charset="-120"/>
                        </a:rPr>
                        <a:t>cast</a:t>
                      </a:r>
                      <a:endParaRPr lang="en-US" sz="1800" dirty="0">
                        <a:latin typeface="Consolas" charset="0"/>
                        <a:ea typeface="Consolas" charset="0"/>
                        <a:cs typeface="Consolas"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r>
              <a:tr h="502920">
                <a:tc>
                  <a:txBody>
                    <a:bodyPr/>
                    <a:lstStyle/>
                    <a:p>
                      <a:pPr algn="l" indent="0" marL="0">
                        <a:buNone/>
                      </a:pPr>
                      <a:r>
                        <a:rPr lang="en-US" sz="1600" b="1" dirty="0">
                          <a:solidFill>
                            <a:srgbClr val="F0F4FF"/>
                          </a:solidFill>
                          <a:latin typeface="Calibri" pitchFamily="34" charset="0"/>
                          <a:ea typeface="Calibri" pitchFamily="34" charset="-122"/>
                          <a:cs typeface="Calibri" pitchFamily="34" charset="-120"/>
                        </a:rPr>
                        <a:t>HttpClient</a:t>
                      </a:r>
                      <a:endParaRPr lang="en-US" sz="16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algn="ctr" indent="0" marL="0">
                        <a:buNone/>
                      </a:pPr>
                      <a:r>
                        <a:rPr lang="en-US" sz="1800" dirty="0">
                          <a:solidFill>
                            <a:srgbClr val="FF6B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algn="ctr" indent="0" marL="0">
                        <a:buNone/>
                      </a:pPr>
                      <a:r>
                        <a:rPr lang="en-US" sz="1800" dirty="0">
                          <a:solidFill>
                            <a:srgbClr val="FF6B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algn="ctr" indent="0" marL="0">
                        <a:buNone/>
                      </a:pPr>
                      <a:r>
                        <a:rPr lang="en-US" sz="1800" dirty="0">
                          <a:solidFill>
                            <a:srgbClr val="FF6B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algn="ctr" indent="0" marL="0">
                        <a:buNone/>
                      </a:pPr>
                      <a:r>
                        <a:rPr lang="en-US" sz="1800" dirty="0">
                          <a:solidFill>
                            <a:srgbClr val="FF6B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algn="ctr" indent="0" marL="0">
                        <a:buNone/>
                      </a:pPr>
                      <a:r>
                        <a:rPr lang="en-US" sz="1800" dirty="0">
                          <a:solidFill>
                            <a:srgbClr val="FFB347"/>
                          </a:solidFill>
                          <a:latin typeface="Consolas" pitchFamily="34" charset="0"/>
                          <a:ea typeface="Consolas" pitchFamily="34" charset="-122"/>
                          <a:cs typeface="Consolas" pitchFamily="34" charset="-120"/>
                        </a:rPr>
                        <a:t>cast</a:t>
                      </a:r>
                      <a:endParaRPr lang="en-US" sz="1800" dirty="0">
                        <a:latin typeface="Consolas" charset="0"/>
                        <a:ea typeface="Consolas" charset="0"/>
                        <a:cs typeface="Consolas"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r>
            </a:tbl>
          </a:graphicData>
        </a:graphic>
      </p:graphicFrame>
      <p:sp>
        <p:nvSpPr>
          <p:cNvPr id="6" name="Shape 3"/>
          <p:cNvSpPr/>
          <p:nvPr/>
        </p:nvSpPr>
        <p:spPr>
          <a:xfrm>
            <a:off x="457200" y="4206240"/>
            <a:ext cx="54864" cy="1280160"/>
          </a:xfrm>
          <a:prstGeom prst="rect">
            <a:avLst/>
          </a:prstGeom>
          <a:solidFill>
            <a:srgbClr val="B580FF"/>
          </a:solidFill>
          <a:ln w="12700">
            <a:solidFill>
              <a:srgbClr val="B580FF"/>
            </a:solidFill>
            <a:prstDash val="solid"/>
          </a:ln>
        </p:spPr>
      </p:sp>
      <p:sp>
        <p:nvSpPr>
          <p:cNvPr id="7" name="Text 4"/>
          <p:cNvSpPr/>
          <p:nvPr/>
        </p:nvSpPr>
        <p:spPr>
          <a:xfrm>
            <a:off x="685800" y="4206240"/>
            <a:ext cx="10972800" cy="1280160"/>
          </a:xfrm>
          <a:prstGeom prst="rect">
            <a:avLst/>
          </a:prstGeom>
          <a:noFill/>
          <a:ln/>
        </p:spPr>
        <p:txBody>
          <a:bodyPr wrap="square" rtlCol="0" anchor="ctr"/>
          <a:lstStyle/>
          <a:p>
            <a:pPr indent="0" marL="0">
              <a:spcAft>
                <a:spcPts val="600"/>
              </a:spcAft>
              <a:buNone/>
            </a:pPr>
            <a:r>
              <a:rPr lang="en-US" sz="2200" b="1" dirty="0">
                <a:solidFill>
                  <a:srgbClr val="F0F4FF"/>
                </a:solidFill>
                <a:latin typeface="Calibri" pitchFamily="34" charset="0"/>
                <a:ea typeface="Calibri" pitchFamily="34" charset="-122"/>
                <a:cs typeface="Calibri" pitchFamily="34" charset="-120"/>
              </a:rPr>
              <a:t>Every empty cell is a problem you'd solve yourself.</a:t>
            </a:r>
            <a:endParaRPr lang="en-US" sz="2200" dirty="0"/>
          </a:p>
          <a:p>
            <a:pPr indent="0" marL="0">
              <a:spcAft>
                <a:spcPts val="600"/>
              </a:spcAft>
              <a:buNone/>
            </a:pPr>
            <a:r>
              <a:rPr lang="en-US" sz="2200" b="1" dirty="0">
                <a:solidFill>
                  <a:srgbClr val="00E5FF"/>
                </a:solidFill>
                <a:latin typeface="Calibri" pitchFamily="34" charset="0"/>
                <a:ea typeface="Calibri" pitchFamily="34" charset="-122"/>
                <a:cs typeface="Calibri" pitchFamily="34" charset="-120"/>
              </a:rPr>
              <a:t>PnPjs already solved them.</a:t>
            </a:r>
            <a:endParaRPr lang="en-US" sz="22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2286000"/>
            <a:ext cx="11274552" cy="731520"/>
          </a:xfrm>
          <a:prstGeom prst="rect">
            <a:avLst/>
          </a:prstGeom>
          <a:noFill/>
          <a:ln/>
        </p:spPr>
        <p:txBody>
          <a:bodyPr wrap="square" rtlCol="0" anchor="ctr"/>
          <a:lstStyle/>
          <a:p>
            <a:pPr algn="ctr" indent="0" marL="0">
              <a:buNone/>
            </a:pPr>
            <a:r>
              <a:rPr lang="en-US" sz="1800" spc="1200" kern="0" dirty="0">
                <a:solidFill>
                  <a:srgbClr val="B580FF"/>
                </a:solidFill>
                <a:latin typeface="Calibri" pitchFamily="34" charset="0"/>
                <a:ea typeface="Calibri" pitchFamily="34" charset="-122"/>
                <a:cs typeface="Calibri" pitchFamily="34" charset="-120"/>
              </a:rPr>
              <a:t>PASS 2</a:t>
            </a:r>
            <a:endParaRPr lang="en-US" sz="1800" dirty="0"/>
          </a:p>
        </p:txBody>
      </p:sp>
      <p:sp>
        <p:nvSpPr>
          <p:cNvPr id="3" name="Text 1"/>
          <p:cNvSpPr/>
          <p:nvPr/>
        </p:nvSpPr>
        <p:spPr>
          <a:xfrm>
            <a:off x="457200" y="3017520"/>
            <a:ext cx="11274552" cy="1280160"/>
          </a:xfrm>
          <a:prstGeom prst="rect">
            <a:avLst/>
          </a:prstGeom>
          <a:noFill/>
          <a:ln/>
        </p:spPr>
        <p:txBody>
          <a:bodyPr wrap="square" rtlCol="0" anchor="ctr"/>
          <a:lstStyle/>
          <a:p>
            <a:pPr algn="ctr" indent="0" marL="0">
              <a:buNone/>
            </a:pPr>
            <a:r>
              <a:rPr lang="en-US" sz="6400" b="1" dirty="0">
                <a:solidFill>
                  <a:srgbClr val="00E5FF"/>
                </a:solidFill>
                <a:latin typeface="Calibri" pitchFamily="34" charset="0"/>
                <a:ea typeface="Calibri" pitchFamily="34" charset="-122"/>
                <a:cs typeface="Calibri" pitchFamily="34" charset="-120"/>
              </a:rPr>
              <a:t>The PnPjs Way</a:t>
            </a:r>
            <a:endParaRPr lang="en-US" sz="6400" dirty="0"/>
          </a:p>
        </p:txBody>
      </p:sp>
      <p:sp>
        <p:nvSpPr>
          <p:cNvPr id="4" name="Shape 2"/>
          <p:cNvSpPr/>
          <p:nvPr/>
        </p:nvSpPr>
        <p:spPr>
          <a:xfrm>
            <a:off x="5641848" y="4434840"/>
            <a:ext cx="914400" cy="45720"/>
          </a:xfrm>
          <a:prstGeom prst="rect">
            <a:avLst/>
          </a:prstGeom>
          <a:solidFill>
            <a:srgbClr val="B580FF"/>
          </a:solidFill>
          <a:ln w="12700">
            <a:solidFill>
              <a:srgbClr val="B580FF"/>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What PnPjs is</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Text 2"/>
          <p:cNvSpPr/>
          <p:nvPr/>
        </p:nvSpPr>
        <p:spPr>
          <a:xfrm>
            <a:off x="457200" y="1207008"/>
            <a:ext cx="11274552" cy="365760"/>
          </a:xfrm>
          <a:prstGeom prst="rect">
            <a:avLst/>
          </a:prstGeom>
          <a:noFill/>
          <a:ln/>
        </p:spPr>
        <p:txBody>
          <a:bodyPr wrap="square" rtlCol="0" anchor="ctr"/>
          <a:lstStyle/>
          <a:p>
            <a:pPr indent="0" marL="0">
              <a:buNone/>
            </a:pPr>
            <a:r>
              <a:rPr lang="en-US" sz="1600" i="1" dirty="0">
                <a:solidFill>
                  <a:srgbClr val="A4ADCE"/>
                </a:solidFill>
                <a:latin typeface="Calibri" pitchFamily="34" charset="0"/>
                <a:ea typeface="Calibri" pitchFamily="34" charset="-122"/>
                <a:cs typeface="Calibri" pitchFamily="34" charset="-120"/>
              </a:rPr>
              <a:t>A fluent, composable HTTP pipeline for SharePoint, Graph, and arbitrary endpoints</a:t>
            </a:r>
            <a:endParaRPr lang="en-US" sz="1600" dirty="0"/>
          </a:p>
        </p:txBody>
      </p:sp>
      <p:sp>
        <p:nvSpPr>
          <p:cNvPr id="5" name="Text 3"/>
          <p:cNvSpPr/>
          <p:nvPr/>
        </p:nvSpPr>
        <p:spPr>
          <a:xfrm>
            <a:off x="457200" y="1737360"/>
            <a:ext cx="11274552" cy="365760"/>
          </a:xfrm>
          <a:prstGeom prst="rect">
            <a:avLst/>
          </a:prstGeom>
          <a:noFill/>
          <a:ln/>
        </p:spPr>
        <p:txBody>
          <a:bodyPr wrap="square" rtlCol="0" anchor="ctr"/>
          <a:lstStyle/>
          <a:p>
            <a:pPr indent="0" marL="0">
              <a:buNone/>
            </a:pPr>
            <a:r>
              <a:rPr lang="en-US" sz="1600" b="1" dirty="0">
                <a:solidFill>
                  <a:srgbClr val="B580FF"/>
                </a:solidFill>
                <a:latin typeface="Calibri" pitchFamily="34" charset="0"/>
                <a:ea typeface="Calibri" pitchFamily="34" charset="-122"/>
                <a:cs typeface="Calibri" pitchFamily="34" charset="-120"/>
              </a:rPr>
              <a:t>Three packages today</a:t>
            </a:r>
            <a:endParaRPr lang="en-US" sz="1600" dirty="0"/>
          </a:p>
        </p:txBody>
      </p:sp>
      <p:sp>
        <p:nvSpPr>
          <p:cNvPr id="6" name="Text 4"/>
          <p:cNvSpPr/>
          <p:nvPr/>
        </p:nvSpPr>
        <p:spPr>
          <a:xfrm>
            <a:off x="457200" y="2103120"/>
            <a:ext cx="11274552" cy="1371600"/>
          </a:xfrm>
          <a:prstGeom prst="rect">
            <a:avLst/>
          </a:prstGeom>
          <a:noFill/>
          <a:ln/>
        </p:spPr>
        <p:txBody>
          <a:bodyPr wrap="square" rtlCol="0" anchor="t"/>
          <a:lstStyle/>
          <a:p>
            <a:pPr marL="342900" indent="-342900">
              <a:spcAft>
                <a:spcPts val="600"/>
              </a:spcAft>
              <a:buSzPct val="100000"/>
              <a:buChar char="●"/>
            </a:pPr>
            <a:r>
              <a:rPr lang="en-US" sz="1600" dirty="0">
                <a:solidFill>
                  <a:srgbClr val="F0F4FF"/>
                </a:solidFill>
                <a:latin typeface="Calibri" pitchFamily="34" charset="0"/>
                <a:ea typeface="Calibri" pitchFamily="34" charset="-122"/>
                <a:cs typeface="Calibri" pitchFamily="34" charset="-120"/>
              </a:rPr>
              <a:t>@pnp/sp — SharePoint REST, fluent</a:t>
            </a:r>
            <a:endParaRPr lang="en-US" sz="1600" dirty="0"/>
          </a:p>
          <a:p>
            <a:pPr marL="342900" indent="-342900">
              <a:spcAft>
                <a:spcPts val="600"/>
              </a:spcAft>
              <a:buSzPct val="100000"/>
              <a:buChar char="●"/>
            </a:pPr>
            <a:r>
              <a:rPr lang="en-US" sz="1600" dirty="0">
                <a:solidFill>
                  <a:srgbClr val="F0F4FF"/>
                </a:solidFill>
                <a:latin typeface="Calibri" pitchFamily="34" charset="0"/>
                <a:ea typeface="Calibri" pitchFamily="34" charset="-122"/>
                <a:cs typeface="Calibri" pitchFamily="34" charset="-120"/>
              </a:rPr>
              <a:t>@pnp/graph — MS Graph, fluent</a:t>
            </a:r>
            <a:endParaRPr lang="en-US" sz="1600" dirty="0"/>
          </a:p>
          <a:p>
            <a:pPr marL="342900" indent="-342900">
              <a:spcAft>
                <a:spcPts val="600"/>
              </a:spcAft>
              <a:buSzPct val="100000"/>
              <a:buChar char="●"/>
            </a:pPr>
            <a:r>
              <a:rPr lang="en-US" sz="1600" dirty="0">
                <a:solidFill>
                  <a:srgbClr val="F0F4FF"/>
                </a:solidFill>
                <a:latin typeface="Calibri" pitchFamily="34" charset="0"/>
                <a:ea typeface="Calibri" pitchFamily="34" charset="-122"/>
                <a:cs typeface="Calibri" pitchFamily="34" charset="-120"/>
              </a:rPr>
              <a:t>@pnp/queryable — the underlying pipeline (also works against any URL)</a:t>
            </a:r>
            <a:endParaRPr lang="en-US" sz="1600" dirty="0"/>
          </a:p>
        </p:txBody>
      </p:sp>
      <p:sp>
        <p:nvSpPr>
          <p:cNvPr id="7" name="Text 5"/>
          <p:cNvSpPr/>
          <p:nvPr/>
        </p:nvSpPr>
        <p:spPr>
          <a:xfrm>
            <a:off x="457200" y="3520440"/>
            <a:ext cx="11274552" cy="365760"/>
          </a:xfrm>
          <a:prstGeom prst="rect">
            <a:avLst/>
          </a:prstGeom>
          <a:noFill/>
          <a:ln/>
        </p:spPr>
        <p:txBody>
          <a:bodyPr wrap="square" rtlCol="0" anchor="ctr"/>
          <a:lstStyle/>
          <a:p>
            <a:pPr indent="0" marL="0">
              <a:buNone/>
            </a:pPr>
            <a:r>
              <a:rPr lang="en-US" sz="1400" b="1" dirty="0">
                <a:solidFill>
                  <a:srgbClr val="B580FF"/>
                </a:solidFill>
                <a:latin typeface="Calibri" pitchFamily="34" charset="0"/>
                <a:ea typeface="Calibri" pitchFamily="34" charset="-122"/>
                <a:cs typeface="Calibri" pitchFamily="34" charset="-120"/>
              </a:rPr>
              <a:t>Init pattern (once per service)</a:t>
            </a:r>
            <a:endParaRPr lang="en-US" sz="1400" dirty="0"/>
          </a:p>
        </p:txBody>
      </p:sp>
      <p:sp>
        <p:nvSpPr>
          <p:cNvPr id="8" name="Shape 6"/>
          <p:cNvSpPr/>
          <p:nvPr/>
        </p:nvSpPr>
        <p:spPr>
          <a:xfrm>
            <a:off x="457200" y="3886200"/>
            <a:ext cx="11274552" cy="1097280"/>
          </a:xfrm>
          <a:prstGeom prst="roundRect">
            <a:avLst>
              <a:gd name="adj" fmla="val 6667"/>
            </a:avLst>
          </a:prstGeom>
          <a:solidFill>
            <a:srgbClr val="141937"/>
          </a:solidFill>
          <a:ln w="9525">
            <a:solidFill>
              <a:srgbClr val="2A3258"/>
            </a:solidFill>
            <a:prstDash val="solid"/>
          </a:ln>
        </p:spPr>
      </p:sp>
      <p:sp>
        <p:nvSpPr>
          <p:cNvPr id="9" name="Text 7"/>
          <p:cNvSpPr/>
          <p:nvPr/>
        </p:nvSpPr>
        <p:spPr>
          <a:xfrm>
            <a:off x="621792" y="3995928"/>
            <a:ext cx="10945368" cy="877824"/>
          </a:xfrm>
          <a:prstGeom prst="rect">
            <a:avLst/>
          </a:prstGeom>
          <a:noFill/>
          <a:ln/>
        </p:spPr>
        <p:txBody>
          <a:bodyPr wrap="square" rtlCol="0" anchor="t"/>
          <a:lstStyle/>
          <a:p>
            <a:pPr indent="0" marL="0">
              <a:buNone/>
            </a:pPr>
            <a:r>
              <a:rPr lang="en-US" sz="1400" dirty="0">
                <a:solidFill>
                  <a:srgbClr val="C678DD"/>
                </a:solidFill>
                <a:latin typeface="Consolas" pitchFamily="34" charset="0"/>
                <a:ea typeface="Consolas" pitchFamily="34" charset="-122"/>
                <a:cs typeface="Consolas" pitchFamily="34" charset="-120"/>
              </a:rPr>
              <a:t>const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sp</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82AAFF"/>
                </a:solidFill>
                <a:latin typeface="Consolas" pitchFamily="34" charset="0"/>
                <a:ea typeface="Consolas" pitchFamily="34" charset="-122"/>
                <a:cs typeface="Consolas" pitchFamily="34" charset="-120"/>
              </a:rPr>
              <a:t>spfi</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siteUrl</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82AAFF"/>
                </a:solidFill>
                <a:latin typeface="Consolas" pitchFamily="34" charset="0"/>
                <a:ea typeface="Consolas" pitchFamily="34" charset="-122"/>
                <a:cs typeface="Consolas" pitchFamily="34" charset="-120"/>
              </a:rPr>
              <a:t>using</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82AAFF"/>
                </a:solidFill>
                <a:latin typeface="Consolas" pitchFamily="34" charset="0"/>
                <a:ea typeface="Consolas" pitchFamily="34" charset="-122"/>
                <a:cs typeface="Consolas" pitchFamily="34" charset="-120"/>
              </a:rPr>
              <a:t>spSPFx</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C678DD"/>
                </a:solidFill>
                <a:latin typeface="Consolas" pitchFamily="34" charset="0"/>
                <a:ea typeface="Consolas" pitchFamily="34" charset="-122"/>
                <a:cs typeface="Consolas" pitchFamily="34" charset="-120"/>
              </a:rPr>
              <a:t>this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context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C678DD"/>
                </a:solidFill>
                <a:latin typeface="Consolas" pitchFamily="34" charset="0"/>
                <a:ea typeface="Consolas" pitchFamily="34" charset="-122"/>
                <a:cs typeface="Consolas" pitchFamily="34" charset="-120"/>
              </a:rPr>
              <a:t>const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graph</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82AAFF"/>
                </a:solidFill>
                <a:latin typeface="Consolas" pitchFamily="34" charset="0"/>
                <a:ea typeface="Consolas" pitchFamily="34" charset="-122"/>
                <a:cs typeface="Consolas" pitchFamily="34" charset="-120"/>
              </a:rPr>
              <a:t>graphfi</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82AAFF"/>
                </a:solidFill>
                <a:latin typeface="Consolas" pitchFamily="34" charset="0"/>
                <a:ea typeface="Consolas" pitchFamily="34" charset="-122"/>
                <a:cs typeface="Consolas" pitchFamily="34" charset="-120"/>
              </a:rPr>
              <a:t>using</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82AAFF"/>
                </a:solidFill>
                <a:latin typeface="Consolas" pitchFamily="34" charset="0"/>
                <a:ea typeface="Consolas" pitchFamily="34" charset="-122"/>
                <a:cs typeface="Consolas" pitchFamily="34" charset="-120"/>
              </a:rPr>
              <a:t>graphSPFx</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C678DD"/>
                </a:solidFill>
                <a:latin typeface="Consolas" pitchFamily="34" charset="0"/>
                <a:ea typeface="Consolas" pitchFamily="34" charset="-122"/>
                <a:cs typeface="Consolas" pitchFamily="34" charset="-120"/>
              </a:rPr>
              <a:t>this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context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p:txBody>
      </p:sp>
      <p:sp>
        <p:nvSpPr>
          <p:cNvPr id="10" name="Text 8"/>
          <p:cNvSpPr/>
          <p:nvPr/>
        </p:nvSpPr>
        <p:spPr>
          <a:xfrm>
            <a:off x="457200" y="5120640"/>
            <a:ext cx="11274552" cy="640080"/>
          </a:xfrm>
          <a:prstGeom prst="rect">
            <a:avLst/>
          </a:prstGeom>
          <a:noFill/>
          <a:ln/>
        </p:spPr>
        <p:txBody>
          <a:bodyPr wrap="square" rtlCol="0" anchor="t"/>
          <a:lstStyle/>
          <a:p>
            <a:pPr indent="0" marL="0">
              <a:buNone/>
            </a:pPr>
            <a:r>
              <a:rPr lang="en-US" sz="1400" i="1" dirty="0">
                <a:solidFill>
                  <a:srgbClr val="B580FF"/>
                </a:solidFill>
                <a:latin typeface="Calibri" pitchFamily="34" charset="0"/>
                <a:ea typeface="Calibri" pitchFamily="34" charset="-122"/>
                <a:cs typeface="Calibri" pitchFamily="34" charset="-120"/>
              </a:rPr>
              <a:t>Same SPFx context, same auth. PnPjs is not a separate auth story — it rides on top of the SPFx clients you already have.</a:t>
            </a:r>
            <a:endParaRPr lang="en-US" sz="14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The URL reveal</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Text 2"/>
          <p:cNvSpPr/>
          <p:nvPr/>
        </p:nvSpPr>
        <p:spPr>
          <a:xfrm>
            <a:off x="457200" y="1463040"/>
            <a:ext cx="5486400" cy="365760"/>
          </a:xfrm>
          <a:prstGeom prst="rect">
            <a:avLst/>
          </a:prstGeom>
          <a:noFill/>
          <a:ln/>
        </p:spPr>
        <p:txBody>
          <a:bodyPr wrap="square" rtlCol="0" anchor="ctr"/>
          <a:lstStyle/>
          <a:p>
            <a:pPr indent="0" marL="0">
              <a:buNone/>
            </a:pPr>
            <a:r>
              <a:rPr lang="en-US" sz="1400" b="1" dirty="0">
                <a:solidFill>
                  <a:srgbClr val="FFB347"/>
                </a:solidFill>
                <a:latin typeface="Calibri" pitchFamily="34" charset="0"/>
                <a:ea typeface="Calibri" pitchFamily="34" charset="-122"/>
                <a:cs typeface="Calibri" pitchFamily="34" charset="-120"/>
              </a:rPr>
              <a:t>SPFx-native</a:t>
            </a:r>
            <a:endParaRPr lang="en-US" sz="1400" dirty="0"/>
          </a:p>
        </p:txBody>
      </p:sp>
      <p:sp>
        <p:nvSpPr>
          <p:cNvPr id="5" name="Shape 3"/>
          <p:cNvSpPr/>
          <p:nvPr/>
        </p:nvSpPr>
        <p:spPr>
          <a:xfrm>
            <a:off x="457200" y="1828800"/>
            <a:ext cx="5632704" cy="2011680"/>
          </a:xfrm>
          <a:prstGeom prst="roundRect">
            <a:avLst>
              <a:gd name="adj" fmla="val 3636"/>
            </a:avLst>
          </a:prstGeom>
          <a:solidFill>
            <a:srgbClr val="141937"/>
          </a:solidFill>
          <a:ln w="9525">
            <a:solidFill>
              <a:srgbClr val="2A3258"/>
            </a:solidFill>
            <a:prstDash val="solid"/>
          </a:ln>
        </p:spPr>
      </p:sp>
      <p:sp>
        <p:nvSpPr>
          <p:cNvPr id="6" name="Text 4"/>
          <p:cNvSpPr/>
          <p:nvPr/>
        </p:nvSpPr>
        <p:spPr>
          <a:xfrm>
            <a:off x="621792" y="1938528"/>
            <a:ext cx="5303520" cy="1792224"/>
          </a:xfrm>
          <a:prstGeom prst="rect">
            <a:avLst/>
          </a:prstGeom>
          <a:noFill/>
          <a:ln/>
        </p:spPr>
        <p:txBody>
          <a:bodyPr wrap="square" rtlCol="0" anchor="t"/>
          <a:lstStyle/>
          <a:p>
            <a:pPr indent="0" marL="0">
              <a:buNone/>
            </a:pPr>
            <a:r>
              <a:rPr lang="en-US" sz="1100" dirty="0">
                <a:solidFill>
                  <a:srgbClr val="F0F4FF"/>
                </a:solidFill>
                <a:latin typeface="Consolas" pitchFamily="34" charset="0"/>
                <a:ea typeface="Consolas" pitchFamily="34" charset="-122"/>
                <a:cs typeface="Consolas" pitchFamily="34" charset="-120"/>
              </a:rPr>
              <a:t>spHttpClient</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82AAFF"/>
                </a:solidFill>
                <a:latin typeface="Consolas" pitchFamily="34" charset="0"/>
                <a:ea typeface="Consolas" pitchFamily="34" charset="-122"/>
                <a:cs typeface="Consolas" pitchFamily="34" charset="-120"/>
              </a:rPr>
              <a:t>get</a:t>
            </a:r>
            <a:pPr indent="0" marL="0">
              <a:buNone/>
            </a:pPr>
            <a:r>
              <a:rPr lang="en-US" sz="1100" dirty="0">
                <a:solidFill>
                  <a:srgbClr val="F0F4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98D894"/>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siteUrl</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98D894"/>
                </a:solidFill>
                <a:latin typeface="Consolas" pitchFamily="34" charset="0"/>
                <a:ea typeface="Consolas" pitchFamily="34" charset="-122"/>
                <a:cs typeface="Consolas" pitchFamily="34" charset="-120"/>
              </a:rPr>
              <a:t>/_api/web/lists/getbytitle('Speaking Events')/items`</a:t>
            </a:r>
            <a:endParaRPr lang="en-US" sz="1100" dirty="0"/>
          </a:p>
          <a:p>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98D894"/>
                </a:solidFill>
                <a:latin typeface="Consolas" pitchFamily="34" charset="0"/>
                <a:ea typeface="Consolas" pitchFamily="34" charset="-122"/>
                <a:cs typeface="Consolas" pitchFamily="34" charset="-120"/>
              </a:rPr>
              <a:t>`?$select=Id,Title,SessionDate&amp;$orderby=SessionDate desc&amp;$top=50`</a:t>
            </a:r>
            <a:pPr indent="0" marL="0">
              <a:buNone/>
            </a:pPr>
            <a:r>
              <a:rPr lang="en-US" sz="1100" dirty="0">
                <a:solidFill>
                  <a:srgbClr val="F0F4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00E5FF"/>
                </a:solidFill>
                <a:latin typeface="Consolas" pitchFamily="34" charset="0"/>
                <a:ea typeface="Consolas" pitchFamily="34" charset="-122"/>
                <a:cs typeface="Consolas" pitchFamily="34" charset="-120"/>
              </a:rPr>
              <a:t>SPHttpClient</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configurations</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v1</a:t>
            </a:r>
            <a:endParaRPr lang="en-US" sz="1100" dirty="0"/>
          </a:p>
          <a:p>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endParaRPr lang="en-US" sz="1100" dirty="0"/>
          </a:p>
        </p:txBody>
      </p:sp>
      <p:sp>
        <p:nvSpPr>
          <p:cNvPr id="7" name="Text 5"/>
          <p:cNvSpPr/>
          <p:nvPr/>
        </p:nvSpPr>
        <p:spPr>
          <a:xfrm>
            <a:off x="6245352" y="1463040"/>
            <a:ext cx="5486400" cy="365760"/>
          </a:xfrm>
          <a:prstGeom prst="rect">
            <a:avLst/>
          </a:prstGeom>
          <a:noFill/>
          <a:ln/>
        </p:spPr>
        <p:txBody>
          <a:bodyPr wrap="square" rtlCol="0" anchor="ctr"/>
          <a:lstStyle/>
          <a:p>
            <a:pPr indent="0" marL="0">
              <a:buNone/>
            </a:pPr>
            <a:r>
              <a:rPr lang="en-US" sz="1400" b="1" dirty="0">
                <a:solidFill>
                  <a:srgbClr val="7EE787"/>
                </a:solidFill>
                <a:latin typeface="Calibri" pitchFamily="34" charset="0"/>
                <a:ea typeface="Calibri" pitchFamily="34" charset="-122"/>
                <a:cs typeface="Calibri" pitchFamily="34" charset="-120"/>
              </a:rPr>
              <a:t>PnPjs</a:t>
            </a:r>
            <a:endParaRPr lang="en-US" sz="1400" dirty="0"/>
          </a:p>
        </p:txBody>
      </p:sp>
      <p:sp>
        <p:nvSpPr>
          <p:cNvPr id="8" name="Shape 6"/>
          <p:cNvSpPr/>
          <p:nvPr/>
        </p:nvSpPr>
        <p:spPr>
          <a:xfrm>
            <a:off x="6245352" y="1828800"/>
            <a:ext cx="5486400" cy="2011680"/>
          </a:xfrm>
          <a:prstGeom prst="roundRect">
            <a:avLst>
              <a:gd name="adj" fmla="val 3636"/>
            </a:avLst>
          </a:prstGeom>
          <a:solidFill>
            <a:srgbClr val="141937"/>
          </a:solidFill>
          <a:ln w="9525">
            <a:solidFill>
              <a:srgbClr val="2A3258"/>
            </a:solidFill>
            <a:prstDash val="solid"/>
          </a:ln>
        </p:spPr>
      </p:sp>
      <p:sp>
        <p:nvSpPr>
          <p:cNvPr id="9" name="Text 7"/>
          <p:cNvSpPr/>
          <p:nvPr/>
        </p:nvSpPr>
        <p:spPr>
          <a:xfrm>
            <a:off x="6409944" y="1938528"/>
            <a:ext cx="5157216" cy="1792224"/>
          </a:xfrm>
          <a:prstGeom prst="rect">
            <a:avLst/>
          </a:prstGeom>
          <a:noFill/>
          <a:ln/>
        </p:spPr>
        <p:txBody>
          <a:bodyPr wrap="square" rtlCol="0" anchor="t"/>
          <a:lstStyle/>
          <a:p>
            <a:pPr indent="0" marL="0">
              <a:buNone/>
            </a:pPr>
            <a:r>
              <a:rPr lang="en-US" sz="1100" dirty="0">
                <a:solidFill>
                  <a:srgbClr val="F0F4FF"/>
                </a:solidFill>
                <a:latin typeface="Consolas" pitchFamily="34" charset="0"/>
                <a:ea typeface="Consolas" pitchFamily="34" charset="-122"/>
                <a:cs typeface="Consolas" pitchFamily="34" charset="-120"/>
              </a:rPr>
              <a:t>sp</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web</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lists</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82AAFF"/>
                </a:solidFill>
                <a:latin typeface="Consolas" pitchFamily="34" charset="0"/>
                <a:ea typeface="Consolas" pitchFamily="34" charset="-122"/>
                <a:cs typeface="Consolas" pitchFamily="34" charset="-120"/>
              </a:rPr>
              <a:t>getByTitle</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98D894"/>
                </a:solidFill>
                <a:latin typeface="Consolas" pitchFamily="34" charset="0"/>
                <a:ea typeface="Consolas" pitchFamily="34" charset="-122"/>
                <a:cs typeface="Consolas" pitchFamily="34" charset="-120"/>
              </a:rPr>
              <a:t>'Speaking Events'</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items</a:t>
            </a:r>
            <a:endParaRPr lang="en-US" sz="1100" dirty="0"/>
          </a:p>
          <a:p>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82AAFF"/>
                </a:solidFill>
                <a:latin typeface="Consolas" pitchFamily="34" charset="0"/>
                <a:ea typeface="Consolas" pitchFamily="34" charset="-122"/>
                <a:cs typeface="Consolas" pitchFamily="34" charset="-120"/>
              </a:rPr>
              <a:t>select</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98D894"/>
                </a:solidFill>
                <a:latin typeface="Consolas" pitchFamily="34" charset="0"/>
                <a:ea typeface="Consolas" pitchFamily="34" charset="-122"/>
                <a:cs typeface="Consolas" pitchFamily="34" charset="-120"/>
              </a:rPr>
              <a:t>'Id'</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98D894"/>
                </a:solidFill>
                <a:latin typeface="Consolas" pitchFamily="34" charset="0"/>
                <a:ea typeface="Consolas" pitchFamily="34" charset="-122"/>
                <a:cs typeface="Consolas" pitchFamily="34" charset="-120"/>
              </a:rPr>
              <a:t>'Title'</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98D894"/>
                </a:solidFill>
                <a:latin typeface="Consolas" pitchFamily="34" charset="0"/>
                <a:ea typeface="Consolas" pitchFamily="34" charset="-122"/>
                <a:cs typeface="Consolas" pitchFamily="34" charset="-120"/>
              </a:rPr>
              <a:t>'SessionDate'</a:t>
            </a:r>
            <a:pPr indent="0" marL="0">
              <a:buNone/>
            </a:pPr>
            <a:r>
              <a:rPr lang="en-US" sz="1100" dirty="0">
                <a:solidFill>
                  <a:srgbClr val="F0F4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82AAFF"/>
                </a:solidFill>
                <a:latin typeface="Consolas" pitchFamily="34" charset="0"/>
                <a:ea typeface="Consolas" pitchFamily="34" charset="-122"/>
                <a:cs typeface="Consolas" pitchFamily="34" charset="-120"/>
              </a:rPr>
              <a:t>orderBy</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98D894"/>
                </a:solidFill>
                <a:latin typeface="Consolas" pitchFamily="34" charset="0"/>
                <a:ea typeface="Consolas" pitchFamily="34" charset="-122"/>
                <a:cs typeface="Consolas" pitchFamily="34" charset="-120"/>
              </a:rPr>
              <a:t>'SessionDate'</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C678DD"/>
                </a:solidFill>
                <a:latin typeface="Consolas" pitchFamily="34" charset="0"/>
                <a:ea typeface="Consolas" pitchFamily="34" charset="-122"/>
                <a:cs typeface="Consolas" pitchFamily="34" charset="-120"/>
              </a:rPr>
              <a:t>false</a:t>
            </a:r>
            <a:pPr indent="0" marL="0">
              <a:buNone/>
            </a:pPr>
            <a:r>
              <a:rPr lang="en-US" sz="1100" dirty="0">
                <a:solidFill>
                  <a:srgbClr val="F0F4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82AAFF"/>
                </a:solidFill>
                <a:latin typeface="Consolas" pitchFamily="34" charset="0"/>
                <a:ea typeface="Consolas" pitchFamily="34" charset="-122"/>
                <a:cs typeface="Consolas" pitchFamily="34" charset="-120"/>
              </a:rPr>
              <a:t>top</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FB347"/>
                </a:solidFill>
                <a:latin typeface="Consolas" pitchFamily="34" charset="0"/>
                <a:ea typeface="Consolas" pitchFamily="34" charset="-122"/>
                <a:cs typeface="Consolas" pitchFamily="34" charset="-120"/>
              </a:rPr>
              <a:t>50</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endParaRPr lang="en-US" sz="1100" dirty="0"/>
          </a:p>
        </p:txBody>
      </p:sp>
      <p:sp>
        <p:nvSpPr>
          <p:cNvPr id="10" name="Shape 8"/>
          <p:cNvSpPr/>
          <p:nvPr/>
        </p:nvSpPr>
        <p:spPr>
          <a:xfrm>
            <a:off x="457200" y="4114800"/>
            <a:ext cx="54864" cy="1463040"/>
          </a:xfrm>
          <a:prstGeom prst="rect">
            <a:avLst/>
          </a:prstGeom>
          <a:solidFill>
            <a:srgbClr val="00E5FF"/>
          </a:solidFill>
          <a:ln w="12700">
            <a:solidFill>
              <a:srgbClr val="00E5FF"/>
            </a:solidFill>
            <a:prstDash val="solid"/>
          </a:ln>
        </p:spPr>
      </p:sp>
      <p:sp>
        <p:nvSpPr>
          <p:cNvPr id="11" name="Text 9"/>
          <p:cNvSpPr/>
          <p:nvPr/>
        </p:nvSpPr>
        <p:spPr>
          <a:xfrm>
            <a:off x="685800" y="4114800"/>
            <a:ext cx="10972800" cy="1463040"/>
          </a:xfrm>
          <a:prstGeom prst="rect">
            <a:avLst/>
          </a:prstGeom>
          <a:noFill/>
          <a:ln/>
        </p:spPr>
        <p:txBody>
          <a:bodyPr wrap="square" rtlCol="0" anchor="ctr"/>
          <a:lstStyle/>
          <a:p>
            <a:pPr indent="0" marL="0">
              <a:spcAft>
                <a:spcPts val="400"/>
              </a:spcAft>
              <a:buNone/>
            </a:pPr>
            <a:r>
              <a:rPr lang="en-US" sz="2200" b="1" dirty="0">
                <a:solidFill>
                  <a:srgbClr val="F0F4FF"/>
                </a:solidFill>
                <a:latin typeface="Calibri" pitchFamily="34" charset="0"/>
                <a:ea typeface="Calibri" pitchFamily="34" charset="-122"/>
                <a:cs typeface="Calibri" pitchFamily="34" charset="-120"/>
              </a:rPr>
              <a:t>Both produce the same network request.</a:t>
            </a:r>
            <a:endParaRPr lang="en-US" sz="2200" dirty="0"/>
          </a:p>
          <a:p>
            <a:pPr indent="0" marL="0">
              <a:spcAft>
                <a:spcPts val="400"/>
              </a:spcAft>
              <a:buNone/>
            </a:pPr>
            <a:r>
              <a:rPr lang="en-US" sz="800" dirty="0">
                <a:solidFill>
                  <a:srgbClr val="000000"/>
                </a:solidFill>
                <a:latin typeface="Calibri" pitchFamily="34" charset="0"/>
                <a:ea typeface="Calibri" pitchFamily="34" charset="-122"/>
                <a:cs typeface="Calibri" pitchFamily="34" charset="-120"/>
              </a:rPr>
              <a:t> </a:t>
            </a:r>
            <a:endParaRPr lang="en-US" sz="2200" dirty="0"/>
          </a:p>
          <a:p>
            <a:pPr indent="0" marL="0">
              <a:spcAft>
                <a:spcPts val="400"/>
              </a:spcAft>
              <a:buNone/>
            </a:pPr>
            <a:r>
              <a:rPr lang="en-US" sz="1800" i="1" dirty="0">
                <a:solidFill>
                  <a:srgbClr val="00E5FF"/>
                </a:solidFill>
                <a:latin typeface="Calibri" pitchFamily="34" charset="0"/>
                <a:ea typeface="Calibri" pitchFamily="34" charset="-122"/>
                <a:cs typeface="Calibri" pitchFamily="34" charset="-120"/>
              </a:rPr>
              <a:t>PnPjs is not magic.</a:t>
            </a:r>
            <a:endParaRPr lang="en-US" sz="2200" dirty="0"/>
          </a:p>
          <a:p>
            <a:pPr indent="0" marL="0">
              <a:spcAft>
                <a:spcPts val="400"/>
              </a:spcAft>
              <a:buNone/>
            </a:pPr>
            <a:r>
              <a:rPr lang="en-US" sz="1800" i="1" dirty="0">
                <a:solidFill>
                  <a:srgbClr val="00E5FF"/>
                </a:solidFill>
                <a:latin typeface="Calibri" pitchFamily="34" charset="0"/>
                <a:ea typeface="Calibri" pitchFamily="34" charset="-122"/>
                <a:cs typeface="Calibri" pitchFamily="34" charset="-120"/>
              </a:rPr>
              <a:t>It's the URL you'd write anyway, just typed for you.</a:t>
            </a:r>
            <a:endParaRPr lang="en-US" sz="2200" dirty="0"/>
          </a:p>
        </p:txBody>
      </p:sp>
      <p:sp>
        <p:nvSpPr>
          <p:cNvPr id="12" name="Text 10"/>
          <p:cNvSpPr/>
          <p:nvPr/>
        </p:nvSpPr>
        <p:spPr>
          <a:xfrm>
            <a:off x="8686800" y="5989320"/>
            <a:ext cx="3044952" cy="320040"/>
          </a:xfrm>
          <a:prstGeom prst="rect">
            <a:avLst/>
          </a:prstGeom>
          <a:noFill/>
          <a:ln/>
        </p:spPr>
        <p:txBody>
          <a:bodyPr wrap="square" rtlCol="0" anchor="ctr"/>
          <a:lstStyle/>
          <a:p>
            <a:pPr algn="r" indent="0" marL="0">
              <a:buNone/>
            </a:pPr>
            <a:r>
              <a:rPr lang="en-US" sz="1200" b="1" dirty="0">
                <a:solidFill>
                  <a:srgbClr val="00E5FF"/>
                </a:solidFill>
                <a:latin typeface="Calibri" pitchFamily="34" charset="0"/>
                <a:ea typeface="Calibri" pitchFamily="34" charset="-122"/>
                <a:cs typeface="Calibri" pitchFamily="34" charset="-120"/>
              </a:rPr>
              <a:t>▶ Demo 4 — keystone</a:t>
            </a:r>
            <a:endParaRPr lang="en-US" sz="12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PnPjs + SP REST: read</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Shape 2"/>
          <p:cNvSpPr/>
          <p:nvPr/>
        </p:nvSpPr>
        <p:spPr>
          <a:xfrm>
            <a:off x="457200" y="1737360"/>
            <a:ext cx="11274552" cy="3291840"/>
          </a:xfrm>
          <a:prstGeom prst="roundRect">
            <a:avLst>
              <a:gd name="adj" fmla="val 2222"/>
            </a:avLst>
          </a:prstGeom>
          <a:solidFill>
            <a:srgbClr val="141937"/>
          </a:solidFill>
          <a:ln w="9525">
            <a:solidFill>
              <a:srgbClr val="2A3258"/>
            </a:solidFill>
            <a:prstDash val="solid"/>
          </a:ln>
        </p:spPr>
      </p:sp>
      <p:sp>
        <p:nvSpPr>
          <p:cNvPr id="5" name="Text 3"/>
          <p:cNvSpPr/>
          <p:nvPr/>
        </p:nvSpPr>
        <p:spPr>
          <a:xfrm>
            <a:off x="621792" y="1847088"/>
            <a:ext cx="10945368" cy="3072384"/>
          </a:xfrm>
          <a:prstGeom prst="rect">
            <a:avLst/>
          </a:prstGeom>
          <a:noFill/>
          <a:ln/>
        </p:spPr>
        <p:txBody>
          <a:bodyPr wrap="square" rtlCol="0" anchor="t"/>
          <a:lstStyle/>
          <a:p>
            <a:pPr indent="0" marL="0">
              <a:buNone/>
            </a:pPr>
            <a:r>
              <a:rPr lang="en-US" sz="1300" dirty="0">
                <a:solidFill>
                  <a:srgbClr val="C678DD"/>
                </a:solidFill>
                <a:latin typeface="Consolas" pitchFamily="34" charset="0"/>
                <a:ea typeface="Consolas" pitchFamily="34" charset="-122"/>
                <a:cs typeface="Consolas" pitchFamily="34" charset="-120"/>
              </a:rPr>
              <a:t>public</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C678DD"/>
                </a:solidFill>
                <a:latin typeface="Consolas" pitchFamily="34" charset="0"/>
                <a:ea typeface="Consolas" pitchFamily="34" charset="-122"/>
                <a:cs typeface="Consolas" pitchFamily="34" charset="-120"/>
              </a:rPr>
              <a:t>async</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82AAFF"/>
                </a:solidFill>
                <a:latin typeface="Consolas" pitchFamily="34" charset="0"/>
                <a:ea typeface="Consolas" pitchFamily="34" charset="-122"/>
                <a:cs typeface="Consolas" pitchFamily="34" charset="-120"/>
              </a:rPr>
              <a:t>getItems</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list</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00E5FF"/>
                </a:solidFill>
                <a:latin typeface="Consolas" pitchFamily="34" charset="0"/>
                <a:ea typeface="Consolas" pitchFamily="34" charset="-122"/>
                <a:cs typeface="Consolas" pitchFamily="34" charset="-120"/>
              </a:rPr>
              <a:t>Promise</a:t>
            </a:r>
            <a:pPr indent="0" marL="0">
              <a:buNone/>
            </a:pPr>
            <a:r>
              <a:rPr lang="en-US" sz="1300" dirty="0">
                <a:solidFill>
                  <a:srgbClr val="F0F4FF"/>
                </a:solidFill>
                <a:latin typeface="Consolas" pitchFamily="34" charset="0"/>
                <a:ea typeface="Consolas" pitchFamily="34" charset="-122"/>
                <a:cs typeface="Consolas" pitchFamily="34" charset="-120"/>
              </a:rPr>
              <a:t>&lt;</a:t>
            </a:r>
            <a:pPr indent="0" marL="0">
              <a:buNone/>
            </a:pPr>
            <a:r>
              <a:rPr lang="en-US" sz="1300" dirty="0">
                <a:solidFill>
                  <a:srgbClr val="00E5FF"/>
                </a:solidFill>
                <a:latin typeface="Consolas" pitchFamily="34" charset="0"/>
                <a:ea typeface="Consolas" pitchFamily="34" charset="-122"/>
                <a:cs typeface="Consolas" pitchFamily="34" charset="-120"/>
              </a:rPr>
              <a:t>IEventItem</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&gt;</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F0F4FF"/>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C678DD"/>
                </a:solidFill>
                <a:latin typeface="Consolas" pitchFamily="34" charset="0"/>
                <a:ea typeface="Consolas" pitchFamily="34" charset="-122"/>
                <a:cs typeface="Consolas" pitchFamily="34" charset="-120"/>
              </a:rPr>
              <a:t>return</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C678DD"/>
                </a:solidFill>
                <a:latin typeface="Consolas" pitchFamily="34" charset="0"/>
                <a:ea typeface="Consolas" pitchFamily="34" charset="-122"/>
                <a:cs typeface="Consolas" pitchFamily="34" charset="-120"/>
              </a:rPr>
              <a:t>await</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C678DD"/>
                </a:solidFill>
                <a:latin typeface="Consolas" pitchFamily="34" charset="0"/>
                <a:ea typeface="Consolas" pitchFamily="34" charset="-122"/>
                <a:cs typeface="Consolas" pitchFamily="34" charset="-120"/>
              </a:rPr>
              <a:t>this</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sp</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web</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lists</a:t>
            </a:r>
            <a:endParaRPr lang="en-US" sz="1300" dirty="0"/>
          </a:p>
          <a:p>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82AAFF"/>
                </a:solidFill>
                <a:latin typeface="Consolas" pitchFamily="34" charset="0"/>
                <a:ea typeface="Consolas" pitchFamily="34" charset="-122"/>
                <a:cs typeface="Consolas" pitchFamily="34" charset="-120"/>
              </a:rPr>
              <a:t>getByTitle</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list</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title</a:t>
            </a:r>
            <a:pPr indent="0" marL="0">
              <a:buNone/>
            </a:pPr>
            <a:r>
              <a:rPr lang="en-US" sz="1300" dirty="0">
                <a:solidFill>
                  <a:srgbClr val="F0F4FF"/>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items</a:t>
            </a:r>
            <a:endParaRPr lang="en-US" sz="1300" dirty="0"/>
          </a:p>
          <a:p>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82AAFF"/>
                </a:solidFill>
                <a:latin typeface="Consolas" pitchFamily="34" charset="0"/>
                <a:ea typeface="Consolas" pitchFamily="34" charset="-122"/>
                <a:cs typeface="Consolas" pitchFamily="34" charset="-120"/>
              </a:rPr>
              <a:t>select</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98D894"/>
                </a:solidFill>
                <a:latin typeface="Consolas" pitchFamily="34" charset="0"/>
                <a:ea typeface="Consolas" pitchFamily="34" charset="-122"/>
                <a:cs typeface="Consolas" pitchFamily="34" charset="-120"/>
              </a:rPr>
              <a:t>'Id'</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98D894"/>
                </a:solidFill>
                <a:latin typeface="Consolas" pitchFamily="34" charset="0"/>
                <a:ea typeface="Consolas" pitchFamily="34" charset="-122"/>
                <a:cs typeface="Consolas" pitchFamily="34" charset="-120"/>
              </a:rPr>
              <a:t>'Title'</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98D894"/>
                </a:solidFill>
                <a:latin typeface="Consolas" pitchFamily="34" charset="0"/>
                <a:ea typeface="Consolas" pitchFamily="34" charset="-122"/>
                <a:cs typeface="Consolas" pitchFamily="34" charset="-120"/>
              </a:rPr>
              <a:t>'Session'</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98D894"/>
                </a:solidFill>
                <a:latin typeface="Consolas" pitchFamily="34" charset="0"/>
                <a:ea typeface="Consolas" pitchFamily="34" charset="-122"/>
                <a:cs typeface="Consolas" pitchFamily="34" charset="-120"/>
              </a:rPr>
              <a:t>'SessionDate'</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98D894"/>
                </a:solidFill>
                <a:latin typeface="Consolas" pitchFamily="34" charset="0"/>
                <a:ea typeface="Consolas" pitchFamily="34" charset="-122"/>
                <a:cs typeface="Consolas" pitchFamily="34" charset="-120"/>
              </a:rPr>
              <a:t>'SessionType'</a:t>
            </a:r>
            <a:pPr indent="0" marL="0">
              <a:buNone/>
            </a:pPr>
            <a:r>
              <a:rPr lang="en-US" sz="1300" dirty="0">
                <a:solidFill>
                  <a:srgbClr val="F0F4FF"/>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98D894"/>
                </a:solidFill>
                <a:latin typeface="Consolas" pitchFamily="34" charset="0"/>
                <a:ea typeface="Consolas" pitchFamily="34" charset="-122"/>
                <a:cs typeface="Consolas" pitchFamily="34" charset="-120"/>
              </a:rPr>
              <a:t>'EventSite'</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98D894"/>
                </a:solidFill>
                <a:latin typeface="Consolas" pitchFamily="34" charset="0"/>
                <a:ea typeface="Consolas" pitchFamily="34" charset="-122"/>
                <a:cs typeface="Consolas" pitchFamily="34" charset="-120"/>
              </a:rPr>
              <a:t>'SessionLink'</a:t>
            </a:r>
            <a:pPr indent="0" marL="0">
              <a:buNone/>
            </a:pPr>
            <a:r>
              <a:rPr lang="en-US" sz="1300" dirty="0">
                <a:solidFill>
                  <a:srgbClr val="F0F4FF"/>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98D894"/>
                </a:solidFill>
                <a:latin typeface="Consolas" pitchFamily="34" charset="0"/>
                <a:ea typeface="Consolas" pitchFamily="34" charset="-122"/>
                <a:cs typeface="Consolas" pitchFamily="34" charset="-120"/>
              </a:rPr>
              <a:t>'Speaker/Id'</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98D894"/>
                </a:solidFill>
                <a:latin typeface="Consolas" pitchFamily="34" charset="0"/>
                <a:ea typeface="Consolas" pitchFamily="34" charset="-122"/>
                <a:cs typeface="Consolas" pitchFamily="34" charset="-120"/>
              </a:rPr>
              <a:t>'Speaker/Title'</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98D894"/>
                </a:solidFill>
                <a:latin typeface="Consolas" pitchFamily="34" charset="0"/>
                <a:ea typeface="Consolas" pitchFamily="34" charset="-122"/>
                <a:cs typeface="Consolas" pitchFamily="34" charset="-120"/>
              </a:rPr>
              <a:t>'Speaker/EMail'</a:t>
            </a:r>
            <a:pPr indent="0" marL="0">
              <a:buNone/>
            </a:pPr>
            <a:r>
              <a:rPr lang="en-US" sz="1300" dirty="0">
                <a:solidFill>
                  <a:srgbClr val="F0F4FF"/>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82AAFF"/>
                </a:solidFill>
                <a:latin typeface="Consolas" pitchFamily="34" charset="0"/>
                <a:ea typeface="Consolas" pitchFamily="34" charset="-122"/>
                <a:cs typeface="Consolas" pitchFamily="34" charset="-120"/>
              </a:rPr>
              <a:t>expand</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98D894"/>
                </a:solidFill>
                <a:latin typeface="Consolas" pitchFamily="34" charset="0"/>
                <a:ea typeface="Consolas" pitchFamily="34" charset="-122"/>
                <a:cs typeface="Consolas" pitchFamily="34" charset="-120"/>
              </a:rPr>
              <a:t>'Speaker'</a:t>
            </a:r>
            <a:pPr indent="0" marL="0">
              <a:buNone/>
            </a:pPr>
            <a:r>
              <a:rPr lang="en-US" sz="1300" dirty="0">
                <a:solidFill>
                  <a:srgbClr val="F0F4FF"/>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82AAFF"/>
                </a:solidFill>
                <a:latin typeface="Consolas" pitchFamily="34" charset="0"/>
                <a:ea typeface="Consolas" pitchFamily="34" charset="-122"/>
                <a:cs typeface="Consolas" pitchFamily="34" charset="-120"/>
              </a:rPr>
              <a:t>filter</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98D894"/>
                </a:solidFill>
                <a:latin typeface="Consolas" pitchFamily="34" charset="0"/>
                <a:ea typeface="Consolas" pitchFamily="34" charset="-122"/>
                <a:cs typeface="Consolas" pitchFamily="34" charset="-120"/>
              </a:rPr>
              <a:t>`SessionDate ge datetime'</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82AAFF"/>
                </a:solidFill>
                <a:latin typeface="Consolas" pitchFamily="34" charset="0"/>
                <a:ea typeface="Consolas" pitchFamily="34" charset="-122"/>
                <a:cs typeface="Consolas" pitchFamily="34" charset="-120"/>
              </a:rPr>
              <a:t>startOfTodayIso</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98D894"/>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82AAFF"/>
                </a:solidFill>
                <a:latin typeface="Consolas" pitchFamily="34" charset="0"/>
                <a:ea typeface="Consolas" pitchFamily="34" charset="-122"/>
                <a:cs typeface="Consolas" pitchFamily="34" charset="-120"/>
              </a:rPr>
              <a:t>orderBy</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98D894"/>
                </a:solidFill>
                <a:latin typeface="Consolas" pitchFamily="34" charset="0"/>
                <a:ea typeface="Consolas" pitchFamily="34" charset="-122"/>
                <a:cs typeface="Consolas" pitchFamily="34" charset="-120"/>
              </a:rPr>
              <a:t>'SessionDate'</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C678DD"/>
                </a:solidFill>
                <a:latin typeface="Consolas" pitchFamily="34" charset="0"/>
                <a:ea typeface="Consolas" pitchFamily="34" charset="-122"/>
                <a:cs typeface="Consolas" pitchFamily="34" charset="-120"/>
              </a:rPr>
              <a:t>true</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C678DD"/>
                </a:solidFill>
                <a:latin typeface="Consolas" pitchFamily="34" charset="0"/>
                <a:ea typeface="Consolas" pitchFamily="34" charset="-122"/>
                <a:cs typeface="Consolas" pitchFamily="34" charset="-120"/>
              </a:rPr>
              <a:t>as</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00E5FF"/>
                </a:solidFill>
                <a:latin typeface="Consolas" pitchFamily="34" charset="0"/>
                <a:ea typeface="Consolas" pitchFamily="34" charset="-122"/>
                <a:cs typeface="Consolas" pitchFamily="34" charset="-120"/>
              </a:rPr>
              <a:t>IEventItem</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F0F4FF"/>
                </a:solidFill>
                <a:latin typeface="Consolas" pitchFamily="34" charset="0"/>
                <a:ea typeface="Consolas" pitchFamily="34" charset="-122"/>
                <a:cs typeface="Consolas" pitchFamily="34" charset="-120"/>
              </a:rPr>
              <a:t>}</a:t>
            </a:r>
            <a:endParaRPr lang="en-US" sz="1300" dirty="0"/>
          </a:p>
        </p:txBody>
      </p:sp>
      <p:sp>
        <p:nvSpPr>
          <p:cNvPr id="6" name="Text 4"/>
          <p:cNvSpPr/>
          <p:nvPr/>
        </p:nvSpPr>
        <p:spPr>
          <a:xfrm>
            <a:off x="457200" y="5212080"/>
            <a:ext cx="11274552" cy="365760"/>
          </a:xfrm>
          <a:prstGeom prst="rect">
            <a:avLst/>
          </a:prstGeom>
          <a:noFill/>
          <a:ln/>
        </p:spPr>
        <p:txBody>
          <a:bodyPr wrap="square" rtlCol="0" anchor="ctr"/>
          <a:lstStyle/>
          <a:p>
            <a:pPr indent="0" marL="0">
              <a:buNone/>
            </a:pPr>
            <a:r>
              <a:rPr lang="en-US" sz="1600" dirty="0">
                <a:solidFill>
                  <a:srgbClr val="F0F4FF"/>
                </a:solidFill>
                <a:latin typeface="Calibri" pitchFamily="34" charset="0"/>
                <a:ea typeface="Calibri" pitchFamily="34" charset="-122"/>
                <a:cs typeface="Calibri" pitchFamily="34" charset="-120"/>
              </a:rPr>
              <a:t>Same fields. Same filter. Same order.</a:t>
            </a:r>
            <a:endParaRPr lang="en-US" sz="1600" dirty="0"/>
          </a:p>
        </p:txBody>
      </p:sp>
      <p:sp>
        <p:nvSpPr>
          <p:cNvPr id="7" name="Text 5"/>
          <p:cNvSpPr/>
          <p:nvPr/>
        </p:nvSpPr>
        <p:spPr>
          <a:xfrm>
            <a:off x="457200" y="5532120"/>
            <a:ext cx="11274552" cy="365760"/>
          </a:xfrm>
          <a:prstGeom prst="rect">
            <a:avLst/>
          </a:prstGeom>
          <a:noFill/>
          <a:ln/>
        </p:spPr>
        <p:txBody>
          <a:bodyPr wrap="square" rtlCol="0" anchor="ctr"/>
          <a:lstStyle/>
          <a:p>
            <a:pPr indent="0" marL="0">
              <a:buNone/>
            </a:pPr>
            <a:r>
              <a:rPr lang="en-US" sz="1600" b="1" dirty="0">
                <a:solidFill>
                  <a:srgbClr val="00E5FF"/>
                </a:solidFill>
                <a:latin typeface="Calibri" pitchFamily="34" charset="0"/>
                <a:ea typeface="Calibri" pitchFamily="34" charset="-122"/>
                <a:cs typeface="Calibri" pitchFamily="34" charset="-120"/>
              </a:rPr>
              <a:t>No URL string. No response.ok check. No response.json().</a:t>
            </a:r>
            <a:endParaRPr lang="en-US" sz="1600" dirty="0"/>
          </a:p>
        </p:txBody>
      </p:sp>
      <p:sp>
        <p:nvSpPr>
          <p:cNvPr id="8" name="Text 6"/>
          <p:cNvSpPr/>
          <p:nvPr/>
        </p:nvSpPr>
        <p:spPr>
          <a:xfrm>
            <a:off x="10058400" y="5989320"/>
            <a:ext cx="1673352" cy="320040"/>
          </a:xfrm>
          <a:prstGeom prst="rect">
            <a:avLst/>
          </a:prstGeom>
          <a:noFill/>
          <a:ln/>
        </p:spPr>
        <p:txBody>
          <a:bodyPr wrap="square" rtlCol="0" anchor="ctr"/>
          <a:lstStyle/>
          <a:p>
            <a:pPr algn="r" indent="0" marL="0">
              <a:buNone/>
            </a:pPr>
            <a:r>
              <a:rPr lang="en-US" sz="1200" b="1" dirty="0">
                <a:solidFill>
                  <a:srgbClr val="00E5FF"/>
                </a:solidFill>
                <a:latin typeface="Calibri" pitchFamily="34" charset="0"/>
                <a:ea typeface="Calibri" pitchFamily="34" charset="-122"/>
                <a:cs typeface="Calibri" pitchFamily="34" charset="-120"/>
              </a:rPr>
              <a:t>▶ Demo 5</a:t>
            </a:r>
            <a:endParaRPr lang="en-US" sz="12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PnPjs + SP REST: write</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Shape 2"/>
          <p:cNvSpPr/>
          <p:nvPr/>
        </p:nvSpPr>
        <p:spPr>
          <a:xfrm>
            <a:off x="457200" y="1737360"/>
            <a:ext cx="11274552" cy="2377440"/>
          </a:xfrm>
          <a:prstGeom prst="roundRect">
            <a:avLst>
              <a:gd name="adj" fmla="val 3077"/>
            </a:avLst>
          </a:prstGeom>
          <a:solidFill>
            <a:srgbClr val="141937"/>
          </a:solidFill>
          <a:ln w="9525">
            <a:solidFill>
              <a:srgbClr val="2A3258"/>
            </a:solidFill>
            <a:prstDash val="solid"/>
          </a:ln>
        </p:spPr>
      </p:sp>
      <p:sp>
        <p:nvSpPr>
          <p:cNvPr id="5" name="Text 3"/>
          <p:cNvSpPr/>
          <p:nvPr/>
        </p:nvSpPr>
        <p:spPr>
          <a:xfrm>
            <a:off x="621792" y="1847088"/>
            <a:ext cx="10945368" cy="2157984"/>
          </a:xfrm>
          <a:prstGeom prst="rect">
            <a:avLst/>
          </a:prstGeom>
          <a:noFill/>
          <a:ln/>
        </p:spPr>
        <p:txBody>
          <a:bodyPr wrap="square" rtlCol="0" anchor="t"/>
          <a:lstStyle/>
          <a:p>
            <a:pPr indent="0" marL="0">
              <a:buNone/>
            </a:pPr>
            <a:r>
              <a:rPr lang="en-US" sz="1400" dirty="0">
                <a:solidFill>
                  <a:srgbClr val="C678DD"/>
                </a:solidFill>
                <a:latin typeface="Consolas" pitchFamily="34" charset="0"/>
                <a:ea typeface="Consolas" pitchFamily="34" charset="-122"/>
                <a:cs typeface="Consolas" pitchFamily="34" charset="-120"/>
              </a:rPr>
              <a:t>public</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async</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82AAFF"/>
                </a:solidFill>
                <a:latin typeface="Consolas" pitchFamily="34" charset="0"/>
                <a:ea typeface="Consolas" pitchFamily="34" charset="-122"/>
                <a:cs typeface="Consolas" pitchFamily="34" charset="-120"/>
              </a:rPr>
              <a:t>updateItem</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list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itemId</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item</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00E5FF"/>
                </a:solidFill>
                <a:latin typeface="Consolas" pitchFamily="34" charset="0"/>
                <a:ea typeface="Consolas" pitchFamily="34" charset="-122"/>
                <a:cs typeface="Consolas" pitchFamily="34" charset="-120"/>
              </a:rPr>
              <a:t>Promise</a:t>
            </a:r>
            <a:pPr indent="0" marL="0">
              <a:buNone/>
            </a:pPr>
            <a:r>
              <a:rPr lang="en-US" sz="1400" dirty="0">
                <a:solidFill>
                  <a:srgbClr val="F0F4FF"/>
                </a:solidFill>
                <a:latin typeface="Consolas" pitchFamily="34" charset="0"/>
                <a:ea typeface="Consolas" pitchFamily="34" charset="-122"/>
                <a:cs typeface="Consolas" pitchFamily="34" charset="-120"/>
              </a:rPr>
              <a:t>&lt;</a:t>
            </a:r>
            <a:pPr indent="0" marL="0">
              <a:buNone/>
            </a:pPr>
            <a:r>
              <a:rPr lang="en-US" sz="1400" dirty="0">
                <a:solidFill>
                  <a:srgbClr val="00E5FF"/>
                </a:solidFill>
                <a:latin typeface="Consolas" pitchFamily="34" charset="0"/>
                <a:ea typeface="Consolas" pitchFamily="34" charset="-122"/>
                <a:cs typeface="Consolas" pitchFamily="34" charset="-120"/>
              </a:rPr>
              <a:t>IEventItem</a:t>
            </a:r>
            <a:pPr indent="0" marL="0">
              <a:buNone/>
            </a:pPr>
            <a:r>
              <a:rPr lang="en-US" sz="1400" dirty="0">
                <a:solidFill>
                  <a:srgbClr val="F0F4FF"/>
                </a:solidFill>
                <a:latin typeface="Consolas" pitchFamily="34" charset="0"/>
                <a:ea typeface="Consolas" pitchFamily="34" charset="-122"/>
                <a:cs typeface="Consolas" pitchFamily="34" charset="-120"/>
              </a:rPr>
              <a:t>&gt;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await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this</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sp</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web</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lists</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82AAFF"/>
                </a:solidFill>
                <a:latin typeface="Consolas" pitchFamily="34" charset="0"/>
                <a:ea typeface="Consolas" pitchFamily="34" charset="-122"/>
                <a:cs typeface="Consolas" pitchFamily="34" charset="-120"/>
              </a:rPr>
              <a:t>getByTitle</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list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title</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items</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82AAFF"/>
                </a:solidFill>
                <a:latin typeface="Consolas" pitchFamily="34" charset="0"/>
                <a:ea typeface="Consolas" pitchFamily="34" charset="-122"/>
                <a:cs typeface="Consolas" pitchFamily="34" charset="-120"/>
              </a:rPr>
              <a:t>getById</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itemId</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82AAFF"/>
                </a:solidFill>
                <a:latin typeface="Consolas" pitchFamily="34" charset="0"/>
                <a:ea typeface="Consolas" pitchFamily="34" charset="-122"/>
                <a:cs typeface="Consolas" pitchFamily="34" charset="-120"/>
              </a:rPr>
              <a:t>update</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82AAFF"/>
                </a:solidFill>
                <a:latin typeface="Consolas" pitchFamily="34" charset="0"/>
                <a:ea typeface="Consolas" pitchFamily="34" charset="-122"/>
                <a:cs typeface="Consolas" pitchFamily="34" charset="-120"/>
              </a:rPr>
              <a:t>toSpWritePayload</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item</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return</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item</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00E5FF"/>
                </a:solidFill>
                <a:latin typeface="Consolas" pitchFamily="34" charset="0"/>
                <a:ea typeface="Consolas" pitchFamily="34" charset="-122"/>
                <a:cs typeface="Consolas" pitchFamily="34" charset="-120"/>
              </a:rPr>
              <a:t>Id</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itemId</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p:txBody>
      </p:sp>
      <p:sp>
        <p:nvSpPr>
          <p:cNvPr id="6" name="Text 4"/>
          <p:cNvSpPr/>
          <p:nvPr/>
        </p:nvSpPr>
        <p:spPr>
          <a:xfrm>
            <a:off x="457200" y="4297680"/>
            <a:ext cx="11274552" cy="365760"/>
          </a:xfrm>
          <a:prstGeom prst="rect">
            <a:avLst/>
          </a:prstGeom>
          <a:noFill/>
          <a:ln/>
        </p:spPr>
        <p:txBody>
          <a:bodyPr wrap="square" rtlCol="0" anchor="ctr"/>
          <a:lstStyle/>
          <a:p>
            <a:pPr indent="0" marL="0">
              <a:buNone/>
            </a:pPr>
            <a:r>
              <a:rPr lang="en-US" sz="1400" b="1" dirty="0">
                <a:solidFill>
                  <a:srgbClr val="B580FF"/>
                </a:solidFill>
                <a:latin typeface="Calibri" pitchFamily="34" charset="0"/>
                <a:ea typeface="Calibri" pitchFamily="34" charset="-122"/>
                <a:cs typeface="Calibri" pitchFamily="34" charset="-120"/>
              </a:rPr>
              <a:t>Compare to SPFx</a:t>
            </a:r>
            <a:endParaRPr lang="en-US" sz="1400" dirty="0"/>
          </a:p>
        </p:txBody>
      </p:sp>
      <p:sp>
        <p:nvSpPr>
          <p:cNvPr id="7" name="Text 5"/>
          <p:cNvSpPr/>
          <p:nvPr/>
        </p:nvSpPr>
        <p:spPr>
          <a:xfrm>
            <a:off x="457200" y="4617720"/>
            <a:ext cx="11274552" cy="1280160"/>
          </a:xfrm>
          <a:prstGeom prst="rect">
            <a:avLst/>
          </a:prstGeom>
          <a:noFill/>
          <a:ln/>
        </p:spPr>
        <p:txBody>
          <a:bodyPr wrap="square" rtlCol="0" anchor="t"/>
          <a:lstStyle/>
          <a:p>
            <a:pPr marL="342900" indent="-342900">
              <a:spcAft>
                <a:spcPts val="400"/>
              </a:spcAft>
              <a:buSzPct val="100000"/>
              <a:buChar char="●"/>
            </a:pPr>
            <a:r>
              <a:rPr lang="en-US" sz="1600" dirty="0">
                <a:solidFill>
                  <a:srgbClr val="F0F4FF"/>
                </a:solidFill>
                <a:latin typeface="Calibri" pitchFamily="34" charset="0"/>
                <a:ea typeface="Calibri" pitchFamily="34" charset="-122"/>
                <a:cs typeface="Calibri" pitchFamily="34" charset="-120"/>
              </a:rPr>
              <a:t>No IF-MATCH header.</a:t>
            </a:r>
            <a:endParaRPr lang="en-US" sz="1600" dirty="0"/>
          </a:p>
          <a:p>
            <a:pPr marL="342900" indent="-342900">
              <a:spcAft>
                <a:spcPts val="400"/>
              </a:spcAft>
              <a:buSzPct val="100000"/>
              <a:buChar char="●"/>
            </a:pPr>
            <a:r>
              <a:rPr lang="en-US" sz="1600" dirty="0">
                <a:solidFill>
                  <a:srgbClr val="F0F4FF"/>
                </a:solidFill>
                <a:latin typeface="Calibri" pitchFamily="34" charset="0"/>
                <a:ea typeface="Calibri" pitchFamily="34" charset="-122"/>
                <a:cs typeface="Calibri" pitchFamily="34" charset="-120"/>
              </a:rPr>
              <a:t>No X-HTTP-Method: MERGE.</a:t>
            </a:r>
            <a:endParaRPr lang="en-US" sz="1600" dirty="0"/>
          </a:p>
          <a:p>
            <a:pPr marL="342900" indent="-342900">
              <a:spcAft>
                <a:spcPts val="400"/>
              </a:spcAft>
              <a:buSzPct val="100000"/>
              <a:buChar char="●"/>
            </a:pPr>
            <a:r>
              <a:rPr lang="en-US" sz="1600" dirty="0">
                <a:solidFill>
                  <a:srgbClr val="F0F4FF"/>
                </a:solidFill>
                <a:latin typeface="Calibri" pitchFamily="34" charset="0"/>
                <a:ea typeface="Calibri" pitchFamily="34" charset="-122"/>
                <a:cs typeface="Calibri" pitchFamily="34" charset="-120"/>
              </a:rPr>
              <a:t>No URL.</a:t>
            </a:r>
            <a:endParaRPr lang="en-US" sz="1600" dirty="0"/>
          </a:p>
        </p:txBody>
      </p:sp>
      <p:sp>
        <p:nvSpPr>
          <p:cNvPr id="8" name="Text 6"/>
          <p:cNvSpPr/>
          <p:nvPr/>
        </p:nvSpPr>
        <p:spPr>
          <a:xfrm>
            <a:off x="457200" y="5897880"/>
            <a:ext cx="11274552" cy="457200"/>
          </a:xfrm>
          <a:prstGeom prst="rect">
            <a:avLst/>
          </a:prstGeom>
          <a:noFill/>
          <a:ln/>
        </p:spPr>
        <p:txBody>
          <a:bodyPr wrap="square" rtlCol="0" anchor="ctr"/>
          <a:lstStyle/>
          <a:p>
            <a:pPr indent="0" marL="0">
              <a:buNone/>
            </a:pPr>
            <a:r>
              <a:rPr lang="en-US" sz="1300" i="1" dirty="0">
                <a:solidFill>
                  <a:srgbClr val="A4ADCE"/>
                </a:solidFill>
                <a:latin typeface="Calibri" pitchFamily="34" charset="0"/>
                <a:ea typeface="Calibri" pitchFamily="34" charset="-122"/>
                <a:cs typeface="Calibri" pitchFamily="34" charset="-120"/>
              </a:rPr>
              <a:t>Same toSpWritePayload mapper — that's a SharePoint shape problem, not an HTTP-client problem.</a:t>
            </a:r>
            <a:endParaRPr lang="en-US" sz="13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PnPjs: add</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Text 2"/>
          <p:cNvSpPr/>
          <p:nvPr/>
        </p:nvSpPr>
        <p:spPr>
          <a:xfrm>
            <a:off x="457200" y="1207008"/>
            <a:ext cx="11274552" cy="365760"/>
          </a:xfrm>
          <a:prstGeom prst="rect">
            <a:avLst/>
          </a:prstGeom>
          <a:noFill/>
          <a:ln/>
        </p:spPr>
        <p:txBody>
          <a:bodyPr wrap="square" rtlCol="0" anchor="ctr"/>
          <a:lstStyle/>
          <a:p>
            <a:pPr indent="0" marL="0">
              <a:buNone/>
            </a:pPr>
            <a:r>
              <a:rPr lang="en-US" sz="1600" i="1" dirty="0">
                <a:solidFill>
                  <a:srgbClr val="A4ADCE"/>
                </a:solidFill>
                <a:latin typeface="Calibri" pitchFamily="34" charset="0"/>
                <a:ea typeface="Calibri" pitchFamily="34" charset="-122"/>
                <a:cs typeface="Calibri" pitchFamily="34" charset="-120"/>
              </a:rPr>
              <a:t>Bonus — same .add() across SP and Graph</a:t>
            </a:r>
            <a:endParaRPr lang="en-US" sz="1600" dirty="0"/>
          </a:p>
        </p:txBody>
      </p:sp>
      <p:sp>
        <p:nvSpPr>
          <p:cNvPr id="5" name="Text 3"/>
          <p:cNvSpPr/>
          <p:nvPr/>
        </p:nvSpPr>
        <p:spPr>
          <a:xfrm>
            <a:off x="457200" y="1691640"/>
            <a:ext cx="5486400" cy="274320"/>
          </a:xfrm>
          <a:prstGeom prst="rect">
            <a:avLst/>
          </a:prstGeom>
          <a:noFill/>
          <a:ln/>
        </p:spPr>
        <p:txBody>
          <a:bodyPr wrap="square" rtlCol="0" anchor="ctr"/>
          <a:lstStyle/>
          <a:p>
            <a:pPr indent="0" marL="0">
              <a:buNone/>
            </a:pPr>
            <a:r>
              <a:rPr lang="en-US" sz="1400" b="1" dirty="0">
                <a:solidFill>
                  <a:srgbClr val="00E5FF"/>
                </a:solidFill>
                <a:latin typeface="Calibri" pitchFamily="34" charset="0"/>
                <a:ea typeface="Calibri" pitchFamily="34" charset="-122"/>
                <a:cs typeface="Calibri" pitchFamily="34" charset="-120"/>
              </a:rPr>
              <a:t>PnPjs SP</a:t>
            </a:r>
            <a:endParaRPr lang="en-US" sz="1400" dirty="0"/>
          </a:p>
        </p:txBody>
      </p:sp>
      <p:sp>
        <p:nvSpPr>
          <p:cNvPr id="6" name="Shape 4"/>
          <p:cNvSpPr/>
          <p:nvPr/>
        </p:nvSpPr>
        <p:spPr>
          <a:xfrm>
            <a:off x="457200" y="2011680"/>
            <a:ext cx="5632704" cy="2011680"/>
          </a:xfrm>
          <a:prstGeom prst="roundRect">
            <a:avLst>
              <a:gd name="adj" fmla="val 3636"/>
            </a:avLst>
          </a:prstGeom>
          <a:solidFill>
            <a:srgbClr val="141937"/>
          </a:solidFill>
          <a:ln w="9525">
            <a:solidFill>
              <a:srgbClr val="2A3258"/>
            </a:solidFill>
            <a:prstDash val="solid"/>
          </a:ln>
        </p:spPr>
      </p:sp>
      <p:sp>
        <p:nvSpPr>
          <p:cNvPr id="7" name="Text 5"/>
          <p:cNvSpPr/>
          <p:nvPr/>
        </p:nvSpPr>
        <p:spPr>
          <a:xfrm>
            <a:off x="621792" y="2121408"/>
            <a:ext cx="5303520" cy="1792224"/>
          </a:xfrm>
          <a:prstGeom prst="rect">
            <a:avLst/>
          </a:prstGeom>
          <a:noFill/>
          <a:ln/>
        </p:spPr>
        <p:txBody>
          <a:bodyPr wrap="square" rtlCol="0" anchor="t"/>
          <a:lstStyle/>
          <a:p>
            <a:pPr indent="0" marL="0">
              <a:buNone/>
            </a:pPr>
            <a:r>
              <a:rPr lang="en-US" sz="1200" dirty="0">
                <a:solidFill>
                  <a:srgbClr val="C678DD"/>
                </a:solidFill>
                <a:latin typeface="Consolas" pitchFamily="34" charset="0"/>
                <a:ea typeface="Consolas" pitchFamily="34" charset="-122"/>
                <a:cs typeface="Consolas" pitchFamily="34" charset="-120"/>
              </a:rPr>
              <a:t>const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result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await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this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sp</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web</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lists</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getByTitle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list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title</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items</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add</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toSpWritePayload</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item</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p:txBody>
      </p:sp>
      <p:sp>
        <p:nvSpPr>
          <p:cNvPr id="8" name="Text 6"/>
          <p:cNvSpPr/>
          <p:nvPr/>
        </p:nvSpPr>
        <p:spPr>
          <a:xfrm>
            <a:off x="6245352" y="1691640"/>
            <a:ext cx="5486400" cy="274320"/>
          </a:xfrm>
          <a:prstGeom prst="rect">
            <a:avLst/>
          </a:prstGeom>
          <a:noFill/>
          <a:ln/>
        </p:spPr>
        <p:txBody>
          <a:bodyPr wrap="square" rtlCol="0" anchor="ctr"/>
          <a:lstStyle/>
          <a:p>
            <a:pPr indent="0" marL="0">
              <a:buNone/>
            </a:pPr>
            <a:r>
              <a:rPr lang="en-US" sz="1400" b="1" dirty="0">
                <a:solidFill>
                  <a:srgbClr val="B580FF"/>
                </a:solidFill>
                <a:latin typeface="Calibri" pitchFamily="34" charset="0"/>
                <a:ea typeface="Calibri" pitchFamily="34" charset="-122"/>
                <a:cs typeface="Calibri" pitchFamily="34" charset="-120"/>
              </a:rPr>
              <a:t>PnPjs Graph</a:t>
            </a:r>
            <a:endParaRPr lang="en-US" sz="1400" dirty="0"/>
          </a:p>
        </p:txBody>
      </p:sp>
      <p:sp>
        <p:nvSpPr>
          <p:cNvPr id="9" name="Shape 7"/>
          <p:cNvSpPr/>
          <p:nvPr/>
        </p:nvSpPr>
        <p:spPr>
          <a:xfrm>
            <a:off x="6245352" y="2011680"/>
            <a:ext cx="5486400" cy="2011680"/>
          </a:xfrm>
          <a:prstGeom prst="roundRect">
            <a:avLst>
              <a:gd name="adj" fmla="val 3636"/>
            </a:avLst>
          </a:prstGeom>
          <a:solidFill>
            <a:srgbClr val="141937"/>
          </a:solidFill>
          <a:ln w="9525">
            <a:solidFill>
              <a:srgbClr val="2A3258"/>
            </a:solidFill>
            <a:prstDash val="solid"/>
          </a:ln>
        </p:spPr>
      </p:sp>
      <p:sp>
        <p:nvSpPr>
          <p:cNvPr id="10" name="Text 8"/>
          <p:cNvSpPr/>
          <p:nvPr/>
        </p:nvSpPr>
        <p:spPr>
          <a:xfrm>
            <a:off x="6409944" y="2121408"/>
            <a:ext cx="5157216" cy="1792224"/>
          </a:xfrm>
          <a:prstGeom prst="rect">
            <a:avLst/>
          </a:prstGeom>
          <a:noFill/>
          <a:ln/>
        </p:spPr>
        <p:txBody>
          <a:bodyPr wrap="square" rtlCol="0" anchor="t"/>
          <a:lstStyle/>
          <a:p>
            <a:pPr indent="0" marL="0">
              <a:buNone/>
            </a:pPr>
            <a:r>
              <a:rPr lang="en-US" sz="1200" dirty="0">
                <a:solidFill>
                  <a:srgbClr val="C678DD"/>
                </a:solidFill>
                <a:latin typeface="Consolas" pitchFamily="34" charset="0"/>
                <a:ea typeface="Consolas" pitchFamily="34" charset="-122"/>
                <a:cs typeface="Consolas" pitchFamily="34" charset="-120"/>
              </a:rPr>
              <a:t>await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this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graph</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sites</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getById</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C678DD"/>
                </a:solidFill>
                <a:latin typeface="Consolas" pitchFamily="34" charset="0"/>
                <a:ea typeface="Consolas" pitchFamily="34" charset="-122"/>
                <a:cs typeface="Consolas" pitchFamily="34" charset="-120"/>
              </a:rPr>
              <a:t>this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siteId</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lists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getById</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list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id</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items</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add</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fields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82AAFF"/>
                </a:solidFill>
                <a:latin typeface="Consolas" pitchFamily="34" charset="0"/>
                <a:ea typeface="Consolas" pitchFamily="34" charset="-122"/>
                <a:cs typeface="Consolas" pitchFamily="34" charset="-120"/>
              </a:rPr>
              <a:t>toGraphWriteFields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item</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p:txBody>
      </p:sp>
      <p:sp>
        <p:nvSpPr>
          <p:cNvPr id="11" name="Shape 9"/>
          <p:cNvSpPr/>
          <p:nvPr/>
        </p:nvSpPr>
        <p:spPr>
          <a:xfrm>
            <a:off x="457200" y="4297680"/>
            <a:ext cx="54864" cy="1280160"/>
          </a:xfrm>
          <a:prstGeom prst="rect">
            <a:avLst/>
          </a:prstGeom>
          <a:solidFill>
            <a:srgbClr val="00E5FF"/>
          </a:solidFill>
          <a:ln w="12700">
            <a:solidFill>
              <a:srgbClr val="00E5FF"/>
            </a:solidFill>
            <a:prstDash val="solid"/>
          </a:ln>
        </p:spPr>
      </p:sp>
      <p:sp>
        <p:nvSpPr>
          <p:cNvPr id="12" name="Text 10"/>
          <p:cNvSpPr/>
          <p:nvPr/>
        </p:nvSpPr>
        <p:spPr>
          <a:xfrm>
            <a:off x="685800" y="4297680"/>
            <a:ext cx="10972800" cy="1280160"/>
          </a:xfrm>
          <a:prstGeom prst="rect">
            <a:avLst/>
          </a:prstGeom>
          <a:noFill/>
          <a:ln/>
        </p:spPr>
        <p:txBody>
          <a:bodyPr wrap="square" rtlCol="0" anchor="ctr"/>
          <a:lstStyle/>
          <a:p>
            <a:pPr indent="0" marL="0">
              <a:spcAft>
                <a:spcPts val="400"/>
              </a:spcAft>
              <a:buNone/>
            </a:pPr>
            <a:r>
              <a:rPr lang="en-US" sz="2000" b="1" dirty="0">
                <a:solidFill>
                  <a:srgbClr val="F0F4FF"/>
                </a:solidFill>
                <a:latin typeface="Calibri" pitchFamily="34" charset="0"/>
                <a:ea typeface="Calibri" pitchFamily="34" charset="-122"/>
                <a:cs typeface="Calibri" pitchFamily="34" charset="-120"/>
              </a:rPr>
              <a:t>Same .add() verb across both APIs.</a:t>
            </a:r>
            <a:endParaRPr lang="en-US" sz="2000" dirty="0"/>
          </a:p>
          <a:p>
            <a:pPr indent="0" marL="0">
              <a:spcAft>
                <a:spcPts val="400"/>
              </a:spcAft>
              <a:buNone/>
            </a:pPr>
            <a:r>
              <a:rPr lang="en-US" sz="800" dirty="0">
                <a:solidFill>
                  <a:srgbClr val="000000"/>
                </a:solidFill>
                <a:latin typeface="Calibri" pitchFamily="34" charset="0"/>
                <a:ea typeface="Calibri" pitchFamily="34" charset="-122"/>
                <a:cs typeface="Calibri" pitchFamily="34" charset="-120"/>
              </a:rPr>
              <a:t> </a:t>
            </a:r>
            <a:endParaRPr lang="en-US" sz="2000" dirty="0"/>
          </a:p>
          <a:p>
            <a:pPr indent="0" marL="0">
              <a:spcAft>
                <a:spcPts val="400"/>
              </a:spcAft>
              <a:buNone/>
            </a:pPr>
            <a:r>
              <a:rPr lang="en-US" sz="1400" i="1" dirty="0">
                <a:solidFill>
                  <a:srgbClr val="00E5FF"/>
                </a:solidFill>
                <a:latin typeface="Calibri" pitchFamily="34" charset="0"/>
                <a:ea typeface="Calibri" pitchFamily="34" charset="-122"/>
                <a:cs typeface="Calibri" pitchFamily="34" charset="-120"/>
              </a:rPr>
              <a:t>The only difference is the path-builder chain — and that's the API surface, not the HTTP layer.</a:t>
            </a:r>
            <a:endParaRPr lang="en-US" sz="2000" dirty="0"/>
          </a:p>
        </p:txBody>
      </p:sp>
      <p:sp>
        <p:nvSpPr>
          <p:cNvPr id="13" name="Text 11"/>
          <p:cNvSpPr/>
          <p:nvPr/>
        </p:nvSpPr>
        <p:spPr>
          <a:xfrm>
            <a:off x="457200" y="5760720"/>
            <a:ext cx="11274552" cy="457200"/>
          </a:xfrm>
          <a:prstGeom prst="rect">
            <a:avLst/>
          </a:prstGeom>
          <a:noFill/>
          <a:ln/>
        </p:spPr>
        <p:txBody>
          <a:bodyPr wrap="square" rtlCol="0" anchor="ctr"/>
          <a:lstStyle/>
          <a:p>
            <a:pPr indent="0" marL="0">
              <a:buNone/>
            </a:pPr>
            <a:r>
              <a:rPr lang="en-US" sz="1200" i="1" dirty="0">
                <a:solidFill>
                  <a:srgbClr val="A4ADCE"/>
                </a:solidFill>
                <a:latin typeface="Calibri" pitchFamily="34" charset="0"/>
                <a:ea typeface="Calibri" pitchFamily="34" charset="-122"/>
                <a:cs typeface="Calibri" pitchFamily="34" charset="-120"/>
              </a:rPr>
              <a:t>Note: the Graph version still needs the { fields: … } envelope — PnPjs hides transport ceremony, not API shape.</a:t>
            </a:r>
            <a:endParaRPr lang="en-US" sz="12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PnPjs: delete</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Text 2"/>
          <p:cNvSpPr/>
          <p:nvPr/>
        </p:nvSpPr>
        <p:spPr>
          <a:xfrm>
            <a:off x="457200" y="1207008"/>
            <a:ext cx="11274552" cy="365760"/>
          </a:xfrm>
          <a:prstGeom prst="rect">
            <a:avLst/>
          </a:prstGeom>
          <a:noFill/>
          <a:ln/>
        </p:spPr>
        <p:txBody>
          <a:bodyPr wrap="square" rtlCol="0" anchor="ctr"/>
          <a:lstStyle/>
          <a:p>
            <a:pPr indent="0" marL="0">
              <a:buNone/>
            </a:pPr>
            <a:r>
              <a:rPr lang="en-US" sz="1600" i="1" dirty="0">
                <a:solidFill>
                  <a:srgbClr val="A4ADCE"/>
                </a:solidFill>
                <a:latin typeface="Calibri" pitchFamily="34" charset="0"/>
                <a:ea typeface="Calibri" pitchFamily="34" charset="-122"/>
                <a:cs typeface="Calibri" pitchFamily="34" charset="-120"/>
              </a:rPr>
              <a:t>Bonus — same .delete() across SP and Graph</a:t>
            </a:r>
            <a:endParaRPr lang="en-US" sz="1600" dirty="0"/>
          </a:p>
        </p:txBody>
      </p:sp>
      <p:sp>
        <p:nvSpPr>
          <p:cNvPr id="5" name="Text 3"/>
          <p:cNvSpPr/>
          <p:nvPr/>
        </p:nvSpPr>
        <p:spPr>
          <a:xfrm>
            <a:off x="457200" y="1691640"/>
            <a:ext cx="5486400" cy="274320"/>
          </a:xfrm>
          <a:prstGeom prst="rect">
            <a:avLst/>
          </a:prstGeom>
          <a:noFill/>
          <a:ln/>
        </p:spPr>
        <p:txBody>
          <a:bodyPr wrap="square" rtlCol="0" anchor="ctr"/>
          <a:lstStyle/>
          <a:p>
            <a:pPr indent="0" marL="0">
              <a:buNone/>
            </a:pPr>
            <a:r>
              <a:rPr lang="en-US" sz="1400" b="1" dirty="0">
                <a:solidFill>
                  <a:srgbClr val="00E5FF"/>
                </a:solidFill>
                <a:latin typeface="Calibri" pitchFamily="34" charset="0"/>
                <a:ea typeface="Calibri" pitchFamily="34" charset="-122"/>
                <a:cs typeface="Calibri" pitchFamily="34" charset="-120"/>
              </a:rPr>
              <a:t>PnPjs SP</a:t>
            </a:r>
            <a:endParaRPr lang="en-US" sz="1400" dirty="0"/>
          </a:p>
        </p:txBody>
      </p:sp>
      <p:sp>
        <p:nvSpPr>
          <p:cNvPr id="6" name="Shape 4"/>
          <p:cNvSpPr/>
          <p:nvPr/>
        </p:nvSpPr>
        <p:spPr>
          <a:xfrm>
            <a:off x="457200" y="2011680"/>
            <a:ext cx="5632704" cy="2011680"/>
          </a:xfrm>
          <a:prstGeom prst="roundRect">
            <a:avLst>
              <a:gd name="adj" fmla="val 3636"/>
            </a:avLst>
          </a:prstGeom>
          <a:solidFill>
            <a:srgbClr val="141937"/>
          </a:solidFill>
          <a:ln w="9525">
            <a:solidFill>
              <a:srgbClr val="2A3258"/>
            </a:solidFill>
            <a:prstDash val="solid"/>
          </a:ln>
        </p:spPr>
      </p:sp>
      <p:sp>
        <p:nvSpPr>
          <p:cNvPr id="7" name="Text 5"/>
          <p:cNvSpPr/>
          <p:nvPr/>
        </p:nvSpPr>
        <p:spPr>
          <a:xfrm>
            <a:off x="621792" y="2121408"/>
            <a:ext cx="5303520" cy="1792224"/>
          </a:xfrm>
          <a:prstGeom prst="rect">
            <a:avLst/>
          </a:prstGeom>
          <a:noFill/>
          <a:ln/>
        </p:spPr>
        <p:txBody>
          <a:bodyPr wrap="square" rtlCol="0" anchor="t"/>
          <a:lstStyle/>
          <a:p>
            <a:pPr indent="0" marL="0">
              <a:buNone/>
            </a:pPr>
            <a:r>
              <a:rPr lang="en-US" sz="1200" dirty="0">
                <a:solidFill>
                  <a:srgbClr val="C678DD"/>
                </a:solidFill>
                <a:latin typeface="Consolas" pitchFamily="34" charset="0"/>
                <a:ea typeface="Consolas" pitchFamily="34" charset="-122"/>
                <a:cs typeface="Consolas" pitchFamily="34" charset="-120"/>
              </a:rPr>
              <a:t>await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this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sp</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web</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lists</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getByTitle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list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title</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items</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getById</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itemId</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delete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p:txBody>
      </p:sp>
      <p:sp>
        <p:nvSpPr>
          <p:cNvPr id="8" name="Text 6"/>
          <p:cNvSpPr/>
          <p:nvPr/>
        </p:nvSpPr>
        <p:spPr>
          <a:xfrm>
            <a:off x="6245352" y="1691640"/>
            <a:ext cx="5486400" cy="274320"/>
          </a:xfrm>
          <a:prstGeom prst="rect">
            <a:avLst/>
          </a:prstGeom>
          <a:noFill/>
          <a:ln/>
        </p:spPr>
        <p:txBody>
          <a:bodyPr wrap="square" rtlCol="0" anchor="ctr"/>
          <a:lstStyle/>
          <a:p>
            <a:pPr indent="0" marL="0">
              <a:buNone/>
            </a:pPr>
            <a:r>
              <a:rPr lang="en-US" sz="1400" b="1" dirty="0">
                <a:solidFill>
                  <a:srgbClr val="B580FF"/>
                </a:solidFill>
                <a:latin typeface="Calibri" pitchFamily="34" charset="0"/>
                <a:ea typeface="Calibri" pitchFamily="34" charset="-122"/>
                <a:cs typeface="Calibri" pitchFamily="34" charset="-120"/>
              </a:rPr>
              <a:t>PnPjs Graph</a:t>
            </a:r>
            <a:endParaRPr lang="en-US" sz="1400" dirty="0"/>
          </a:p>
        </p:txBody>
      </p:sp>
      <p:sp>
        <p:nvSpPr>
          <p:cNvPr id="9" name="Shape 7"/>
          <p:cNvSpPr/>
          <p:nvPr/>
        </p:nvSpPr>
        <p:spPr>
          <a:xfrm>
            <a:off x="6245352" y="2011680"/>
            <a:ext cx="5486400" cy="2011680"/>
          </a:xfrm>
          <a:prstGeom prst="roundRect">
            <a:avLst>
              <a:gd name="adj" fmla="val 3636"/>
            </a:avLst>
          </a:prstGeom>
          <a:solidFill>
            <a:srgbClr val="141937"/>
          </a:solidFill>
          <a:ln w="9525">
            <a:solidFill>
              <a:srgbClr val="2A3258"/>
            </a:solidFill>
            <a:prstDash val="solid"/>
          </a:ln>
        </p:spPr>
      </p:sp>
      <p:sp>
        <p:nvSpPr>
          <p:cNvPr id="10" name="Text 8"/>
          <p:cNvSpPr/>
          <p:nvPr/>
        </p:nvSpPr>
        <p:spPr>
          <a:xfrm>
            <a:off x="6409944" y="2121408"/>
            <a:ext cx="5157216" cy="1792224"/>
          </a:xfrm>
          <a:prstGeom prst="rect">
            <a:avLst/>
          </a:prstGeom>
          <a:noFill/>
          <a:ln/>
        </p:spPr>
        <p:txBody>
          <a:bodyPr wrap="square" rtlCol="0" anchor="t"/>
          <a:lstStyle/>
          <a:p>
            <a:pPr indent="0" marL="0">
              <a:buNone/>
            </a:pPr>
            <a:r>
              <a:rPr lang="en-US" sz="1200" dirty="0">
                <a:solidFill>
                  <a:srgbClr val="C678DD"/>
                </a:solidFill>
                <a:latin typeface="Consolas" pitchFamily="34" charset="0"/>
                <a:ea typeface="Consolas" pitchFamily="34" charset="-122"/>
                <a:cs typeface="Consolas" pitchFamily="34" charset="-120"/>
              </a:rPr>
              <a:t>await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this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graph</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sites</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getById</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C678DD"/>
                </a:solidFill>
                <a:latin typeface="Consolas" pitchFamily="34" charset="0"/>
                <a:ea typeface="Consolas" pitchFamily="34" charset="-122"/>
                <a:cs typeface="Consolas" pitchFamily="34" charset="-120"/>
              </a:rPr>
              <a:t>this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siteId</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lists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getById</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list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id</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items</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getById</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itemId</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toString</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delete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p:txBody>
      </p:sp>
      <p:sp>
        <p:nvSpPr>
          <p:cNvPr id="11" name="Shape 9"/>
          <p:cNvSpPr/>
          <p:nvPr/>
        </p:nvSpPr>
        <p:spPr>
          <a:xfrm>
            <a:off x="457200" y="4297680"/>
            <a:ext cx="54864" cy="1463040"/>
          </a:xfrm>
          <a:prstGeom prst="rect">
            <a:avLst/>
          </a:prstGeom>
          <a:solidFill>
            <a:srgbClr val="00E5FF"/>
          </a:solidFill>
          <a:ln w="12700">
            <a:solidFill>
              <a:srgbClr val="00E5FF"/>
            </a:solidFill>
            <a:prstDash val="solid"/>
          </a:ln>
        </p:spPr>
      </p:sp>
      <p:sp>
        <p:nvSpPr>
          <p:cNvPr id="12" name="Text 10"/>
          <p:cNvSpPr/>
          <p:nvPr/>
        </p:nvSpPr>
        <p:spPr>
          <a:xfrm>
            <a:off x="685800" y="4297680"/>
            <a:ext cx="10972800" cy="1463040"/>
          </a:xfrm>
          <a:prstGeom prst="rect">
            <a:avLst/>
          </a:prstGeom>
          <a:noFill/>
          <a:ln/>
        </p:spPr>
        <p:txBody>
          <a:bodyPr wrap="square" rtlCol="0" anchor="ctr"/>
          <a:lstStyle/>
          <a:p>
            <a:pPr indent="0" marL="0">
              <a:spcAft>
                <a:spcPts val="400"/>
              </a:spcAft>
              <a:buNone/>
            </a:pPr>
            <a:r>
              <a:rPr lang="en-US" sz="2000" b="1" dirty="0">
                <a:solidFill>
                  <a:srgbClr val="F0F4FF"/>
                </a:solidFill>
                <a:latin typeface="Calibri" pitchFamily="34" charset="0"/>
                <a:ea typeface="Calibri" pitchFamily="34" charset="-122"/>
                <a:cs typeface="Calibri" pitchFamily="34" charset="-120"/>
              </a:rPr>
              <a:t>No URLs. No IF-MATCH. No X-HTTP-Method.</a:t>
            </a:r>
            <a:endParaRPr lang="en-US" sz="2000" dirty="0"/>
          </a:p>
          <a:p>
            <a:pPr indent="0" marL="0">
              <a:spcAft>
                <a:spcPts val="400"/>
              </a:spcAft>
              <a:buNone/>
            </a:pPr>
            <a:r>
              <a:rPr lang="en-US" sz="800" dirty="0">
                <a:solidFill>
                  <a:srgbClr val="000000"/>
                </a:solidFill>
                <a:latin typeface="Calibri" pitchFamily="34" charset="0"/>
                <a:ea typeface="Calibri" pitchFamily="34" charset="-122"/>
                <a:cs typeface="Calibri" pitchFamily="34" charset="-120"/>
              </a:rPr>
              <a:t> </a:t>
            </a:r>
            <a:endParaRPr lang="en-US" sz="2000" dirty="0"/>
          </a:p>
          <a:p>
            <a:pPr indent="0" marL="0">
              <a:spcAft>
                <a:spcPts val="400"/>
              </a:spcAft>
              <a:buNone/>
            </a:pPr>
            <a:r>
              <a:rPr lang="en-US" sz="1400" i="1" dirty="0">
                <a:solidFill>
                  <a:srgbClr val="00E5FF"/>
                </a:solidFill>
                <a:latin typeface="Calibri" pitchFamily="34" charset="0"/>
                <a:ea typeface="Calibri" pitchFamily="34" charset="-122"/>
                <a:cs typeface="Calibri" pitchFamily="34" charset="-120"/>
              </a:rPr>
              <a:t>PnPjs normalizes the verb across SP REST (which fakes DELETE via POST)</a:t>
            </a:r>
            <a:endParaRPr lang="en-US" sz="2000" dirty="0"/>
          </a:p>
          <a:p>
            <a:pPr indent="0" marL="0">
              <a:spcAft>
                <a:spcPts val="400"/>
              </a:spcAft>
              <a:buNone/>
            </a:pPr>
            <a:r>
              <a:rPr lang="en-US" sz="1400" i="1" dirty="0">
                <a:solidFill>
                  <a:srgbClr val="00E5FF"/>
                </a:solidFill>
                <a:latin typeface="Calibri" pitchFamily="34" charset="0"/>
                <a:ea typeface="Calibri" pitchFamily="34" charset="-122"/>
                <a:cs typeface="Calibri" pitchFamily="34" charset="-120"/>
              </a:rPr>
              <a:t>and Graph (which uses real DELETE). Same call site, different wire format.</a:t>
            </a:r>
            <a:endParaRPr lang="en-US" sz="20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PnPjs + Graph: same operations</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Shape 2"/>
          <p:cNvSpPr/>
          <p:nvPr/>
        </p:nvSpPr>
        <p:spPr>
          <a:xfrm>
            <a:off x="457200" y="1737360"/>
            <a:ext cx="11274552" cy="3200400"/>
          </a:xfrm>
          <a:prstGeom prst="roundRect">
            <a:avLst>
              <a:gd name="adj" fmla="val 2286"/>
            </a:avLst>
          </a:prstGeom>
          <a:solidFill>
            <a:srgbClr val="141937"/>
          </a:solidFill>
          <a:ln w="9525">
            <a:solidFill>
              <a:srgbClr val="2A3258"/>
            </a:solidFill>
            <a:prstDash val="solid"/>
          </a:ln>
        </p:spPr>
      </p:sp>
      <p:sp>
        <p:nvSpPr>
          <p:cNvPr id="5" name="Text 3"/>
          <p:cNvSpPr/>
          <p:nvPr/>
        </p:nvSpPr>
        <p:spPr>
          <a:xfrm>
            <a:off x="621792" y="1847088"/>
            <a:ext cx="10945368" cy="2980944"/>
          </a:xfrm>
          <a:prstGeom prst="rect">
            <a:avLst/>
          </a:prstGeom>
          <a:noFill/>
          <a:ln/>
        </p:spPr>
        <p:txBody>
          <a:bodyPr wrap="square" rtlCol="0" anchor="t"/>
          <a:lstStyle/>
          <a:p>
            <a:pPr indent="0" marL="0">
              <a:buNone/>
            </a:pPr>
            <a:r>
              <a:rPr lang="en-US" sz="1200" dirty="0">
                <a:solidFill>
                  <a:srgbClr val="C678DD"/>
                </a:solidFill>
                <a:latin typeface="Consolas" pitchFamily="34" charset="0"/>
                <a:ea typeface="Consolas" pitchFamily="34" charset="-122"/>
                <a:cs typeface="Consolas" pitchFamily="34" charset="-120"/>
              </a:rPr>
              <a:t>const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itemsQuery</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this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graph</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sites</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getById</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C678DD"/>
                </a:solidFill>
                <a:latin typeface="Consolas" pitchFamily="34" charset="0"/>
                <a:ea typeface="Consolas" pitchFamily="34" charset="-122"/>
                <a:cs typeface="Consolas" pitchFamily="34" charset="-120"/>
              </a:rPr>
              <a:t>this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siteId</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lists</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getById</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list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id</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items</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using</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00E5FF"/>
                </a:solidFill>
                <a:latin typeface="Consolas" pitchFamily="34" charset="0"/>
                <a:ea typeface="Consolas" pitchFamily="34" charset="-122"/>
                <a:cs typeface="Consolas" pitchFamily="34" charset="-120"/>
              </a:rPr>
              <a:t>InjectHeaders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00E5FF"/>
                </a:solidFill>
                <a:latin typeface="Consolas" pitchFamily="34" charset="0"/>
                <a:ea typeface="Consolas" pitchFamily="34" charset="-122"/>
                <a:cs typeface="Consolas" pitchFamily="34" charset="-120"/>
              </a:rPr>
              <a:t>Prefer</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98D894"/>
                </a:solidFill>
                <a:latin typeface="Consolas" pitchFamily="34" charset="0"/>
                <a:ea typeface="Consolas" pitchFamily="34" charset="-122"/>
                <a:cs typeface="Consolas" pitchFamily="34" charset="-120"/>
              </a:rPr>
              <a:t>'HonorNonIndexedQueriesWarningMayFailRandomly'</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itemsQuery</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query</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set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'expand'</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98D894"/>
                </a:solidFill>
                <a:latin typeface="Consolas" pitchFamily="34" charset="0"/>
                <a:ea typeface="Consolas" pitchFamily="34" charset="-122"/>
                <a:cs typeface="Consolas" pitchFamily="34" charset="-120"/>
              </a:rPr>
              <a:t>`fields(select=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00E5FF"/>
                </a:solidFill>
                <a:latin typeface="Consolas" pitchFamily="34" charset="0"/>
                <a:ea typeface="Consolas" pitchFamily="34" charset="-122"/>
                <a:cs typeface="Consolas" pitchFamily="34" charset="-120"/>
              </a:rPr>
              <a:t>GRAPH_FIELD_SELECT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itemsQuery</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query</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set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'$filter'</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98D894"/>
                </a:solidFill>
                <a:latin typeface="Consolas" pitchFamily="34" charset="0"/>
                <a:ea typeface="Consolas" pitchFamily="34" charset="-122"/>
                <a:cs typeface="Consolas" pitchFamily="34" charset="-120"/>
              </a:rPr>
              <a:t>`fields/SessionDate ge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startOfTodayIsoNoMs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itemsQuery</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query</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set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'$orderby'</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98D894"/>
                </a:solidFill>
                <a:latin typeface="Consolas" pitchFamily="34" charset="0"/>
                <a:ea typeface="Consolas" pitchFamily="34" charset="-122"/>
                <a:cs typeface="Consolas" pitchFamily="34" charset="-120"/>
              </a:rPr>
              <a:t>'fields/SessionDate asc'</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C678DD"/>
                </a:solidFill>
                <a:latin typeface="Consolas" pitchFamily="34" charset="0"/>
                <a:ea typeface="Consolas" pitchFamily="34" charset="-122"/>
                <a:cs typeface="Consolas" pitchFamily="34" charset="-120"/>
              </a:rPr>
              <a:t>const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items</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await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82AAFF"/>
                </a:solidFill>
                <a:latin typeface="Consolas" pitchFamily="34" charset="0"/>
                <a:ea typeface="Consolas" pitchFamily="34" charset="-122"/>
                <a:cs typeface="Consolas" pitchFamily="34" charset="-120"/>
              </a:rPr>
              <a:t>itemsQuery</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as</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00E5FF"/>
                </a:solidFill>
                <a:latin typeface="Consolas" pitchFamily="34" charset="0"/>
                <a:ea typeface="Consolas" pitchFamily="34" charset="-122"/>
                <a:cs typeface="Consolas" pitchFamily="34" charset="-120"/>
              </a:rPr>
              <a:t>IGraphListItem</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p:txBody>
      </p:sp>
      <p:sp>
        <p:nvSpPr>
          <p:cNvPr id="6" name="Text 4"/>
          <p:cNvSpPr/>
          <p:nvPr/>
        </p:nvSpPr>
        <p:spPr>
          <a:xfrm>
            <a:off x="457200" y="5120640"/>
            <a:ext cx="11274552" cy="365760"/>
          </a:xfrm>
          <a:prstGeom prst="rect">
            <a:avLst/>
          </a:prstGeom>
          <a:noFill/>
          <a:ln/>
        </p:spPr>
        <p:txBody>
          <a:bodyPr wrap="square" rtlCol="0" anchor="ctr"/>
          <a:lstStyle/>
          <a:p>
            <a:pPr indent="0" marL="0">
              <a:buNone/>
            </a:pPr>
            <a:r>
              <a:rPr lang="en-US" sz="1400" b="1" dirty="0">
                <a:solidFill>
                  <a:srgbClr val="FFB347"/>
                </a:solidFill>
                <a:latin typeface="Calibri" pitchFamily="34" charset="0"/>
                <a:ea typeface="Calibri" pitchFamily="34" charset="-122"/>
                <a:cs typeface="Calibri" pitchFamily="34" charset="-120"/>
              </a:rPr>
              <a:t>Honesty check</a:t>
            </a:r>
            <a:endParaRPr lang="en-US" sz="1400" dirty="0"/>
          </a:p>
        </p:txBody>
      </p:sp>
      <p:sp>
        <p:nvSpPr>
          <p:cNvPr id="7" name="Text 5"/>
          <p:cNvSpPr/>
          <p:nvPr/>
        </p:nvSpPr>
        <p:spPr>
          <a:xfrm>
            <a:off x="457200" y="5440680"/>
            <a:ext cx="11274552" cy="822960"/>
          </a:xfrm>
          <a:prstGeom prst="rect">
            <a:avLst/>
          </a:prstGeom>
          <a:noFill/>
          <a:ln/>
        </p:spPr>
        <p:txBody>
          <a:bodyPr wrap="square" rtlCol="0" anchor="t"/>
          <a:lstStyle/>
          <a:p>
            <a:pPr indent="0" marL="0">
              <a:buNone/>
            </a:pPr>
            <a:r>
              <a:rPr lang="en-US" sz="1400" dirty="0">
                <a:solidFill>
                  <a:srgbClr val="F0F4FF"/>
                </a:solidFill>
                <a:latin typeface="Calibri" pitchFamily="34" charset="0"/>
                <a:ea typeface="Calibri" pitchFamily="34" charset="-122"/>
                <a:cs typeface="Calibri" pitchFamily="34" charset="-120"/>
              </a:rPr>
              <a:t>The Graph SP-list awkwardness is a Graph problem, not a PnPjs problem. Both clients have to deal with it. PnPjs at least gives you InjectHeaders and a query builder.</a:t>
            </a:r>
            <a:endParaRPr lang="en-US" sz="1400" dirty="0"/>
          </a:p>
        </p:txBody>
      </p:sp>
      <p:sp>
        <p:nvSpPr>
          <p:cNvPr id="8" name="Text 6"/>
          <p:cNvSpPr/>
          <p:nvPr/>
        </p:nvSpPr>
        <p:spPr>
          <a:xfrm>
            <a:off x="10058400" y="5989320"/>
            <a:ext cx="1673352" cy="320040"/>
          </a:xfrm>
          <a:prstGeom prst="rect">
            <a:avLst/>
          </a:prstGeom>
          <a:noFill/>
          <a:ln/>
        </p:spPr>
        <p:txBody>
          <a:bodyPr wrap="square" rtlCol="0" anchor="ctr"/>
          <a:lstStyle/>
          <a:p>
            <a:pPr algn="r" indent="0" marL="0">
              <a:buNone/>
            </a:pPr>
            <a:r>
              <a:rPr lang="en-US" sz="1200" b="1" dirty="0">
                <a:solidFill>
                  <a:srgbClr val="00E5FF"/>
                </a:solidFill>
                <a:latin typeface="Calibri" pitchFamily="34" charset="0"/>
                <a:ea typeface="Calibri" pitchFamily="34" charset="-122"/>
                <a:cs typeface="Calibri" pitchFamily="34" charset="-120"/>
              </a:rPr>
              <a:t>▶ Demo 6</a:t>
            </a:r>
            <a:endParaRPr lang="en-US" sz="12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PnPjs + anonymous</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Text 2"/>
          <p:cNvSpPr/>
          <p:nvPr/>
        </p:nvSpPr>
        <p:spPr>
          <a:xfrm>
            <a:off x="457200" y="1207008"/>
            <a:ext cx="11274552" cy="365760"/>
          </a:xfrm>
          <a:prstGeom prst="rect">
            <a:avLst/>
          </a:prstGeom>
          <a:noFill/>
          <a:ln/>
        </p:spPr>
        <p:txBody>
          <a:bodyPr wrap="square" rtlCol="0" anchor="ctr"/>
          <a:lstStyle/>
          <a:p>
            <a:pPr indent="0" marL="0">
              <a:buNone/>
            </a:pPr>
            <a:r>
              <a:rPr lang="en-US" sz="1600" i="1" dirty="0">
                <a:solidFill>
                  <a:srgbClr val="A4ADCE"/>
                </a:solidFill>
                <a:latin typeface="Calibri" pitchFamily="34" charset="0"/>
                <a:ea typeface="Calibri" pitchFamily="34" charset="-122"/>
                <a:cs typeface="Calibri" pitchFamily="34" charset="-120"/>
              </a:rPr>
              <a:t>Yes, that works too</a:t>
            </a:r>
            <a:endParaRPr lang="en-US" sz="1600" dirty="0"/>
          </a:p>
        </p:txBody>
      </p:sp>
      <p:sp>
        <p:nvSpPr>
          <p:cNvPr id="5" name="Shape 3"/>
          <p:cNvSpPr/>
          <p:nvPr/>
        </p:nvSpPr>
        <p:spPr>
          <a:xfrm>
            <a:off x="457200" y="1828800"/>
            <a:ext cx="11274552" cy="1554480"/>
          </a:xfrm>
          <a:prstGeom prst="roundRect">
            <a:avLst>
              <a:gd name="adj" fmla="val 4706"/>
            </a:avLst>
          </a:prstGeom>
          <a:solidFill>
            <a:srgbClr val="141937"/>
          </a:solidFill>
          <a:ln w="9525">
            <a:solidFill>
              <a:srgbClr val="2A3258"/>
            </a:solidFill>
            <a:prstDash val="solid"/>
          </a:ln>
        </p:spPr>
      </p:sp>
      <p:sp>
        <p:nvSpPr>
          <p:cNvPr id="6" name="Text 4"/>
          <p:cNvSpPr/>
          <p:nvPr/>
        </p:nvSpPr>
        <p:spPr>
          <a:xfrm>
            <a:off x="621792" y="1938528"/>
            <a:ext cx="10945368" cy="1335024"/>
          </a:xfrm>
          <a:prstGeom prst="rect">
            <a:avLst/>
          </a:prstGeom>
          <a:noFill/>
          <a:ln/>
        </p:spPr>
        <p:txBody>
          <a:bodyPr wrap="square" rtlCol="0" anchor="t"/>
          <a:lstStyle/>
          <a:p>
            <a:pPr indent="0" marL="0">
              <a:buNone/>
            </a:pPr>
            <a:r>
              <a:rPr lang="en-US" sz="1400" dirty="0">
                <a:solidFill>
                  <a:srgbClr val="C678DD"/>
                </a:solidFill>
                <a:latin typeface="Consolas" pitchFamily="34" charset="0"/>
                <a:ea typeface="Consolas" pitchFamily="34" charset="-122"/>
                <a:cs typeface="Consolas" pitchFamily="34" charset="-120"/>
              </a:rPr>
              <a:t>const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q</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new</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00E5FF"/>
                </a:solidFill>
                <a:latin typeface="Consolas" pitchFamily="34" charset="0"/>
                <a:ea typeface="Consolas" pitchFamily="34" charset="-122"/>
                <a:cs typeface="Consolas" pitchFamily="34" charset="-120"/>
              </a:rPr>
              <a:t>Queryable</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98D894"/>
                </a:solidFill>
                <a:latin typeface="Consolas" pitchFamily="34" charset="0"/>
                <a:ea typeface="Consolas" pitchFamily="34" charset="-122"/>
                <a:cs typeface="Consolas" pitchFamily="34" charset="-120"/>
              </a:rPr>
              <a:t>'https://official-joke-api.appspot.com/random_joke'</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F0F4FF"/>
                </a:solidFill>
                <a:latin typeface="Consolas" pitchFamily="34" charset="0"/>
                <a:ea typeface="Consolas" pitchFamily="34" charset="-122"/>
                <a:cs typeface="Consolas" pitchFamily="34" charset="-120"/>
              </a:rPr>
              <a:t>q</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82AAFF"/>
                </a:solidFill>
                <a:latin typeface="Consolas" pitchFamily="34" charset="0"/>
                <a:ea typeface="Consolas" pitchFamily="34" charset="-122"/>
                <a:cs typeface="Consolas" pitchFamily="34" charset="-120"/>
              </a:rPr>
              <a:t>using</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00E5FF"/>
                </a:solidFill>
                <a:latin typeface="Consolas" pitchFamily="34" charset="0"/>
                <a:ea typeface="Consolas" pitchFamily="34" charset="-122"/>
                <a:cs typeface="Consolas" pitchFamily="34" charset="-120"/>
              </a:rPr>
              <a:t>BrowserFetch</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00E5FF"/>
                </a:solidFill>
                <a:latin typeface="Consolas" pitchFamily="34" charset="0"/>
                <a:ea typeface="Consolas" pitchFamily="34" charset="-122"/>
                <a:cs typeface="Consolas" pitchFamily="34" charset="-120"/>
              </a:rPr>
              <a:t>RejectOnError</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00E5FF"/>
                </a:solidFill>
                <a:latin typeface="Consolas" pitchFamily="34" charset="0"/>
                <a:ea typeface="Consolas" pitchFamily="34" charset="-122"/>
                <a:cs typeface="Consolas" pitchFamily="34" charset="-120"/>
              </a:rPr>
              <a:t>ResolveOnData</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00E5FF"/>
                </a:solidFill>
                <a:latin typeface="Consolas" pitchFamily="34" charset="0"/>
                <a:ea typeface="Consolas" pitchFamily="34" charset="-122"/>
                <a:cs typeface="Consolas" pitchFamily="34" charset="-120"/>
              </a:rPr>
              <a:t>JSONParse</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C678DD"/>
                </a:solidFill>
                <a:latin typeface="Consolas" pitchFamily="34" charset="0"/>
                <a:ea typeface="Consolas" pitchFamily="34" charset="-122"/>
                <a:cs typeface="Consolas" pitchFamily="34" charset="-120"/>
              </a:rPr>
              <a:t>const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joke</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00E5FF"/>
                </a:solidFill>
                <a:latin typeface="Consolas" pitchFamily="34" charset="0"/>
                <a:ea typeface="Consolas" pitchFamily="34" charset="-122"/>
                <a:cs typeface="Consolas" pitchFamily="34" charset="-120"/>
              </a:rPr>
              <a:t>IJokeResponse</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C678DD"/>
                </a:solidFill>
                <a:latin typeface="Consolas" pitchFamily="34" charset="0"/>
                <a:ea typeface="Consolas" pitchFamily="34" charset="-122"/>
                <a:cs typeface="Consolas" pitchFamily="34" charset="-120"/>
              </a:rPr>
              <a:t>await</a:t>
            </a:r>
            <a:pPr indent="0" marL="0">
              <a:buNone/>
            </a:pPr>
            <a:r>
              <a:rPr lang="en-US" sz="1400" dirty="0">
                <a:solidFill>
                  <a:srgbClr val="F0F4FF"/>
                </a:solidFill>
                <a:latin typeface="Consolas" pitchFamily="34" charset="0"/>
                <a:ea typeface="Consolas" pitchFamily="34" charset="-122"/>
                <a:cs typeface="Consolas" pitchFamily="34" charset="-120"/>
              </a:rPr>
              <a:t> </a:t>
            </a:r>
            <a:pPr indent="0" marL="0">
              <a:buNone/>
            </a:pPr>
            <a:r>
              <a:rPr lang="en-US" sz="1400" dirty="0">
                <a:solidFill>
                  <a:srgbClr val="82AAFF"/>
                </a:solidFill>
                <a:latin typeface="Consolas" pitchFamily="34" charset="0"/>
                <a:ea typeface="Consolas" pitchFamily="34" charset="-122"/>
                <a:cs typeface="Consolas" pitchFamily="34" charset="-120"/>
              </a:rPr>
              <a:t>q</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pPr indent="0" marL="0">
              <a:buNone/>
            </a:pPr>
            <a:r>
              <a:rPr lang="en-US" sz="1400" dirty="0">
                <a:solidFill>
                  <a:srgbClr val="F0F4FF"/>
                </a:solidFill>
                <a:latin typeface="Consolas" pitchFamily="34" charset="0"/>
                <a:ea typeface="Consolas" pitchFamily="34" charset="-122"/>
                <a:cs typeface="Consolas" pitchFamily="34" charset="-120"/>
              </a:rPr>
              <a:t>;</a:t>
            </a:r>
            <a:endParaRPr lang="en-US" sz="1400" dirty="0"/>
          </a:p>
        </p:txBody>
      </p:sp>
      <p:sp>
        <p:nvSpPr>
          <p:cNvPr id="7" name="Text 5"/>
          <p:cNvSpPr/>
          <p:nvPr/>
        </p:nvSpPr>
        <p:spPr>
          <a:xfrm>
            <a:off x="457200" y="3657600"/>
            <a:ext cx="11274552" cy="640080"/>
          </a:xfrm>
          <a:prstGeom prst="rect">
            <a:avLst/>
          </a:prstGeom>
          <a:noFill/>
          <a:ln/>
        </p:spPr>
        <p:txBody>
          <a:bodyPr wrap="square" rtlCol="0" anchor="t"/>
          <a:lstStyle/>
          <a:p>
            <a:pPr indent="0" marL="0">
              <a:buNone/>
            </a:pPr>
            <a:r>
              <a:rPr lang="en-US" sz="1600" dirty="0">
                <a:solidFill>
                  <a:srgbClr val="F0F4FF"/>
                </a:solidFill>
                <a:latin typeface="Calibri" pitchFamily="34" charset="0"/>
                <a:ea typeface="Calibri" pitchFamily="34" charset="-122"/>
                <a:cs typeface="Calibri" pitchFamily="34" charset="-120"/>
              </a:rPr>
              <a:t>The same pipeline that talks to SharePoint can talk to anything. You just compose the behaviors you need.</a:t>
            </a:r>
            <a:endParaRPr lang="en-US" sz="1600" dirty="0"/>
          </a:p>
        </p:txBody>
      </p:sp>
      <p:sp>
        <p:nvSpPr>
          <p:cNvPr id="8" name="Text 6"/>
          <p:cNvSpPr/>
          <p:nvPr/>
        </p:nvSpPr>
        <p:spPr>
          <a:xfrm>
            <a:off x="457200" y="4434840"/>
            <a:ext cx="11274552" cy="457200"/>
          </a:xfrm>
          <a:prstGeom prst="rect">
            <a:avLst/>
          </a:prstGeom>
          <a:noFill/>
          <a:ln/>
        </p:spPr>
        <p:txBody>
          <a:bodyPr wrap="square" rtlCol="0" anchor="ctr"/>
          <a:lstStyle/>
          <a:p>
            <a:pPr indent="0" marL="0">
              <a:buNone/>
            </a:pPr>
            <a:r>
              <a:rPr lang="en-US" sz="1300" i="1" dirty="0">
                <a:solidFill>
                  <a:srgbClr val="A4ADCE"/>
                </a:solidFill>
                <a:latin typeface="Calibri" pitchFamily="34" charset="0"/>
                <a:ea typeface="Calibri" pitchFamily="34" charset="-122"/>
                <a:cs typeface="Calibri" pitchFamily="34" charset="-120"/>
              </a:rPr>
              <a:t>Real-world note: strip X-PnPjs-RequestId on external calls to avoid CORS preflight — see the source.</a:t>
            </a:r>
            <a:endParaRPr lang="en-US" sz="13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The free upgrades</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Text 2"/>
          <p:cNvSpPr/>
          <p:nvPr/>
        </p:nvSpPr>
        <p:spPr>
          <a:xfrm>
            <a:off x="457200" y="1207008"/>
            <a:ext cx="11274552" cy="365760"/>
          </a:xfrm>
          <a:prstGeom prst="rect">
            <a:avLst/>
          </a:prstGeom>
          <a:noFill/>
          <a:ln/>
        </p:spPr>
        <p:txBody>
          <a:bodyPr wrap="square" rtlCol="0" anchor="ctr"/>
          <a:lstStyle/>
          <a:p>
            <a:pPr indent="0" marL="0">
              <a:buNone/>
            </a:pPr>
            <a:r>
              <a:rPr lang="en-US" sz="1600" i="1" dirty="0">
                <a:solidFill>
                  <a:srgbClr val="A4ADCE"/>
                </a:solidFill>
                <a:latin typeface="Calibri" pitchFamily="34" charset="0"/>
                <a:ea typeface="Calibri" pitchFamily="34" charset="-122"/>
                <a:cs typeface="Calibri" pitchFamily="34" charset="-120"/>
              </a:rPr>
              <a:t>Three toggles. Three real problems gone.</a:t>
            </a:r>
            <a:endParaRPr lang="en-US" sz="1600" dirty="0"/>
          </a:p>
        </p:txBody>
      </p:sp>
      <p:sp>
        <p:nvSpPr>
          <p:cNvPr id="5" name="Shape 3"/>
          <p:cNvSpPr/>
          <p:nvPr/>
        </p:nvSpPr>
        <p:spPr>
          <a:xfrm>
            <a:off x="457200" y="1737360"/>
            <a:ext cx="11274552" cy="4114800"/>
          </a:xfrm>
          <a:prstGeom prst="roundRect">
            <a:avLst>
              <a:gd name="adj" fmla="val 1778"/>
            </a:avLst>
          </a:prstGeom>
          <a:solidFill>
            <a:srgbClr val="141937"/>
          </a:solidFill>
          <a:ln w="9525">
            <a:solidFill>
              <a:srgbClr val="2A3258"/>
            </a:solidFill>
            <a:prstDash val="solid"/>
          </a:ln>
        </p:spPr>
      </p:sp>
      <p:sp>
        <p:nvSpPr>
          <p:cNvPr id="6" name="Text 4"/>
          <p:cNvSpPr/>
          <p:nvPr/>
        </p:nvSpPr>
        <p:spPr>
          <a:xfrm>
            <a:off x="621792" y="1847088"/>
            <a:ext cx="10945368" cy="3895344"/>
          </a:xfrm>
          <a:prstGeom prst="rect">
            <a:avLst/>
          </a:prstGeom>
          <a:noFill/>
          <a:ln/>
        </p:spPr>
        <p:txBody>
          <a:bodyPr wrap="square" rtlCol="0" anchor="t"/>
          <a:lstStyle/>
          <a:p>
            <a:pPr indent="0" marL="0">
              <a:buNone/>
            </a:pPr>
            <a:r>
              <a:rPr lang="en-US" sz="1100" dirty="0">
                <a:solidFill>
                  <a:srgbClr val="6B7299"/>
                </a:solidFill>
                <a:latin typeface="Consolas" pitchFamily="34" charset="0"/>
                <a:ea typeface="Consolas" pitchFamily="34" charset="-122"/>
                <a:cs typeface="Consolas" pitchFamily="34" charset="-120"/>
              </a:rPr>
              <a:t>// 1. Logging — @pnp/logging wrapped once; level driven by a property-pane toggle.</a:t>
            </a:r>
            <a:endParaRPr lang="en-US" sz="1100" dirty="0"/>
          </a:p>
          <a:p>
            <a:pPr indent="0" marL="0">
              <a:buNone/>
            </a:pPr>
            <a:r>
              <a:rPr lang="en-US" sz="1100" dirty="0">
                <a:solidFill>
                  <a:srgbClr val="00E5FF"/>
                </a:solidFill>
                <a:latin typeface="Consolas" pitchFamily="34" charset="0"/>
                <a:ea typeface="Consolas" pitchFamily="34" charset="-122"/>
                <a:cs typeface="Consolas" pitchFamily="34" charset="-120"/>
              </a:rPr>
              <a:t>Logger</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82AAFF"/>
                </a:solidFill>
                <a:latin typeface="Consolas" pitchFamily="34" charset="0"/>
                <a:ea typeface="Consolas" pitchFamily="34" charset="-122"/>
                <a:cs typeface="Consolas" pitchFamily="34" charset="-120"/>
              </a:rPr>
              <a:t>attachConsoleListener</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00E5FF"/>
                </a:solidFill>
                <a:latin typeface="Consolas" pitchFamily="34" charset="0"/>
                <a:ea typeface="Consolas" pitchFamily="34" charset="-122"/>
                <a:cs typeface="Consolas" pitchFamily="34" charset="-120"/>
              </a:rPr>
              <a:t>Logger</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82AAFF"/>
                </a:solidFill>
                <a:latin typeface="Consolas" pitchFamily="34" charset="0"/>
                <a:ea typeface="Consolas" pitchFamily="34" charset="-122"/>
                <a:cs typeface="Consolas" pitchFamily="34" charset="-120"/>
              </a:rPr>
              <a:t>setLevel</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C678DD"/>
                </a:solidFill>
                <a:latin typeface="Consolas" pitchFamily="34" charset="0"/>
                <a:ea typeface="Consolas" pitchFamily="34" charset="-122"/>
                <a:cs typeface="Consolas" pitchFamily="34" charset="-120"/>
              </a:rPr>
              <a:t>this</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properties</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enhancedLogging</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00E5FF"/>
                </a:solidFill>
                <a:latin typeface="Consolas" pitchFamily="34" charset="0"/>
                <a:ea typeface="Consolas" pitchFamily="34" charset="-122"/>
                <a:cs typeface="Consolas" pitchFamily="34" charset="-120"/>
              </a:rPr>
              <a:t>LogLevel</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00E5FF"/>
                </a:solidFill>
                <a:latin typeface="Consolas" pitchFamily="34" charset="0"/>
                <a:ea typeface="Consolas" pitchFamily="34" charset="-122"/>
                <a:cs typeface="Consolas" pitchFamily="34" charset="-120"/>
              </a:rPr>
              <a:t>Verbose</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00E5FF"/>
                </a:solidFill>
                <a:latin typeface="Consolas" pitchFamily="34" charset="0"/>
                <a:ea typeface="Consolas" pitchFamily="34" charset="-122"/>
                <a:cs typeface="Consolas" pitchFamily="34" charset="-120"/>
              </a:rPr>
              <a:t>LogLevel</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00E5FF"/>
                </a:solidFill>
                <a:latin typeface="Consolas" pitchFamily="34" charset="0"/>
                <a:ea typeface="Consolas" pitchFamily="34" charset="-122"/>
                <a:cs typeface="Consolas" pitchFamily="34" charset="-120"/>
              </a:rPr>
              <a:t>Warning</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0F4F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6B7299"/>
                </a:solidFill>
                <a:latin typeface="Consolas" pitchFamily="34" charset="0"/>
                <a:ea typeface="Consolas" pitchFamily="34" charset="-122"/>
                <a:cs typeface="Consolas" pitchFamily="34" charset="-120"/>
              </a:rPr>
              <a:t>// 2. Caching — one line on the SPFI, toggled by un/commenting in ServiceFactory.</a:t>
            </a:r>
            <a:endParaRPr lang="en-US" sz="1100" dirty="0"/>
          </a:p>
          <a:p>
            <a:pPr indent="0" marL="0">
              <a:buNone/>
            </a:pPr>
            <a:r>
              <a:rPr lang="en-US" sz="1100" dirty="0">
                <a:solidFill>
                  <a:srgbClr val="C678DD"/>
                </a:solidFill>
                <a:latin typeface="Consolas" pitchFamily="34" charset="0"/>
                <a:ea typeface="Consolas" pitchFamily="34" charset="-122"/>
                <a:cs typeface="Consolas" pitchFamily="34" charset="-120"/>
              </a:rPr>
              <a:t>const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sp</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82AAFF"/>
                </a:solidFill>
                <a:latin typeface="Consolas" pitchFamily="34" charset="0"/>
                <a:ea typeface="Consolas" pitchFamily="34" charset="-122"/>
                <a:cs typeface="Consolas" pitchFamily="34" charset="-120"/>
              </a:rPr>
              <a:t>spfi</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siteUrl</a:t>
            </a:r>
            <a:pPr indent="0" marL="0">
              <a:buNone/>
            </a:pPr>
            <a:r>
              <a:rPr lang="en-US" sz="1100" dirty="0">
                <a:solidFill>
                  <a:srgbClr val="F0F4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82AAFF"/>
                </a:solidFill>
                <a:latin typeface="Consolas" pitchFamily="34" charset="0"/>
                <a:ea typeface="Consolas" pitchFamily="34" charset="-122"/>
                <a:cs typeface="Consolas" pitchFamily="34" charset="-120"/>
              </a:rPr>
              <a:t>using</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82AAFF"/>
                </a:solidFill>
                <a:latin typeface="Consolas" pitchFamily="34" charset="0"/>
                <a:ea typeface="Consolas" pitchFamily="34" charset="-122"/>
                <a:cs typeface="Consolas" pitchFamily="34" charset="-120"/>
              </a:rPr>
              <a:t>spSPFx</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C678DD"/>
                </a:solidFill>
                <a:latin typeface="Consolas" pitchFamily="34" charset="0"/>
                <a:ea typeface="Consolas" pitchFamily="34" charset="-122"/>
                <a:cs typeface="Consolas" pitchFamily="34" charset="-120"/>
              </a:rPr>
              <a:t>this</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context</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82AAFF"/>
                </a:solidFill>
                <a:latin typeface="Consolas" pitchFamily="34" charset="0"/>
                <a:ea typeface="Consolas" pitchFamily="34" charset="-122"/>
                <a:cs typeface="Consolas" pitchFamily="34" charset="-120"/>
              </a:rPr>
              <a:t>using</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00E5FF"/>
                </a:solidFill>
                <a:latin typeface="Consolas" pitchFamily="34" charset="0"/>
                <a:ea typeface="Consolas" pitchFamily="34" charset="-122"/>
                <a:cs typeface="Consolas" pitchFamily="34" charset="-120"/>
              </a:rPr>
              <a:t>Caching</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store</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98D894"/>
                </a:solidFill>
                <a:latin typeface="Consolas" pitchFamily="34" charset="0"/>
                <a:ea typeface="Consolas" pitchFamily="34" charset="-122"/>
                <a:cs typeface="Consolas" pitchFamily="34" charset="-120"/>
              </a:rPr>
              <a:t>'session'</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6B7299"/>
                </a:solidFill>
                <a:latin typeface="Consolas" pitchFamily="34" charset="0"/>
                <a:ea typeface="Consolas" pitchFamily="34" charset="-122"/>
                <a:cs typeface="Consolas" pitchFamily="34" charset="-120"/>
              </a:rPr>
              <a:t>// &lt;-- the only line that flips</a:t>
            </a:r>
            <a:endParaRPr lang="en-US" sz="1100" dirty="0"/>
          </a:p>
          <a:p>
            <a:pPr indent="0" marL="0">
              <a:buNone/>
            </a:pPr>
            <a:r>
              <a:rPr lang="en-US" sz="1100" dirty="0">
                <a:solidFill>
                  <a:srgbClr val="F0F4F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6B7299"/>
                </a:solidFill>
                <a:latin typeface="Consolas" pitchFamily="34" charset="0"/>
                <a:ea typeface="Consolas" pitchFamily="34" charset="-122"/>
                <a:cs typeface="Consolas" pitchFamily="34" charset="-120"/>
              </a:rPr>
              <a:t>// 3. Batching — pack many reads (or writes) into one $batch envelope.</a:t>
            </a:r>
            <a:endParaRPr lang="en-US" sz="1100" dirty="0"/>
          </a:p>
          <a:p>
            <a:pPr indent="0" marL="0">
              <a:buNone/>
            </a:pPr>
            <a:r>
              <a:rPr lang="en-US" sz="1100" dirty="0">
                <a:solidFill>
                  <a:srgbClr val="C678DD"/>
                </a:solidFill>
                <a:latin typeface="Consolas" pitchFamily="34" charset="0"/>
                <a:ea typeface="Consolas" pitchFamily="34" charset="-122"/>
                <a:cs typeface="Consolas" pitchFamily="34" charset="-120"/>
              </a:rPr>
              <a:t>const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batchedSp</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execute</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sp</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82AAFF"/>
                </a:solidFill>
                <a:latin typeface="Consolas" pitchFamily="34" charset="0"/>
                <a:ea typeface="Consolas" pitchFamily="34" charset="-122"/>
                <a:cs typeface="Consolas" pitchFamily="34" charset="-120"/>
              </a:rPr>
              <a:t>batched</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maxRequests</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FB347"/>
                </a:solidFill>
                <a:latin typeface="Consolas" pitchFamily="34" charset="0"/>
                <a:ea typeface="Consolas" pitchFamily="34" charset="-122"/>
                <a:cs typeface="Consolas" pitchFamily="34" charset="-120"/>
              </a:rPr>
              <a:t>100</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C678DD"/>
                </a:solidFill>
                <a:latin typeface="Consolas" pitchFamily="34" charset="0"/>
                <a:ea typeface="Consolas" pitchFamily="34" charset="-122"/>
                <a:cs typeface="Consolas" pitchFamily="34" charset="-120"/>
              </a:rPr>
              <a:t>for</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C678DD"/>
                </a:solidFill>
                <a:latin typeface="Consolas" pitchFamily="34" charset="0"/>
                <a:ea typeface="Consolas" pitchFamily="34" charset="-122"/>
                <a:cs typeface="Consolas" pitchFamily="34" charset="-120"/>
              </a:rPr>
              <a:t>let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i</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FB347"/>
                </a:solidFill>
                <a:latin typeface="Consolas" pitchFamily="34" charset="0"/>
                <a:ea typeface="Consolas" pitchFamily="34" charset="-122"/>
                <a:cs typeface="Consolas" pitchFamily="34" charset="-120"/>
              </a:rPr>
              <a:t>0</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i</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&lt;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pageCount</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i</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pagePromises</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82AAFF"/>
                </a:solidFill>
                <a:latin typeface="Consolas" pitchFamily="34" charset="0"/>
                <a:ea typeface="Consolas" pitchFamily="34" charset="-122"/>
                <a:cs typeface="Consolas" pitchFamily="34" charset="-120"/>
              </a:rPr>
              <a:t>push</a:t>
            </a:r>
            <a:pPr indent="0" marL="0">
              <a:buNone/>
            </a:pPr>
            <a:r>
              <a:rPr lang="en-US" sz="1100" dirty="0">
                <a:solidFill>
                  <a:srgbClr val="F0F4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batchedSp</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web</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lists</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82AAFF"/>
                </a:solidFill>
                <a:latin typeface="Consolas" pitchFamily="34" charset="0"/>
                <a:ea typeface="Consolas" pitchFamily="34" charset="-122"/>
                <a:cs typeface="Consolas" pitchFamily="34" charset="-120"/>
              </a:rPr>
              <a:t>getByTitle</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98D894"/>
                </a:solidFill>
                <a:latin typeface="Consolas" pitchFamily="34" charset="0"/>
                <a:ea typeface="Consolas" pitchFamily="34" charset="-122"/>
                <a:cs typeface="Consolas" pitchFamily="34" charset="-120"/>
              </a:rPr>
              <a:t>'Speaking Events'</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items</a:t>
            </a:r>
            <a:endParaRPr lang="en-US" sz="1100" dirty="0"/>
          </a:p>
          <a:p>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82AAFF"/>
                </a:solidFill>
                <a:latin typeface="Consolas" pitchFamily="34" charset="0"/>
                <a:ea typeface="Consolas" pitchFamily="34" charset="-122"/>
                <a:cs typeface="Consolas" pitchFamily="34" charset="-120"/>
              </a:rPr>
              <a:t>top</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pageSize</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82AAFF"/>
                </a:solidFill>
                <a:latin typeface="Consolas" pitchFamily="34" charset="0"/>
                <a:ea typeface="Consolas" pitchFamily="34" charset="-122"/>
                <a:cs typeface="Consolas" pitchFamily="34" charset="-120"/>
              </a:rPr>
              <a:t>skip</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i</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pageSize</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C678DD"/>
                </a:solidFill>
                <a:latin typeface="Consolas" pitchFamily="34" charset="0"/>
                <a:ea typeface="Consolas" pitchFamily="34" charset="-122"/>
                <a:cs typeface="Consolas" pitchFamily="34" charset="-120"/>
              </a:rPr>
              <a:t>as</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00E5FF"/>
                </a:solidFill>
                <a:latin typeface="Consolas" pitchFamily="34" charset="0"/>
                <a:ea typeface="Consolas" pitchFamily="34" charset="-122"/>
                <a:cs typeface="Consolas" pitchFamily="34" charset="-120"/>
              </a:rPr>
              <a:t>Promise</a:t>
            </a:r>
            <a:pPr indent="0" marL="0">
              <a:buNone/>
            </a:pPr>
            <a:r>
              <a:rPr lang="en-US" sz="1100" dirty="0">
                <a:solidFill>
                  <a:srgbClr val="F0F4FF"/>
                </a:solidFill>
                <a:latin typeface="Consolas" pitchFamily="34" charset="0"/>
                <a:ea typeface="Consolas" pitchFamily="34" charset="-122"/>
                <a:cs typeface="Consolas" pitchFamily="34" charset="-120"/>
              </a:rPr>
              <a:t>&lt;</a:t>
            </a:r>
            <a:pPr indent="0" marL="0">
              <a:buNone/>
            </a:pPr>
            <a:r>
              <a:rPr lang="en-US" sz="1100" dirty="0">
                <a:solidFill>
                  <a:srgbClr val="00E5FF"/>
                </a:solidFill>
                <a:latin typeface="Consolas" pitchFamily="34" charset="0"/>
                <a:ea typeface="Consolas" pitchFamily="34" charset="-122"/>
                <a:cs typeface="Consolas" pitchFamily="34" charset="-120"/>
              </a:rPr>
              <a:t>IEventItem</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&gt;</a:t>
            </a:r>
            <a:endParaRPr lang="en-US" sz="1100" dirty="0"/>
          </a:p>
          <a:p>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0F4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C678DD"/>
                </a:solidFill>
                <a:latin typeface="Consolas" pitchFamily="34" charset="0"/>
                <a:ea typeface="Consolas" pitchFamily="34" charset="-122"/>
                <a:cs typeface="Consolas" pitchFamily="34" charset="-120"/>
              </a:rPr>
              <a:t>await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82AAFF"/>
                </a:solidFill>
                <a:latin typeface="Consolas" pitchFamily="34" charset="0"/>
                <a:ea typeface="Consolas" pitchFamily="34" charset="-122"/>
                <a:cs typeface="Consolas" pitchFamily="34" charset="-120"/>
              </a:rPr>
              <a:t>execute</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a:t>
            </a:r>
            <a:pPr indent="0" marL="0">
              <a:buNone/>
            </a:pPr>
            <a:r>
              <a:rPr lang="en-US" sz="1100" dirty="0">
                <a:solidFill>
                  <a:srgbClr val="F0F4FF"/>
                </a:solidFill>
                <a:latin typeface="Consolas" pitchFamily="34" charset="0"/>
                <a:ea typeface="Consolas" pitchFamily="34" charset="-122"/>
                <a:cs typeface="Consolas" pitchFamily="34" charset="-120"/>
              </a:rPr>
              <a:t>   </a:t>
            </a:r>
            <a:pPr indent="0" marL="0">
              <a:buNone/>
            </a:pPr>
            <a:r>
              <a:rPr lang="en-US" sz="1100" dirty="0">
                <a:solidFill>
                  <a:srgbClr val="6B7299"/>
                </a:solidFill>
                <a:latin typeface="Consolas" pitchFamily="34" charset="0"/>
                <a:ea typeface="Consolas" pitchFamily="34" charset="-122"/>
                <a:cs typeface="Consolas" pitchFamily="34" charset="-120"/>
              </a:rPr>
              <a:t>// one HTTP request to /_api/$batch</a:t>
            </a:r>
            <a:endParaRPr lang="en-US" sz="1100" dirty="0"/>
          </a:p>
        </p:txBody>
      </p:sp>
      <p:sp>
        <p:nvSpPr>
          <p:cNvPr id="7" name="Text 5"/>
          <p:cNvSpPr/>
          <p:nvPr/>
        </p:nvSpPr>
        <p:spPr>
          <a:xfrm>
            <a:off x="10058400" y="5989320"/>
            <a:ext cx="1673352" cy="320040"/>
          </a:xfrm>
          <a:prstGeom prst="rect">
            <a:avLst/>
          </a:prstGeom>
          <a:noFill/>
          <a:ln/>
        </p:spPr>
        <p:txBody>
          <a:bodyPr wrap="square" rtlCol="0" anchor="ctr"/>
          <a:lstStyle/>
          <a:p>
            <a:pPr algn="r" indent="0" marL="0">
              <a:buNone/>
            </a:pPr>
            <a:r>
              <a:rPr lang="en-US" sz="1200" b="1" dirty="0">
                <a:solidFill>
                  <a:srgbClr val="00E5FF"/>
                </a:solidFill>
                <a:latin typeface="Calibri" pitchFamily="34" charset="0"/>
                <a:ea typeface="Calibri" pitchFamily="34" charset="-122"/>
                <a:cs typeface="Calibri" pitchFamily="34" charset="-120"/>
              </a:rPr>
              <a:t>▶ Demo 7</a:t>
            </a:r>
            <a:endParaRPr lang="en-US" sz="12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What logging gets you</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Shape 2"/>
          <p:cNvSpPr/>
          <p:nvPr/>
        </p:nvSpPr>
        <p:spPr>
          <a:xfrm>
            <a:off x="457200" y="1737360"/>
            <a:ext cx="11274552" cy="1645920"/>
          </a:xfrm>
          <a:prstGeom prst="roundRect">
            <a:avLst>
              <a:gd name="adj" fmla="val 4444"/>
            </a:avLst>
          </a:prstGeom>
          <a:solidFill>
            <a:srgbClr val="141937"/>
          </a:solidFill>
          <a:ln w="9525">
            <a:solidFill>
              <a:srgbClr val="2A3258"/>
            </a:solidFill>
            <a:prstDash val="solid"/>
          </a:ln>
        </p:spPr>
      </p:sp>
      <p:sp>
        <p:nvSpPr>
          <p:cNvPr id="5" name="Text 3"/>
          <p:cNvSpPr/>
          <p:nvPr/>
        </p:nvSpPr>
        <p:spPr>
          <a:xfrm>
            <a:off x="621792" y="1847088"/>
            <a:ext cx="10945368" cy="1426464"/>
          </a:xfrm>
          <a:prstGeom prst="rect">
            <a:avLst/>
          </a:prstGeom>
          <a:noFill/>
          <a:ln/>
        </p:spPr>
        <p:txBody>
          <a:bodyPr wrap="square" rtlCol="0" anchor="t"/>
          <a:lstStyle/>
          <a:p>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00E5FF"/>
                </a:solidFill>
                <a:latin typeface="Consolas" pitchFamily="34" charset="0"/>
                <a:ea typeface="Consolas" pitchFamily="34" charset="-122"/>
                <a:cs typeface="Consolas" pitchFamily="34" charset="-120"/>
              </a:rPr>
              <a:t>DataDemo</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F0F4FF"/>
                </a:solidFill>
                <a:latin typeface="Consolas" pitchFamily="34" charset="0"/>
                <a:ea typeface="Consolas" pitchFamily="34" charset="-122"/>
                <a:cs typeface="Consolas" pitchFamily="34" charset="-120"/>
              </a:rPr>
              <a:t>onInit</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F0F4FF"/>
                </a:solidFill>
                <a:latin typeface="Consolas" pitchFamily="34" charset="0"/>
                <a:ea typeface="Consolas" pitchFamily="34" charset="-122"/>
                <a:cs typeface="Consolas" pitchFamily="34" charset="-120"/>
              </a:rPr>
              <a:t>starting</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enhancedLogging</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on</a:t>
            </a:r>
            <a:pPr indent="0" marL="0">
              <a:buNone/>
            </a:pPr>
            <a:r>
              <a:rPr lang="en-US" sz="1300" dirty="0">
                <a:solidFill>
                  <a:srgbClr val="F0F4FF"/>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00E5FF"/>
                </a:solidFill>
                <a:latin typeface="Consolas" pitchFamily="34" charset="0"/>
                <a:ea typeface="Consolas" pitchFamily="34" charset="-122"/>
                <a:cs typeface="Consolas" pitchFamily="34" charset="-120"/>
              </a:rPr>
              <a:t>DataDemo</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F0F4FF"/>
                </a:solidFill>
                <a:latin typeface="Consolas" pitchFamily="34" charset="0"/>
                <a:ea typeface="Consolas" pitchFamily="34" charset="-122"/>
                <a:cs typeface="Consolas" pitchFamily="34" charset="-120"/>
              </a:rPr>
              <a:t>loadItems</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F0F4FF"/>
                </a:solidFill>
                <a:latin typeface="Consolas" pitchFamily="34" charset="0"/>
                <a:ea typeface="Consolas" pitchFamily="34" charset="-122"/>
                <a:cs typeface="Consolas" pitchFamily="34" charset="-120"/>
              </a:rPr>
              <a:t>requesting</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F0F4FF"/>
                </a:solidFill>
                <a:latin typeface="Consolas" pitchFamily="34" charset="0"/>
                <a:ea typeface="Consolas" pitchFamily="34" charset="-122"/>
                <a:cs typeface="Consolas" pitchFamily="34" charset="-120"/>
              </a:rPr>
              <a:t>items</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C678DD"/>
                </a:solidFill>
                <a:latin typeface="Consolas" pitchFamily="34" charset="0"/>
                <a:ea typeface="Consolas" pitchFamily="34" charset="-122"/>
                <a:cs typeface="Consolas" pitchFamily="34" charset="-120"/>
              </a:rPr>
              <a:t>from</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F0F4FF"/>
                </a:solidFill>
                <a:latin typeface="Consolas" pitchFamily="34" charset="0"/>
                <a:ea typeface="Consolas" pitchFamily="34" charset="-122"/>
                <a:cs typeface="Consolas" pitchFamily="34" charset="-120"/>
              </a:rPr>
              <a:t>list</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00E5FF"/>
                </a:solidFill>
                <a:latin typeface="Consolas" pitchFamily="34" charset="0"/>
                <a:ea typeface="Consolas" pitchFamily="34" charset="-122"/>
                <a:cs typeface="Consolas" pitchFamily="34" charset="-120"/>
              </a:rPr>
              <a:t>Speaking</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00E5FF"/>
                </a:solidFill>
                <a:latin typeface="Consolas" pitchFamily="34" charset="0"/>
                <a:ea typeface="Consolas" pitchFamily="34" charset="-122"/>
                <a:cs typeface="Consolas" pitchFamily="34" charset="-120"/>
              </a:rPr>
              <a:t>Events</a:t>
            </a:r>
            <a:endParaRPr lang="en-US" sz="1300" dirty="0"/>
          </a:p>
          <a:p>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00E5FF"/>
                </a:solidFill>
                <a:latin typeface="Consolas" pitchFamily="34" charset="0"/>
                <a:ea typeface="Consolas" pitchFamily="34" charset="-122"/>
                <a:cs typeface="Consolas" pitchFamily="34" charset="-120"/>
              </a:rPr>
              <a:t>DataDemo</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F0F4FF"/>
                </a:solidFill>
                <a:latin typeface="Consolas" pitchFamily="34" charset="0"/>
                <a:ea typeface="Consolas" pitchFamily="34" charset="-122"/>
                <a:cs typeface="Consolas" pitchFamily="34" charset="-120"/>
              </a:rPr>
              <a:t>loadItems</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F0F4FF"/>
                </a:solidFill>
                <a:latin typeface="Consolas" pitchFamily="34" charset="0"/>
                <a:ea typeface="Consolas" pitchFamily="34" charset="-122"/>
                <a:cs typeface="Consolas" pitchFamily="34" charset="-120"/>
              </a:rPr>
              <a:t>received</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FFB347"/>
                </a:solidFill>
                <a:latin typeface="Consolas" pitchFamily="34" charset="0"/>
                <a:ea typeface="Consolas" pitchFamily="34" charset="-122"/>
                <a:cs typeface="Consolas" pitchFamily="34" charset="-120"/>
              </a:rPr>
              <a:t>12</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82AAFF"/>
                </a:solidFill>
                <a:latin typeface="Consolas" pitchFamily="34" charset="0"/>
                <a:ea typeface="Consolas" pitchFamily="34" charset="-122"/>
                <a:cs typeface="Consolas" pitchFamily="34" charset="-120"/>
              </a:rPr>
              <a:t>item</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s</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FB347"/>
                </a:solidFill>
                <a:latin typeface="Consolas" pitchFamily="34" charset="0"/>
                <a:ea typeface="Consolas" pitchFamily="34" charset="-122"/>
                <a:cs typeface="Consolas" pitchFamily="34" charset="-120"/>
              </a:rPr>
              <a:t>12</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 </a:t>
            </a:r>
            <a:pPr indent="0" marL="0">
              <a:buNone/>
            </a:pPr>
            <a:r>
              <a:rPr lang="en-US" sz="1300" dirty="0">
                <a:solidFill>
                  <a:srgbClr val="F0F4FF"/>
                </a:solidFill>
                <a:latin typeface="Consolas" pitchFamily="34" charset="0"/>
                <a:ea typeface="Consolas" pitchFamily="34" charset="-122"/>
                <a:cs typeface="Consolas" pitchFamily="34" charset="-120"/>
              </a:rPr>
              <a:t>…</a:t>
            </a:r>
            <a:pPr indent="0" marL="0">
              <a:buNone/>
            </a:pPr>
            <a:r>
              <a:rPr lang="en-US" sz="1300" dirty="0">
                <a:solidFill>
                  <a:srgbClr val="F0F4FF"/>
                </a:solidFill>
                <a:latin typeface="Consolas" pitchFamily="34" charset="0"/>
                <a:ea typeface="Consolas" pitchFamily="34" charset="-122"/>
                <a:cs typeface="Consolas" pitchFamily="34" charset="-120"/>
              </a:rPr>
              <a:t>]</a:t>
            </a:r>
            <a:endParaRPr lang="en-US" sz="1300" dirty="0"/>
          </a:p>
        </p:txBody>
      </p:sp>
      <p:sp>
        <p:nvSpPr>
          <p:cNvPr id="6" name="Text 4"/>
          <p:cNvSpPr/>
          <p:nvPr/>
        </p:nvSpPr>
        <p:spPr>
          <a:xfrm>
            <a:off x="457200" y="3657600"/>
            <a:ext cx="11274552" cy="1371600"/>
          </a:xfrm>
          <a:prstGeom prst="rect">
            <a:avLst/>
          </a:prstGeom>
          <a:noFill/>
          <a:ln/>
        </p:spPr>
        <p:txBody>
          <a:bodyPr wrap="square" rtlCol="0" anchor="t"/>
          <a:lstStyle/>
          <a:p>
            <a:pPr indent="0" marL="0">
              <a:buNone/>
            </a:pPr>
            <a:r>
              <a:rPr lang="en-US" sz="1500" dirty="0">
                <a:solidFill>
                  <a:srgbClr val="F0F4FF"/>
                </a:solidFill>
                <a:latin typeface="Calibri" pitchFamily="34" charset="0"/>
                <a:ea typeface="Calibri" pitchFamily="34" charset="-122"/>
                <a:cs typeface="Calibri" pitchFamily="34" charset="-120"/>
              </a:rPr>
              <a:t>A thin wrapper over @pnp/logging (info / debug / warn / error) emits via console.* so object payloads render as collapsible trees. Listeners are pluggable — ConsoleListener today, App Insights tomorrow. Same call sites.</a:t>
            </a:r>
            <a:endParaRPr lang="en-US" sz="15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What caching gets you</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Text 2"/>
          <p:cNvSpPr/>
          <p:nvPr/>
        </p:nvSpPr>
        <p:spPr>
          <a:xfrm>
            <a:off x="457200" y="1207008"/>
            <a:ext cx="11274552" cy="365760"/>
          </a:xfrm>
          <a:prstGeom prst="rect">
            <a:avLst/>
          </a:prstGeom>
          <a:noFill/>
          <a:ln/>
        </p:spPr>
        <p:txBody>
          <a:bodyPr wrap="square" rtlCol="0" anchor="ctr"/>
          <a:lstStyle/>
          <a:p>
            <a:pPr indent="0" marL="0">
              <a:buNone/>
            </a:pPr>
            <a:r>
              <a:rPr lang="en-US" sz="1600" i="1" dirty="0">
                <a:solidFill>
                  <a:srgbClr val="A4ADCE"/>
                </a:solidFill>
                <a:latin typeface="Calibri" pitchFamily="34" charset="0"/>
                <a:ea typeface="Calibri" pitchFamily="34" charset="-122"/>
                <a:cs typeface="Calibri" pitchFamily="34" charset="-120"/>
              </a:rPr>
              <a:t>Two scopes. Pick one.</a:t>
            </a:r>
            <a:endParaRPr lang="en-US" sz="1600" dirty="0"/>
          </a:p>
        </p:txBody>
      </p:sp>
      <p:sp>
        <p:nvSpPr>
          <p:cNvPr id="5" name="Shape 3"/>
          <p:cNvSpPr/>
          <p:nvPr/>
        </p:nvSpPr>
        <p:spPr>
          <a:xfrm>
            <a:off x="457200" y="1737360"/>
            <a:ext cx="11274552" cy="2743200"/>
          </a:xfrm>
          <a:prstGeom prst="roundRect">
            <a:avLst>
              <a:gd name="adj" fmla="val 2667"/>
            </a:avLst>
          </a:prstGeom>
          <a:solidFill>
            <a:srgbClr val="141937"/>
          </a:solidFill>
          <a:ln w="9525">
            <a:solidFill>
              <a:srgbClr val="2A3258"/>
            </a:solidFill>
            <a:prstDash val="solid"/>
          </a:ln>
        </p:spPr>
      </p:sp>
      <p:sp>
        <p:nvSpPr>
          <p:cNvPr id="6" name="Text 4"/>
          <p:cNvSpPr/>
          <p:nvPr/>
        </p:nvSpPr>
        <p:spPr>
          <a:xfrm>
            <a:off x="621792" y="1847088"/>
            <a:ext cx="10945368" cy="2523744"/>
          </a:xfrm>
          <a:prstGeom prst="rect">
            <a:avLst/>
          </a:prstGeom>
          <a:noFill/>
          <a:ln/>
        </p:spPr>
        <p:txBody>
          <a:bodyPr wrap="square" rtlCol="0" anchor="t"/>
          <a:lstStyle/>
          <a:p>
            <a:pPr indent="0" marL="0">
              <a:buNone/>
            </a:pPr>
            <a:r>
              <a:rPr lang="en-US" sz="1200" dirty="0">
                <a:solidFill>
                  <a:srgbClr val="6B7299"/>
                </a:solidFill>
                <a:latin typeface="Consolas" pitchFamily="34" charset="0"/>
                <a:ea typeface="Consolas" pitchFamily="34" charset="-122"/>
                <a:cs typeface="Consolas" pitchFamily="34" charset="-120"/>
              </a:rPr>
              <a:t>// Global: every read on this SPFI is cached.</a:t>
            </a:r>
            <a:endParaRPr lang="en-US" sz="1200" dirty="0"/>
          </a:p>
          <a:p>
            <a:pPr indent="0" marL="0">
              <a:buNone/>
            </a:pPr>
            <a:r>
              <a:rPr lang="en-US" sz="1200" dirty="0">
                <a:solidFill>
                  <a:srgbClr val="C678DD"/>
                </a:solidFill>
                <a:latin typeface="Consolas" pitchFamily="34" charset="0"/>
                <a:ea typeface="Consolas" pitchFamily="34" charset="-122"/>
                <a:cs typeface="Consolas" pitchFamily="34" charset="-120"/>
              </a:rPr>
              <a:t>const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sp</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82AAFF"/>
                </a:solidFill>
                <a:latin typeface="Consolas" pitchFamily="34" charset="0"/>
                <a:ea typeface="Consolas" pitchFamily="34" charset="-122"/>
                <a:cs typeface="Consolas" pitchFamily="34" charset="-120"/>
              </a:rPr>
              <a:t>spfi</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siteUrl</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using</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spSPFx</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C678DD"/>
                </a:solidFill>
                <a:latin typeface="Consolas" pitchFamily="34" charset="0"/>
                <a:ea typeface="Consolas" pitchFamily="34" charset="-122"/>
                <a:cs typeface="Consolas" pitchFamily="34" charset="-120"/>
              </a:rPr>
              <a:t>this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context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using</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00E5FF"/>
                </a:solidFill>
                <a:latin typeface="Consolas" pitchFamily="34" charset="0"/>
                <a:ea typeface="Consolas" pitchFamily="34" charset="-122"/>
                <a:cs typeface="Consolas" pitchFamily="34" charset="-120"/>
              </a:rPr>
              <a:t>Caching</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store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98D894"/>
                </a:solidFill>
                <a:latin typeface="Consolas" pitchFamily="34" charset="0"/>
                <a:ea typeface="Consolas" pitchFamily="34" charset="-122"/>
                <a:cs typeface="Consolas" pitchFamily="34" charset="-120"/>
              </a:rPr>
              <a:t>'session'</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6B7299"/>
                </a:solidFill>
                <a:latin typeface="Consolas" pitchFamily="34" charset="0"/>
                <a:ea typeface="Consolas" pitchFamily="34" charset="-122"/>
                <a:cs typeface="Consolas" pitchFamily="34" charset="-120"/>
              </a:rPr>
              <a:t>// 'session' | 'local'</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6B7299"/>
                </a:solidFill>
                <a:latin typeface="Consolas" pitchFamily="34" charset="0"/>
                <a:ea typeface="Consolas" pitchFamily="34" charset="-122"/>
                <a:cs typeface="Consolas" pitchFamily="34" charset="-120"/>
              </a:rPr>
              <a:t>// Per-call: opt one query out of caching when global is on.</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items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using</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00E5FF"/>
                </a:solidFill>
                <a:latin typeface="Consolas" pitchFamily="34" charset="0"/>
                <a:ea typeface="Consolas" pitchFamily="34" charset="-122"/>
                <a:cs typeface="Consolas" pitchFamily="34" charset="-120"/>
              </a:rPr>
              <a:t>CacheNever</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6B7299"/>
                </a:solidFill>
                <a:latin typeface="Consolas" pitchFamily="34" charset="0"/>
                <a:ea typeface="Consolas" pitchFamily="34" charset="-122"/>
                <a:cs typeface="Consolas" pitchFamily="34" charset="-120"/>
              </a:rPr>
              <a:t>// Per-call: opt one query in with a custom expiry when global is off.</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items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using</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00E5FF"/>
                </a:solidFill>
                <a:latin typeface="Consolas" pitchFamily="34" charset="0"/>
                <a:ea typeface="Consolas" pitchFamily="34" charset="-122"/>
                <a:cs typeface="Consolas" pitchFamily="34" charset="-120"/>
              </a:rPr>
              <a:t>Caching</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store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98D894"/>
                </a:solidFill>
                <a:latin typeface="Consolas" pitchFamily="34" charset="0"/>
                <a:ea typeface="Consolas" pitchFamily="34" charset="-122"/>
                <a:cs typeface="Consolas" pitchFamily="34" charset="-120"/>
              </a:rPr>
              <a:t>'session'</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expireFunc</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&gt;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82AAFF"/>
                </a:solidFill>
                <a:latin typeface="Consolas" pitchFamily="34" charset="0"/>
                <a:ea typeface="Consolas" pitchFamily="34" charset="-122"/>
                <a:cs typeface="Consolas" pitchFamily="34" charset="-120"/>
              </a:rPr>
              <a:t>addMinutes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C678DD"/>
                </a:solidFill>
                <a:latin typeface="Consolas" pitchFamily="34" charset="0"/>
                <a:ea typeface="Consolas" pitchFamily="34" charset="-122"/>
                <a:cs typeface="Consolas" pitchFamily="34" charset="-120"/>
              </a:rPr>
              <a:t>new</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00E5FF"/>
                </a:solidFill>
                <a:latin typeface="Consolas" pitchFamily="34" charset="0"/>
                <a:ea typeface="Consolas" pitchFamily="34" charset="-122"/>
                <a:cs typeface="Consolas" pitchFamily="34" charset="-120"/>
              </a:rPr>
              <a:t>Date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FB347"/>
                </a:solidFill>
                <a:latin typeface="Consolas" pitchFamily="34" charset="0"/>
                <a:ea typeface="Consolas" pitchFamily="34" charset="-122"/>
                <a:cs typeface="Consolas" pitchFamily="34" charset="-120"/>
              </a:rPr>
              <a:t>5</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p:txBody>
      </p:sp>
      <p:sp>
        <p:nvSpPr>
          <p:cNvPr id="7" name="Text 5"/>
          <p:cNvSpPr/>
          <p:nvPr/>
        </p:nvSpPr>
        <p:spPr>
          <a:xfrm>
            <a:off x="457200" y="4617720"/>
            <a:ext cx="11274552" cy="640080"/>
          </a:xfrm>
          <a:prstGeom prst="rect">
            <a:avLst/>
          </a:prstGeom>
          <a:noFill/>
          <a:ln/>
        </p:spPr>
        <p:txBody>
          <a:bodyPr wrap="square" rtlCol="0" anchor="t"/>
          <a:lstStyle/>
          <a:p>
            <a:pPr indent="0" marL="0">
              <a:buNone/>
            </a:pPr>
            <a:r>
              <a:rPr lang="en-US" sz="1300" i="1" dirty="0">
                <a:solidFill>
                  <a:srgbClr val="B580FF"/>
                </a:solidFill>
                <a:latin typeface="Calibri" pitchFamily="34" charset="0"/>
                <a:ea typeface="Calibri" pitchFamily="34" charset="-122"/>
                <a:cs typeface="Calibri" pitchFamily="34" charset="-120"/>
              </a:rPr>
              <a:t>Defaults: 60-second expiry, keyed by URL. 'session' survives a hard refresh; 'local' survives a tab close. Default is in-memory and dies with the page.</a:t>
            </a:r>
            <a:endParaRPr lang="en-US" sz="1300" dirty="0"/>
          </a:p>
        </p:txBody>
      </p:sp>
      <p:sp>
        <p:nvSpPr>
          <p:cNvPr id="8" name="Text 6"/>
          <p:cNvSpPr/>
          <p:nvPr/>
        </p:nvSpPr>
        <p:spPr>
          <a:xfrm>
            <a:off x="457200" y="5349240"/>
            <a:ext cx="11274552" cy="914400"/>
          </a:xfrm>
          <a:prstGeom prst="rect">
            <a:avLst/>
          </a:prstGeom>
          <a:noFill/>
          <a:ln/>
        </p:spPr>
        <p:txBody>
          <a:bodyPr wrap="square" rtlCol="0" anchor="t"/>
          <a:lstStyle/>
          <a:p>
            <a:pPr indent="0" marL="0">
              <a:spcAft>
                <a:spcPts val="400"/>
              </a:spcAft>
              <a:buNone/>
            </a:pPr>
            <a:r>
              <a:rPr lang="en-US" sz="1300" b="1" dirty="0">
                <a:solidFill>
                  <a:srgbClr val="7EE787"/>
                </a:solidFill>
                <a:latin typeface="Calibri" pitchFamily="34" charset="0"/>
                <a:ea typeface="Calibri" pitchFamily="34" charset="-122"/>
                <a:cs typeface="Calibri" pitchFamily="34" charset="-120"/>
              </a:rPr>
              <a:t>Use it for:  </a:t>
            </a:r>
            <a:pPr indent="0" marL="0">
              <a:spcAft>
                <a:spcPts val="400"/>
              </a:spcAft>
              <a:buNone/>
            </a:pPr>
            <a:r>
              <a:rPr lang="en-US" sz="1300" dirty="0">
                <a:solidFill>
                  <a:srgbClr val="F0F4FF"/>
                </a:solidFill>
                <a:latin typeface="Calibri" pitchFamily="34" charset="0"/>
                <a:ea typeface="Calibri" pitchFamily="34" charset="-122"/>
                <a:cs typeface="Calibri" pitchFamily="34" charset="-120"/>
              </a:rPr>
              <a:t>reference data · repeated reads · anything you'd hate to re-fetch on tab switch</a:t>
            </a:r>
            <a:endParaRPr lang="en-US" sz="1300" dirty="0"/>
          </a:p>
          <a:p>
            <a:pPr indent="0" marL="0">
              <a:spcAft>
                <a:spcPts val="400"/>
              </a:spcAft>
              <a:buNone/>
            </a:pPr>
            <a:r>
              <a:rPr lang="en-US" sz="1300" b="1" dirty="0">
                <a:solidFill>
                  <a:srgbClr val="FF6B6B"/>
                </a:solidFill>
                <a:latin typeface="Calibri" pitchFamily="34" charset="0"/>
                <a:ea typeface="Calibri" pitchFamily="34" charset="-122"/>
                <a:cs typeface="Calibri" pitchFamily="34" charset="-120"/>
              </a:rPr>
              <a:t>Avoid for:  </a:t>
            </a:r>
            <a:pPr indent="0" marL="0">
              <a:spcAft>
                <a:spcPts val="400"/>
              </a:spcAft>
              <a:buNone/>
            </a:pPr>
            <a:r>
              <a:rPr lang="en-US" sz="1300" dirty="0">
                <a:solidFill>
                  <a:srgbClr val="F0F4FF"/>
                </a:solidFill>
                <a:latin typeface="Calibri" pitchFamily="34" charset="0"/>
                <a:ea typeface="Calibri" pitchFamily="34" charset="-122"/>
                <a:cs typeface="Calibri" pitchFamily="34" charset="-120"/>
              </a:rPr>
              <a:t>frequently-changing transactional data · anything where stale = wrong (use CacheNever() there)</a:t>
            </a:r>
            <a:endParaRPr lang="en-US" sz="13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What batching gets you</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Text 2"/>
          <p:cNvSpPr/>
          <p:nvPr/>
        </p:nvSpPr>
        <p:spPr>
          <a:xfrm>
            <a:off x="457200" y="1207008"/>
            <a:ext cx="11274552" cy="365760"/>
          </a:xfrm>
          <a:prstGeom prst="rect">
            <a:avLst/>
          </a:prstGeom>
          <a:noFill/>
          <a:ln/>
        </p:spPr>
        <p:txBody>
          <a:bodyPr wrap="square" rtlCol="0" anchor="ctr"/>
          <a:lstStyle/>
          <a:p>
            <a:pPr indent="0" marL="0">
              <a:buNone/>
            </a:pPr>
            <a:r>
              <a:rPr lang="en-US" sz="1600" i="1" dirty="0">
                <a:solidFill>
                  <a:srgbClr val="A4ADCE"/>
                </a:solidFill>
                <a:latin typeface="Calibri" pitchFamily="34" charset="0"/>
                <a:ea typeface="Calibri" pitchFamily="34" charset="-122"/>
                <a:cs typeface="Calibri" pitchFamily="34" charset="-120"/>
              </a:rPr>
              <a:t>Reads, in our demo. Writes work the same way.</a:t>
            </a:r>
            <a:endParaRPr lang="en-US" sz="1600" dirty="0"/>
          </a:p>
        </p:txBody>
      </p:sp>
      <p:sp>
        <p:nvSpPr>
          <p:cNvPr id="5" name="Shape 3"/>
          <p:cNvSpPr/>
          <p:nvPr/>
        </p:nvSpPr>
        <p:spPr>
          <a:xfrm>
            <a:off x="457200" y="1737360"/>
            <a:ext cx="11274552" cy="2743200"/>
          </a:xfrm>
          <a:prstGeom prst="roundRect">
            <a:avLst>
              <a:gd name="adj" fmla="val 2667"/>
            </a:avLst>
          </a:prstGeom>
          <a:solidFill>
            <a:srgbClr val="141937"/>
          </a:solidFill>
          <a:ln w="9525">
            <a:solidFill>
              <a:srgbClr val="2A3258"/>
            </a:solidFill>
            <a:prstDash val="solid"/>
          </a:ln>
        </p:spPr>
      </p:sp>
      <p:sp>
        <p:nvSpPr>
          <p:cNvPr id="6" name="Text 4"/>
          <p:cNvSpPr/>
          <p:nvPr/>
        </p:nvSpPr>
        <p:spPr>
          <a:xfrm>
            <a:off x="621792" y="1847088"/>
            <a:ext cx="10945368" cy="2523744"/>
          </a:xfrm>
          <a:prstGeom prst="rect">
            <a:avLst/>
          </a:prstGeom>
          <a:noFill/>
          <a:ln/>
        </p:spPr>
        <p:txBody>
          <a:bodyPr wrap="square" rtlCol="0" anchor="t"/>
          <a:lstStyle/>
          <a:p>
            <a:pPr indent="0" marL="0">
              <a:buNone/>
            </a:pPr>
            <a:r>
              <a:rPr lang="en-US" sz="1200" dirty="0">
                <a:solidFill>
                  <a:srgbClr val="C678DD"/>
                </a:solidFill>
                <a:latin typeface="Consolas" pitchFamily="34" charset="0"/>
                <a:ea typeface="Consolas" pitchFamily="34" charset="-122"/>
                <a:cs typeface="Consolas" pitchFamily="34" charset="-120"/>
              </a:rPr>
              <a:t>const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batchedSp</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execute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this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sp</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batched</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maxRequests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FB347"/>
                </a:solidFill>
                <a:latin typeface="Consolas" pitchFamily="34" charset="0"/>
                <a:ea typeface="Consolas" pitchFamily="34" charset="-122"/>
                <a:cs typeface="Consolas" pitchFamily="34" charset="-120"/>
              </a:rPr>
              <a:t>100</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C678DD"/>
                </a:solidFill>
                <a:latin typeface="Consolas" pitchFamily="34" charset="0"/>
                <a:ea typeface="Consolas" pitchFamily="34" charset="-122"/>
                <a:cs typeface="Consolas" pitchFamily="34" charset="-120"/>
              </a:rPr>
              <a:t>const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pagePromises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00E5FF"/>
                </a:solidFill>
                <a:latin typeface="Consolas" pitchFamily="34" charset="0"/>
                <a:ea typeface="Consolas" pitchFamily="34" charset="-122"/>
                <a:cs typeface="Consolas" pitchFamily="34" charset="-120"/>
              </a:rPr>
              <a:t>Promise</a:t>
            </a:r>
            <a:pPr indent="0" marL="0">
              <a:buNone/>
            </a:pPr>
            <a:r>
              <a:rPr lang="en-US" sz="1200" dirty="0">
                <a:solidFill>
                  <a:srgbClr val="F0F4FF"/>
                </a:solidFill>
                <a:latin typeface="Consolas" pitchFamily="34" charset="0"/>
                <a:ea typeface="Consolas" pitchFamily="34" charset="-122"/>
                <a:cs typeface="Consolas" pitchFamily="34" charset="-120"/>
              </a:rPr>
              <a:t>&lt;</a:t>
            </a:r>
            <a:pPr indent="0" marL="0">
              <a:buNone/>
            </a:pPr>
            <a:r>
              <a:rPr lang="en-US" sz="1200" dirty="0">
                <a:solidFill>
                  <a:srgbClr val="00E5FF"/>
                </a:solidFill>
                <a:latin typeface="Consolas" pitchFamily="34" charset="0"/>
                <a:ea typeface="Consolas" pitchFamily="34" charset="-122"/>
                <a:cs typeface="Consolas" pitchFamily="34" charset="-120"/>
              </a:rPr>
              <a:t>IEventItem</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&gt;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C678DD"/>
                </a:solidFill>
                <a:latin typeface="Consolas" pitchFamily="34" charset="0"/>
                <a:ea typeface="Consolas" pitchFamily="34" charset="-122"/>
                <a:cs typeface="Consolas" pitchFamily="34" charset="-120"/>
              </a:rPr>
              <a:t>for</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C678DD"/>
                </a:solidFill>
                <a:latin typeface="Consolas" pitchFamily="34" charset="0"/>
                <a:ea typeface="Consolas" pitchFamily="34" charset="-122"/>
                <a:cs typeface="Consolas" pitchFamily="34" charset="-120"/>
              </a:rPr>
              <a:t>let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i</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FB347"/>
                </a:solidFill>
                <a:latin typeface="Consolas" pitchFamily="34" charset="0"/>
                <a:ea typeface="Consolas" pitchFamily="34" charset="-122"/>
                <a:cs typeface="Consolas" pitchFamily="34" charset="-120"/>
              </a:rPr>
              <a:t>0</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i</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&lt;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pageCount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i</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pagePromises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push</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batchedSp</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web</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lists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getByTitle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list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title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items</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select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'Id'</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98D894"/>
                </a:solidFill>
                <a:latin typeface="Consolas" pitchFamily="34" charset="0"/>
                <a:ea typeface="Consolas" pitchFamily="34" charset="-122"/>
                <a:cs typeface="Consolas" pitchFamily="34" charset="-120"/>
              </a:rPr>
              <a:t>'Title'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98D894"/>
                </a:solidFill>
                <a:latin typeface="Consolas" pitchFamily="34" charset="0"/>
                <a:ea typeface="Consolas" pitchFamily="34" charset="-122"/>
                <a:cs typeface="Consolas" pitchFamily="34" charset="-120"/>
              </a:rPr>
              <a:t>'SessionDate'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orderBy</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98D894"/>
                </a:solidFill>
                <a:latin typeface="Consolas" pitchFamily="34" charset="0"/>
                <a:ea typeface="Consolas" pitchFamily="34" charset="-122"/>
                <a:cs typeface="Consolas" pitchFamily="34" charset="-120"/>
              </a:rPr>
              <a:t>'SessionDate'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true</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top</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pageSize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skip</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i</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pageSize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C678DD"/>
                </a:solidFill>
                <a:latin typeface="Consolas" pitchFamily="34" charset="0"/>
                <a:ea typeface="Consolas" pitchFamily="34" charset="-122"/>
                <a:cs typeface="Consolas" pitchFamily="34" charset="-120"/>
              </a:rPr>
              <a:t>as</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00E5FF"/>
                </a:solidFill>
                <a:latin typeface="Consolas" pitchFamily="34" charset="0"/>
                <a:ea typeface="Consolas" pitchFamily="34" charset="-122"/>
                <a:cs typeface="Consolas" pitchFamily="34" charset="-120"/>
              </a:rPr>
              <a:t>Promise</a:t>
            </a:r>
            <a:pPr indent="0" marL="0">
              <a:buNone/>
            </a:pPr>
            <a:r>
              <a:rPr lang="en-US" sz="1200" dirty="0">
                <a:solidFill>
                  <a:srgbClr val="F0F4FF"/>
                </a:solidFill>
                <a:latin typeface="Consolas" pitchFamily="34" charset="0"/>
                <a:ea typeface="Consolas" pitchFamily="34" charset="-122"/>
                <a:cs typeface="Consolas" pitchFamily="34" charset="-120"/>
              </a:rPr>
              <a:t>&lt;</a:t>
            </a:r>
            <a:pPr indent="0" marL="0">
              <a:buNone/>
            </a:pPr>
            <a:r>
              <a:rPr lang="en-US" sz="1200" dirty="0">
                <a:solidFill>
                  <a:srgbClr val="00E5FF"/>
                </a:solidFill>
                <a:latin typeface="Consolas" pitchFamily="34" charset="0"/>
                <a:ea typeface="Consolas" pitchFamily="34" charset="-122"/>
                <a:cs typeface="Consolas" pitchFamily="34" charset="-120"/>
              </a:rPr>
              <a:t>IEventItem</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&gt;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C678DD"/>
                </a:solidFill>
                <a:latin typeface="Consolas" pitchFamily="34" charset="0"/>
                <a:ea typeface="Consolas" pitchFamily="34" charset="-122"/>
                <a:cs typeface="Consolas" pitchFamily="34" charset="-120"/>
              </a:rPr>
              <a:t>await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82AAFF"/>
                </a:solidFill>
                <a:latin typeface="Consolas" pitchFamily="34" charset="0"/>
                <a:ea typeface="Consolas" pitchFamily="34" charset="-122"/>
                <a:cs typeface="Consolas" pitchFamily="34" charset="-120"/>
              </a:rPr>
              <a:t>execute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C678DD"/>
                </a:solidFill>
                <a:latin typeface="Consolas" pitchFamily="34" charset="0"/>
                <a:ea typeface="Consolas" pitchFamily="34" charset="-122"/>
                <a:cs typeface="Consolas" pitchFamily="34" charset="-120"/>
              </a:rPr>
              <a:t>const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items</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C678DD"/>
                </a:solidFill>
                <a:latin typeface="Consolas" pitchFamily="34" charset="0"/>
                <a:ea typeface="Consolas" pitchFamily="34" charset="-122"/>
                <a:cs typeface="Consolas" pitchFamily="34" charset="-120"/>
              </a:rPr>
              <a:t>await</a:t>
            </a:r>
            <a:pPr indent="0" marL="0">
              <a:buNone/>
            </a:pPr>
            <a:r>
              <a:rPr lang="en-US" sz="1200" dirty="0">
                <a:solidFill>
                  <a:srgbClr val="F0F4FF"/>
                </a:solidFill>
                <a:latin typeface="Consolas" pitchFamily="34" charset="0"/>
                <a:ea typeface="Consolas" pitchFamily="34" charset="-122"/>
                <a:cs typeface="Consolas" pitchFamily="34" charset="-120"/>
              </a:rPr>
              <a:t> </a:t>
            </a:r>
            <a:pPr indent="0" marL="0">
              <a:buNone/>
            </a:pPr>
            <a:r>
              <a:rPr lang="en-US" sz="1200" dirty="0">
                <a:solidFill>
                  <a:srgbClr val="00E5FF"/>
                </a:solidFill>
                <a:latin typeface="Consolas" pitchFamily="34" charset="0"/>
                <a:ea typeface="Consolas" pitchFamily="34" charset="-122"/>
                <a:cs typeface="Consolas" pitchFamily="34" charset="-120"/>
              </a:rPr>
              <a:t>Promise</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all</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pagePromises</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82AAFF"/>
                </a:solidFill>
                <a:latin typeface="Consolas" pitchFamily="34" charset="0"/>
                <a:ea typeface="Consolas" pitchFamily="34" charset="-122"/>
                <a:cs typeface="Consolas" pitchFamily="34" charset="-120"/>
              </a:rPr>
              <a:t>flat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pPr indent="0" marL="0">
              <a:buNone/>
            </a:pPr>
            <a:r>
              <a:rPr lang="en-US" sz="1200" dirty="0">
                <a:solidFill>
                  <a:srgbClr val="F0F4FF"/>
                </a:solidFill>
                <a:latin typeface="Consolas" pitchFamily="34" charset="0"/>
                <a:ea typeface="Consolas" pitchFamily="34" charset="-122"/>
                <a:cs typeface="Consolas" pitchFamily="34" charset="-120"/>
              </a:rPr>
              <a:t>;</a:t>
            </a:r>
            <a:endParaRPr lang="en-US" sz="1200" dirty="0"/>
          </a:p>
        </p:txBody>
      </p:sp>
      <p:sp>
        <p:nvSpPr>
          <p:cNvPr id="7" name="Text 5"/>
          <p:cNvSpPr/>
          <p:nvPr/>
        </p:nvSpPr>
        <p:spPr>
          <a:xfrm>
            <a:off x="457200" y="4617720"/>
            <a:ext cx="11274552" cy="457200"/>
          </a:xfrm>
          <a:prstGeom prst="rect">
            <a:avLst/>
          </a:prstGeom>
          <a:noFill/>
          <a:ln/>
        </p:spPr>
        <p:txBody>
          <a:bodyPr wrap="square" rtlCol="0" anchor="ctr"/>
          <a:lstStyle/>
          <a:p>
            <a:pPr indent="0" marL="0">
              <a:buNone/>
            </a:pPr>
            <a:r>
              <a:rPr lang="en-US" sz="1600" b="1" dirty="0">
                <a:solidFill>
                  <a:srgbClr val="00E5FF"/>
                </a:solidFill>
                <a:latin typeface="Calibri" pitchFamily="34" charset="0"/>
                <a:ea typeface="Calibri" pitchFamily="34" charset="-122"/>
                <a:cs typeface="Calibri" pitchFamily="34" charset="-120"/>
              </a:rPr>
              <a:t>100 paginated reads → one HTTP request to /_api/$batch. The same wiring works for add/update/delete.</a:t>
            </a:r>
            <a:endParaRPr lang="en-US" sz="1600" dirty="0"/>
          </a:p>
        </p:txBody>
      </p:sp>
      <p:sp>
        <p:nvSpPr>
          <p:cNvPr id="8" name="Text 6"/>
          <p:cNvSpPr/>
          <p:nvPr/>
        </p:nvSpPr>
        <p:spPr>
          <a:xfrm>
            <a:off x="457200" y="5166360"/>
            <a:ext cx="11274552" cy="365760"/>
          </a:xfrm>
          <a:prstGeom prst="rect">
            <a:avLst/>
          </a:prstGeom>
          <a:noFill/>
          <a:ln/>
        </p:spPr>
        <p:txBody>
          <a:bodyPr wrap="square" rtlCol="0" anchor="ctr"/>
          <a:lstStyle/>
          <a:p>
            <a:pPr indent="0" marL="0">
              <a:buNone/>
            </a:pPr>
            <a:r>
              <a:rPr lang="en-US" sz="1300" b="1" dirty="0">
                <a:solidFill>
                  <a:srgbClr val="B580FF"/>
                </a:solidFill>
                <a:latin typeface="Calibri" pitchFamily="34" charset="0"/>
                <a:ea typeface="Calibri" pitchFamily="34" charset="-122"/>
                <a:cs typeface="Calibri" pitchFamily="34" charset="-120"/>
              </a:rPr>
              <a:t>Why it matters</a:t>
            </a:r>
            <a:endParaRPr lang="en-US" sz="1300" dirty="0"/>
          </a:p>
        </p:txBody>
      </p:sp>
      <p:sp>
        <p:nvSpPr>
          <p:cNvPr id="9" name="Text 7"/>
          <p:cNvSpPr/>
          <p:nvPr/>
        </p:nvSpPr>
        <p:spPr>
          <a:xfrm>
            <a:off x="457200" y="5440680"/>
            <a:ext cx="11274552" cy="914400"/>
          </a:xfrm>
          <a:prstGeom prst="rect">
            <a:avLst/>
          </a:prstGeom>
          <a:noFill/>
          <a:ln/>
        </p:spPr>
        <p:txBody>
          <a:bodyPr wrap="square" rtlCol="0" anchor="t"/>
          <a:lstStyle/>
          <a:p>
            <a:pPr marL="342900" indent="-342900">
              <a:spcAft>
                <a:spcPts val="200"/>
              </a:spcAft>
              <a:buSzPct val="100000"/>
              <a:buChar char="●"/>
            </a:pPr>
            <a:r>
              <a:rPr lang="en-US" sz="1300" dirty="0">
                <a:solidFill>
                  <a:srgbClr val="F0F4FF"/>
                </a:solidFill>
                <a:latin typeface="Calibri" pitchFamily="34" charset="0"/>
                <a:ea typeface="Calibri" pitchFamily="34" charset="-122"/>
                <a:cs typeface="Calibri" pitchFamily="34" charset="-120"/>
              </a:rPr>
              <a:t>Latency: one round trip beats N. Especially over slow links.</a:t>
            </a:r>
            <a:endParaRPr lang="en-US" sz="1300" dirty="0"/>
          </a:p>
          <a:p>
            <a:pPr marL="342900" indent="-342900">
              <a:spcAft>
                <a:spcPts val="200"/>
              </a:spcAft>
              <a:buSzPct val="100000"/>
              <a:buChar char="●"/>
            </a:pPr>
            <a:r>
              <a:rPr lang="en-US" sz="1300" dirty="0">
                <a:solidFill>
                  <a:srgbClr val="F0F4FF"/>
                </a:solidFill>
                <a:latin typeface="Calibri" pitchFamily="34" charset="0"/>
                <a:ea typeface="Calibri" pitchFamily="34" charset="-122"/>
                <a:cs typeface="Calibri" pitchFamily="34" charset="-120"/>
              </a:rPr>
              <a:t>Throttling: SharePoint counts requests, not inner operations. Your throttle escape hatch.</a:t>
            </a:r>
            <a:endParaRPr lang="en-US" sz="1300" dirty="0"/>
          </a:p>
          <a:p>
            <a:pPr marL="342900" indent="-342900">
              <a:spcAft>
                <a:spcPts val="200"/>
              </a:spcAft>
              <a:buSzPct val="100000"/>
              <a:buChar char="●"/>
            </a:pPr>
            <a:r>
              <a:rPr lang="en-US" sz="1300" dirty="0">
                <a:solidFill>
                  <a:srgbClr val="F0F4FF"/>
                </a:solidFill>
                <a:latin typeface="Calibri" pitchFamily="34" charset="0"/>
                <a:ea typeface="Calibri" pitchFamily="34" charset="-122"/>
                <a:cs typeface="Calibri" pitchFamily="34" charset="-120"/>
              </a:rPr>
              <a:t>Atomicity-ish: not a real transaction, but closer than N independent calls.</a:t>
            </a:r>
            <a:endParaRPr lang="en-US" sz="13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2286000"/>
            <a:ext cx="11274552" cy="731520"/>
          </a:xfrm>
          <a:prstGeom prst="rect">
            <a:avLst/>
          </a:prstGeom>
          <a:noFill/>
          <a:ln/>
        </p:spPr>
        <p:txBody>
          <a:bodyPr wrap="square" rtlCol="0" anchor="ctr"/>
          <a:lstStyle/>
          <a:p>
            <a:pPr algn="ctr" indent="0" marL="0">
              <a:buNone/>
            </a:pPr>
            <a:r>
              <a:rPr lang="en-US" sz="1800" spc="1200" kern="0" dirty="0">
                <a:solidFill>
                  <a:srgbClr val="B580FF"/>
                </a:solidFill>
                <a:latin typeface="Calibri" pitchFamily="34" charset="0"/>
                <a:ea typeface="Calibri" pitchFamily="34" charset="-122"/>
                <a:cs typeface="Calibri" pitchFamily="34" charset="-120"/>
              </a:rPr>
              <a:t>WRAP</a:t>
            </a:r>
            <a:endParaRPr lang="en-US" sz="1800" dirty="0"/>
          </a:p>
        </p:txBody>
      </p:sp>
      <p:sp>
        <p:nvSpPr>
          <p:cNvPr id="3" name="Text 1"/>
          <p:cNvSpPr/>
          <p:nvPr/>
        </p:nvSpPr>
        <p:spPr>
          <a:xfrm>
            <a:off x="457200" y="3017520"/>
            <a:ext cx="11274552" cy="1280160"/>
          </a:xfrm>
          <a:prstGeom prst="rect">
            <a:avLst/>
          </a:prstGeom>
          <a:noFill/>
          <a:ln/>
        </p:spPr>
        <p:txBody>
          <a:bodyPr wrap="square" rtlCol="0" anchor="ctr"/>
          <a:lstStyle/>
          <a:p>
            <a:pPr algn="ctr" indent="0" marL="0">
              <a:buNone/>
            </a:pPr>
            <a:r>
              <a:rPr lang="en-US" sz="6400" b="1" dirty="0">
                <a:solidFill>
                  <a:srgbClr val="00E5FF"/>
                </a:solidFill>
                <a:latin typeface="Calibri" pitchFamily="34" charset="0"/>
                <a:ea typeface="Calibri" pitchFamily="34" charset="-122"/>
                <a:cs typeface="Calibri" pitchFamily="34" charset="-120"/>
              </a:rPr>
              <a:t>When and Why</a:t>
            </a:r>
            <a:endParaRPr lang="en-US" sz="6400" dirty="0"/>
          </a:p>
        </p:txBody>
      </p:sp>
      <p:sp>
        <p:nvSpPr>
          <p:cNvPr id="4" name="Shape 2"/>
          <p:cNvSpPr/>
          <p:nvPr/>
        </p:nvSpPr>
        <p:spPr>
          <a:xfrm>
            <a:off x="5641848" y="4434840"/>
            <a:ext cx="914400" cy="45720"/>
          </a:xfrm>
          <a:prstGeom prst="rect">
            <a:avLst/>
          </a:prstGeom>
          <a:solidFill>
            <a:srgbClr val="B580FF"/>
          </a:solidFill>
          <a:ln w="12700">
            <a:solidFill>
              <a:srgbClr val="B580FF"/>
            </a:solidFill>
            <a:prstDash val="solid"/>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When to still reach for SPFx-native</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Text 2"/>
          <p:cNvSpPr/>
          <p:nvPr/>
        </p:nvSpPr>
        <p:spPr>
          <a:xfrm>
            <a:off x="457200" y="1207008"/>
            <a:ext cx="11274552" cy="365760"/>
          </a:xfrm>
          <a:prstGeom prst="rect">
            <a:avLst/>
          </a:prstGeom>
          <a:noFill/>
          <a:ln/>
        </p:spPr>
        <p:txBody>
          <a:bodyPr wrap="square" rtlCol="0" anchor="ctr"/>
          <a:lstStyle/>
          <a:p>
            <a:pPr indent="0" marL="0">
              <a:buNone/>
            </a:pPr>
            <a:r>
              <a:rPr lang="en-US" sz="1600" i="1" dirty="0">
                <a:solidFill>
                  <a:srgbClr val="A4ADCE"/>
                </a:solidFill>
                <a:latin typeface="Calibri" pitchFamily="34" charset="0"/>
                <a:ea typeface="Calibri" pitchFamily="34" charset="-122"/>
                <a:cs typeface="Calibri" pitchFamily="34" charset="-120"/>
              </a:rPr>
              <a:t>PnPjs is the default. But it's not free.</a:t>
            </a:r>
            <a:endParaRPr lang="en-US" sz="1600" dirty="0"/>
          </a:p>
        </p:txBody>
      </p:sp>
      <p:sp>
        <p:nvSpPr>
          <p:cNvPr id="5" name="Text 3"/>
          <p:cNvSpPr/>
          <p:nvPr/>
        </p:nvSpPr>
        <p:spPr>
          <a:xfrm>
            <a:off x="457200" y="1737360"/>
            <a:ext cx="11274552" cy="4572000"/>
          </a:xfrm>
          <a:prstGeom prst="rect">
            <a:avLst/>
          </a:prstGeom>
          <a:noFill/>
          <a:ln/>
        </p:spPr>
        <p:txBody>
          <a:bodyPr wrap="square" rtlCol="0" anchor="t"/>
          <a:lstStyle/>
          <a:p>
            <a:pPr marL="342900" indent="-342900">
              <a:spcAft>
                <a:spcPts val="600"/>
              </a:spcAft>
              <a:buSzPct val="100000"/>
              <a:buChar char="●"/>
            </a:pPr>
            <a:r>
              <a:rPr lang="en-US" sz="1800" dirty="0">
                <a:solidFill>
                  <a:srgbClr val="F0F4FF"/>
                </a:solidFill>
                <a:latin typeface="Calibri" pitchFamily="34" charset="0"/>
                <a:ea typeface="Calibri" pitchFamily="34" charset="-122"/>
                <a:cs typeface="Calibri" pitchFamily="34" charset="-120"/>
              </a:rPr>
              <a:t>Bundle size matters. PnPjs adds ~50–80 KB depending on imports. For a single-purpose tile that does one Graph call, that's a lot.</a:t>
            </a:r>
            <a:endParaRPr lang="en-US" sz="1800" dirty="0"/>
          </a:p>
          <a:p>
            <a:pPr marL="342900" indent="-342900">
              <a:spcAft>
                <a:spcPts val="600"/>
              </a:spcAft>
              <a:buSzPct val="100000"/>
              <a:buChar char="●"/>
            </a:pPr>
            <a:r>
              <a:rPr lang="en-US" sz="1800" dirty="0">
                <a:solidFill>
                  <a:srgbClr val="F0F4FF"/>
                </a:solidFill>
                <a:latin typeface="Calibri" pitchFamily="34" charset="0"/>
                <a:ea typeface="Calibri" pitchFamily="34" charset="-122"/>
                <a:cs typeface="Calibri" pitchFamily="34" charset="-120"/>
              </a:rPr>
              <a:t>One-off calls with no list interaction (a single /me ping, a webhook trigger).</a:t>
            </a:r>
            <a:endParaRPr lang="en-US" sz="1800" dirty="0"/>
          </a:p>
          <a:p>
            <a:pPr marL="342900" indent="-342900">
              <a:spcAft>
                <a:spcPts val="600"/>
              </a:spcAft>
              <a:buSzPct val="100000"/>
              <a:buChar char="●"/>
            </a:pPr>
            <a:r>
              <a:rPr lang="en-US" sz="1800" dirty="0">
                <a:solidFill>
                  <a:srgbClr val="F0F4FF"/>
                </a:solidFill>
                <a:latin typeface="Calibri" pitchFamily="34" charset="0"/>
                <a:ea typeface="Calibri" pitchFamily="34" charset="-122"/>
                <a:cs typeface="Calibri" pitchFamily="34" charset="-120"/>
              </a:rPr>
              <a:t>Debugging a network issue — fewer abstractions between you and the wire.</a:t>
            </a:r>
            <a:endParaRPr lang="en-US" sz="1800" dirty="0"/>
          </a:p>
          <a:p>
            <a:pPr marL="342900" indent="-342900">
              <a:spcAft>
                <a:spcPts val="600"/>
              </a:spcAft>
              <a:buSzPct val="100000"/>
              <a:buChar char="●"/>
            </a:pPr>
            <a:r>
              <a:rPr lang="en-US" sz="1800" dirty="0">
                <a:solidFill>
                  <a:srgbClr val="F0F4FF"/>
                </a:solidFill>
                <a:latin typeface="Calibri" pitchFamily="34" charset="0"/>
                <a:ea typeface="Calibri" pitchFamily="34" charset="-122"/>
                <a:cs typeface="Calibri" pitchFamily="34" charset="-120"/>
              </a:rPr>
              <a:t>Your team doesn't know PnPjs yet and the call is trivial.</a:t>
            </a:r>
            <a:pPr indent="0" marL="0">
              <a:spcAft>
                <a:spcPts val="600"/>
              </a:spcAft>
              <a:buNone/>
            </a:pPr>
            <a:r>
              <a:rPr lang="en-US" sz="1800" dirty="0">
                <a:solidFill>
                  <a:srgbClr val="F0F4FF"/>
                </a:solidFill>
                <a:latin typeface="Calibri" pitchFamily="34" charset="0"/>
                <a:ea typeface="Calibri" pitchFamily="34" charset="-122"/>
                <a:cs typeface="Calibri" pitchFamily="34" charset="-120"/>
              </a:rPr>
              <a:t> </a:t>
            </a:r>
            <a:pPr indent="0" marL="0">
              <a:spcAft>
                <a:spcPts val="600"/>
              </a:spcAft>
              <a:buNone/>
            </a:pPr>
            <a:r>
              <a:rPr lang="en-US" sz="1800" b="1" i="1" dirty="0">
                <a:solidFill>
                  <a:srgbClr val="00E5FF"/>
                </a:solidFill>
                <a:latin typeface="Calibri" pitchFamily="34" charset="0"/>
                <a:ea typeface="Calibri" pitchFamily="34" charset="-122"/>
                <a:cs typeface="Calibri" pitchFamily="34" charset="-120"/>
              </a:rPr>
              <a:t>Default: PnPjs. Exceptions: above.</a:t>
            </a:r>
            <a:endParaRPr lang="en-US" sz="18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Decision cheat sheet</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11274552" cy="914400"/>
        </p:xfrm>
        <a:graphic>
          <a:graphicData uri="http://schemas.openxmlformats.org/drawingml/2006/table">
            <a:tbl>
              <a:tblPr/>
              <a:tblGrid>
                <a:gridCol w="5943600"/>
                <a:gridCol w="5330952"/>
              </a:tblGrid>
              <a:tr h="384048">
                <a:tc>
                  <a:txBody>
                    <a:bodyPr/>
                    <a:lstStyle/>
                    <a:p>
                      <a:pPr indent="0" marL="0">
                        <a:buNone/>
                      </a:pPr>
                      <a:r>
                        <a:rPr lang="en-US" sz="1400" b="1" dirty="0">
                          <a:solidFill>
                            <a:srgbClr val="00E5FF"/>
                          </a:solidFill>
                          <a:latin typeface="Calibri" pitchFamily="34" charset="0"/>
                          <a:ea typeface="Calibri" pitchFamily="34" charset="-122"/>
                          <a:cs typeface="Calibri" pitchFamily="34" charset="-120"/>
                        </a:rPr>
                        <a:t>Scenario</a:t>
                      </a:r>
                      <a:endParaRPr lang="en-US" sz="14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B2348"/>
                    </a:solidFill>
                  </a:tcPr>
                </a:tc>
                <a:tc>
                  <a:txBody>
                    <a:bodyPr/>
                    <a:lstStyle/>
                    <a:p>
                      <a:pPr indent="0" marL="0">
                        <a:buNone/>
                      </a:pPr>
                      <a:r>
                        <a:rPr lang="en-US" sz="1400" b="1" dirty="0">
                          <a:solidFill>
                            <a:srgbClr val="00E5FF"/>
                          </a:solidFill>
                          <a:latin typeface="Calibri" pitchFamily="34" charset="0"/>
                          <a:ea typeface="Calibri" pitchFamily="34" charset="-122"/>
                          <a:cs typeface="Calibri" pitchFamily="34" charset="-120"/>
                        </a:rPr>
                        <a:t>Use</a:t>
                      </a:r>
                      <a:endParaRPr lang="en-US" sz="14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B2348"/>
                    </a:solidFill>
                  </a:tcPr>
                </a:tc>
              </a:tr>
              <a:tr h="384048">
                <a:tc>
                  <a:txBody>
                    <a:bodyPr/>
                    <a:lstStyle/>
                    <a:p>
                      <a:pPr indent="0" marL="0">
                        <a:buNone/>
                      </a:pPr>
                      <a:r>
                        <a:rPr lang="en-US" sz="1300" dirty="0">
                          <a:solidFill>
                            <a:srgbClr val="F0F4FF"/>
                          </a:solidFill>
                          <a:latin typeface="Calibri" pitchFamily="34" charset="0"/>
                          <a:ea typeface="Calibri" pitchFamily="34" charset="-122"/>
                          <a:cs typeface="Calibri" pitchFamily="34" charset="-120"/>
                        </a:rPr>
                        <a:t>List CRUD on the current site</a:t>
                      </a:r>
                      <a:endParaRPr lang="en-US" sz="13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indent="0" marL="0">
                        <a:buNone/>
                      </a:pPr>
                      <a:r>
                        <a:rPr lang="en-US" sz="1300" b="1" dirty="0">
                          <a:solidFill>
                            <a:srgbClr val="00E5FF"/>
                          </a:solidFill>
                          <a:latin typeface="Calibri" pitchFamily="34" charset="0"/>
                          <a:ea typeface="Calibri" pitchFamily="34" charset="-122"/>
                          <a:cs typeface="Calibri" pitchFamily="34" charset="-120"/>
                        </a:rPr>
                        <a:t>PnPjs SP</a:t>
                      </a:r>
                      <a:endParaRPr lang="en-US" sz="13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r>
              <a:tr h="384048">
                <a:tc>
                  <a:txBody>
                    <a:bodyPr/>
                    <a:lstStyle/>
                    <a:p>
                      <a:pPr indent="0" marL="0">
                        <a:buNone/>
                      </a:pPr>
                      <a:r>
                        <a:rPr lang="en-US" sz="1300" dirty="0">
                          <a:solidFill>
                            <a:srgbClr val="F0F4FF"/>
                          </a:solidFill>
                          <a:latin typeface="Calibri" pitchFamily="34" charset="0"/>
                          <a:ea typeface="Calibri" pitchFamily="34" charset="-122"/>
                          <a:cs typeface="Calibri" pitchFamily="34" charset="-120"/>
                        </a:rPr>
                        <a:t>List CRUD across sites (one tenant)</a:t>
                      </a:r>
                      <a:endParaRPr lang="en-US" sz="13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indent="0" marL="0">
                        <a:buNone/>
                      </a:pPr>
                      <a:r>
                        <a:rPr lang="en-US" sz="1300" b="1" dirty="0">
                          <a:solidFill>
                            <a:srgbClr val="00E5FF"/>
                          </a:solidFill>
                          <a:latin typeface="Calibri" pitchFamily="34" charset="0"/>
                          <a:ea typeface="Calibri" pitchFamily="34" charset="-122"/>
                          <a:cs typeface="Calibri" pitchFamily="34" charset="-120"/>
                        </a:rPr>
                        <a:t>PnPjs Graph</a:t>
                      </a:r>
                      <a:endParaRPr lang="en-US" sz="13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r>
              <a:tr h="384048">
                <a:tc>
                  <a:txBody>
                    <a:bodyPr/>
                    <a:lstStyle/>
                    <a:p>
                      <a:pPr indent="0" marL="0">
                        <a:buNone/>
                      </a:pPr>
                      <a:r>
                        <a:rPr lang="en-US" sz="1300" dirty="0">
                          <a:solidFill>
                            <a:srgbClr val="F0F4FF"/>
                          </a:solidFill>
                          <a:latin typeface="Calibri" pitchFamily="34" charset="0"/>
                          <a:ea typeface="Calibri" pitchFamily="34" charset="-122"/>
                          <a:cs typeface="Calibri" pitchFamily="34" charset="-120"/>
                        </a:rPr>
                        <a:t>Cross-tenant or app-only</a:t>
                      </a:r>
                      <a:endParaRPr lang="en-US" sz="13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indent="0" marL="0">
                        <a:buNone/>
                      </a:pPr>
                      <a:r>
                        <a:rPr lang="en-US" sz="1300" b="1" dirty="0">
                          <a:solidFill>
                            <a:srgbClr val="00E5FF"/>
                          </a:solidFill>
                          <a:latin typeface="Calibri" pitchFamily="34" charset="0"/>
                          <a:ea typeface="Calibri" pitchFamily="34" charset="-122"/>
                          <a:cs typeface="Calibri" pitchFamily="34" charset="-120"/>
                        </a:rPr>
                        <a:t>PnPjs Graph (with custom auth)</a:t>
                      </a:r>
                      <a:endParaRPr lang="en-US" sz="13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r>
              <a:tr h="384048">
                <a:tc>
                  <a:txBody>
                    <a:bodyPr/>
                    <a:lstStyle/>
                    <a:p>
                      <a:pPr indent="0" marL="0">
                        <a:buNone/>
                      </a:pPr>
                      <a:r>
                        <a:rPr lang="en-US" sz="1300" dirty="0">
                          <a:solidFill>
                            <a:srgbClr val="F0F4FF"/>
                          </a:solidFill>
                          <a:latin typeface="Calibri" pitchFamily="34" charset="0"/>
                          <a:ea typeface="Calibri" pitchFamily="34" charset="-122"/>
                          <a:cs typeface="Calibri" pitchFamily="34" charset="-120"/>
                        </a:rPr>
                        <a:t>One-off anonymous fetch</a:t>
                      </a:r>
                      <a:endParaRPr lang="en-US" sz="13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indent="0" marL="0">
                        <a:buNone/>
                      </a:pPr>
                      <a:r>
                        <a:rPr lang="en-US" sz="1300" b="1" dirty="0">
                          <a:solidFill>
                            <a:srgbClr val="00E5FF"/>
                          </a:solidFill>
                          <a:latin typeface="Calibri" pitchFamily="34" charset="0"/>
                          <a:ea typeface="Calibri" pitchFamily="34" charset="-122"/>
                          <a:cs typeface="Calibri" pitchFamily="34" charset="-120"/>
                        </a:rPr>
                        <a:t>SPFx HttpClient</a:t>
                      </a:r>
                      <a:endParaRPr lang="en-US" sz="13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r>
              <a:tr h="384048">
                <a:tc>
                  <a:txBody>
                    <a:bodyPr/>
                    <a:lstStyle/>
                    <a:p>
                      <a:pPr indent="0" marL="0">
                        <a:buNone/>
                      </a:pPr>
                      <a:r>
                        <a:rPr lang="en-US" sz="1300" dirty="0">
                          <a:solidFill>
                            <a:srgbClr val="F0F4FF"/>
                          </a:solidFill>
                          <a:latin typeface="Calibri" pitchFamily="34" charset="0"/>
                          <a:ea typeface="Calibri" pitchFamily="34" charset="-122"/>
                          <a:cs typeface="Calibri" pitchFamily="34" charset="-120"/>
                        </a:rPr>
                        <a:t>Many anonymous fetches, want consistency</a:t>
                      </a:r>
                      <a:endParaRPr lang="en-US" sz="13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indent="0" marL="0">
                        <a:buNone/>
                      </a:pPr>
                      <a:r>
                        <a:rPr lang="en-US" sz="1300" b="1" dirty="0">
                          <a:solidFill>
                            <a:srgbClr val="00E5FF"/>
                          </a:solidFill>
                          <a:latin typeface="Calibri" pitchFamily="34" charset="0"/>
                          <a:ea typeface="Calibri" pitchFamily="34" charset="-122"/>
                          <a:cs typeface="Calibri" pitchFamily="34" charset="-120"/>
                        </a:rPr>
                        <a:t>PnPjs Queryable</a:t>
                      </a:r>
                      <a:endParaRPr lang="en-US" sz="13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r>
              <a:tr h="384048">
                <a:tc>
                  <a:txBody>
                    <a:bodyPr/>
                    <a:lstStyle/>
                    <a:p>
                      <a:pPr indent="0" marL="0">
                        <a:buNone/>
                      </a:pPr>
                      <a:r>
                        <a:rPr lang="en-US" sz="1300" dirty="0">
                          <a:solidFill>
                            <a:srgbClr val="F0F4FF"/>
                          </a:solidFill>
                          <a:latin typeface="Calibri" pitchFamily="34" charset="0"/>
                          <a:ea typeface="Calibri" pitchFamily="34" charset="-122"/>
                          <a:cs typeface="Calibri" pitchFamily="34" charset="-120"/>
                        </a:rPr>
                        <a:t>Prototyping a Graph endpoint</a:t>
                      </a:r>
                      <a:endParaRPr lang="en-US" sz="13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indent="0" marL="0">
                        <a:buNone/>
                      </a:pPr>
                      <a:r>
                        <a:rPr lang="en-US" sz="1300" b="1" dirty="0">
                          <a:solidFill>
                            <a:srgbClr val="00E5FF"/>
                          </a:solidFill>
                          <a:latin typeface="Calibri" pitchFamily="34" charset="0"/>
                          <a:ea typeface="Calibri" pitchFamily="34" charset="-122"/>
                          <a:cs typeface="Calibri" pitchFamily="34" charset="-120"/>
                        </a:rPr>
                        <a:t>SPFx MSGraphClientV3 (or Graph Explorer)</a:t>
                      </a:r>
                      <a:endParaRPr lang="en-US" sz="13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r>
              <a:tr h="384048">
                <a:tc>
                  <a:txBody>
                    <a:bodyPr/>
                    <a:lstStyle/>
                    <a:p>
                      <a:pPr indent="0" marL="0">
                        <a:buNone/>
                      </a:pPr>
                      <a:r>
                        <a:rPr lang="en-US" sz="1300" dirty="0">
                          <a:solidFill>
                            <a:srgbClr val="F0F4FF"/>
                          </a:solidFill>
                          <a:latin typeface="Calibri" pitchFamily="34" charset="0"/>
                          <a:ea typeface="Calibri" pitchFamily="34" charset="-122"/>
                          <a:cs typeface="Calibri" pitchFamily="34" charset="-120"/>
                        </a:rPr>
                        <a:t>Single-purpose perf-critical tile</a:t>
                      </a:r>
                      <a:endParaRPr lang="en-US" sz="13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indent="0" marL="0">
                        <a:buNone/>
                      </a:pPr>
                      <a:r>
                        <a:rPr lang="en-US" sz="1300" b="1" dirty="0">
                          <a:solidFill>
                            <a:srgbClr val="00E5FF"/>
                          </a:solidFill>
                          <a:latin typeface="Calibri" pitchFamily="34" charset="0"/>
                          <a:ea typeface="Calibri" pitchFamily="34" charset="-122"/>
                          <a:cs typeface="Calibri" pitchFamily="34" charset="-120"/>
                        </a:rPr>
                        <a:t>SPFx native</a:t>
                      </a:r>
                      <a:endParaRPr lang="en-US" sz="13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r>
              <a:tr h="384048">
                <a:tc>
                  <a:txBody>
                    <a:bodyPr/>
                    <a:lstStyle/>
                    <a:p>
                      <a:pPr indent="0" marL="0">
                        <a:buNone/>
                      </a:pPr>
                      <a:r>
                        <a:rPr lang="en-US" sz="1300" dirty="0">
                          <a:solidFill>
                            <a:srgbClr val="F0F4FF"/>
                          </a:solidFill>
                          <a:latin typeface="Calibri" pitchFamily="34" charset="0"/>
                          <a:ea typeface="Calibri" pitchFamily="34" charset="-122"/>
                          <a:cs typeface="Calibri" pitchFamily="34" charset="-120"/>
                        </a:rPr>
                        <a:t>You need logging/caching/batching</a:t>
                      </a:r>
                      <a:endParaRPr lang="en-US" sz="13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indent="0" marL="0">
                        <a:buNone/>
                      </a:pPr>
                      <a:r>
                        <a:rPr lang="en-US" sz="1300" b="1" dirty="0">
                          <a:solidFill>
                            <a:srgbClr val="00E5FF"/>
                          </a:solidFill>
                          <a:latin typeface="Calibri" pitchFamily="34" charset="0"/>
                          <a:ea typeface="Calibri" pitchFamily="34" charset="-122"/>
                          <a:cs typeface="Calibri" pitchFamily="34" charset="-120"/>
                        </a:rPr>
                        <a:t>PnPjs (every time)</a:t>
                      </a:r>
                      <a:endParaRPr lang="en-US" sz="1300" dirty="0">
                        <a:latin typeface="Calibri" charset="0"/>
                        <a:ea typeface="Calibri" charset="0"/>
                        <a:cs typeface="Calibri" charset="0"/>
                      </a:endParaRPr>
                    </a:p>
                  </a:txBody>
                  <a:tcPr marL="91440" marR="91440" marT="45720" marB="45720">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r>
            </a:tbl>
          </a:graphicData>
        </a:graphic>
      </p:graphicFrame>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indent="0" marL="0">
              <a:buNone/>
            </a:pPr>
            <a:r>
              <a:rPr lang="en-US" sz="3000" b="1" dirty="0">
                <a:solidFill>
                  <a:srgbClr val="00E5FF"/>
                </a:solidFill>
                <a:latin typeface="Calibri" pitchFamily="34" charset="0"/>
                <a:ea typeface="Calibri" pitchFamily="34" charset="-122"/>
                <a:cs typeface="Calibri" pitchFamily="34" charset="-120"/>
              </a:rPr>
              <a:t>Three takeaways</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sp>
      <p:sp>
        <p:nvSpPr>
          <p:cNvPr id="4" name="Text 2"/>
          <p:cNvSpPr/>
          <p:nvPr/>
        </p:nvSpPr>
        <p:spPr>
          <a:xfrm>
            <a:off x="457200" y="1737360"/>
            <a:ext cx="11274552" cy="2743200"/>
          </a:xfrm>
          <a:prstGeom prst="rect">
            <a:avLst/>
          </a:prstGeom>
          <a:noFill/>
          <a:ln/>
        </p:spPr>
        <p:txBody>
          <a:bodyPr wrap="square" rtlCol="0" anchor="t"/>
          <a:lstStyle/>
          <a:p>
            <a:pPr indent="0" marL="0">
              <a:spcAft>
                <a:spcPts val="800"/>
              </a:spcAft>
              <a:buNone/>
            </a:pPr>
            <a:r>
              <a:rPr lang="en-US" sz="2200" b="1" dirty="0">
                <a:solidFill>
                  <a:srgbClr val="00E5FF"/>
                </a:solidFill>
                <a:latin typeface="Calibri" pitchFamily="34" charset="0"/>
                <a:ea typeface="Calibri" pitchFamily="34" charset="-122"/>
                <a:cs typeface="Calibri" pitchFamily="34" charset="-120"/>
              </a:rPr>
              <a:t>1.  </a:t>
            </a:r>
            <a:pPr indent="0" marL="0">
              <a:spcAft>
                <a:spcPts val="800"/>
              </a:spcAft>
              <a:buNone/>
            </a:pPr>
            <a:r>
              <a:rPr lang="en-US" sz="2200" dirty="0">
                <a:solidFill>
                  <a:srgbClr val="F0F4FF"/>
                </a:solidFill>
                <a:latin typeface="Calibri" pitchFamily="34" charset="0"/>
                <a:ea typeface="Calibri" pitchFamily="34" charset="-122"/>
                <a:cs typeface="Calibri" pitchFamily="34" charset="-120"/>
              </a:rPr>
              <a:t>PnPjs makes the same HTTP request, just typed for you.</a:t>
            </a:r>
            <a:endParaRPr lang="en-US" sz="2200" dirty="0"/>
          </a:p>
          <a:p>
            <a:pPr indent="0" marL="0">
              <a:spcAft>
                <a:spcPts val="800"/>
              </a:spcAft>
              <a:buNone/>
            </a:pPr>
            <a:r>
              <a:rPr lang="en-US" sz="800" dirty="0">
                <a:solidFill>
                  <a:srgbClr val="000000"/>
                </a:solidFill>
                <a:latin typeface="Calibri" pitchFamily="34" charset="0"/>
                <a:ea typeface="Calibri" pitchFamily="34" charset="-122"/>
                <a:cs typeface="Calibri" pitchFamily="34" charset="-120"/>
              </a:rPr>
              <a:t> </a:t>
            </a:r>
            <a:endParaRPr lang="en-US" sz="2200" dirty="0"/>
          </a:p>
          <a:p>
            <a:pPr indent="0" marL="0">
              <a:spcAft>
                <a:spcPts val="800"/>
              </a:spcAft>
              <a:buNone/>
            </a:pPr>
            <a:r>
              <a:rPr lang="en-US" sz="2200" b="1" dirty="0">
                <a:solidFill>
                  <a:srgbClr val="00E5FF"/>
                </a:solidFill>
                <a:latin typeface="Calibri" pitchFamily="34" charset="0"/>
                <a:ea typeface="Calibri" pitchFamily="34" charset="-122"/>
                <a:cs typeface="Calibri" pitchFamily="34" charset="-120"/>
              </a:rPr>
              <a:t>2.  </a:t>
            </a:r>
            <a:pPr indent="0" marL="0">
              <a:spcAft>
                <a:spcPts val="800"/>
              </a:spcAft>
              <a:buNone/>
            </a:pPr>
            <a:r>
              <a:rPr lang="en-US" sz="2200" dirty="0">
                <a:solidFill>
                  <a:srgbClr val="F0F4FF"/>
                </a:solidFill>
                <a:latin typeface="Calibri" pitchFamily="34" charset="0"/>
                <a:ea typeface="Calibri" pitchFamily="34" charset="-122"/>
                <a:cs typeface="Calibri" pitchFamily="34" charset="-120"/>
              </a:rPr>
              <a:t>Logging, caching, and batching are one toggle each.</a:t>
            </a:r>
            <a:endParaRPr lang="en-US" sz="2200" dirty="0"/>
          </a:p>
          <a:p>
            <a:pPr indent="0" marL="0">
              <a:spcAft>
                <a:spcPts val="800"/>
              </a:spcAft>
              <a:buNone/>
            </a:pPr>
            <a:r>
              <a:rPr lang="en-US" sz="800" dirty="0">
                <a:solidFill>
                  <a:srgbClr val="000000"/>
                </a:solidFill>
                <a:latin typeface="Calibri" pitchFamily="34" charset="0"/>
                <a:ea typeface="Calibri" pitchFamily="34" charset="-122"/>
                <a:cs typeface="Calibri" pitchFamily="34" charset="-120"/>
              </a:rPr>
              <a:t> </a:t>
            </a:r>
            <a:endParaRPr lang="en-US" sz="2200" dirty="0"/>
          </a:p>
          <a:p>
            <a:pPr indent="0" marL="0">
              <a:spcAft>
                <a:spcPts val="800"/>
              </a:spcAft>
              <a:buNone/>
            </a:pPr>
            <a:r>
              <a:rPr lang="en-US" sz="2200" b="1" dirty="0">
                <a:solidFill>
                  <a:srgbClr val="00E5FF"/>
                </a:solidFill>
                <a:latin typeface="Calibri" pitchFamily="34" charset="0"/>
                <a:ea typeface="Calibri" pitchFamily="34" charset="-122"/>
                <a:cs typeface="Calibri" pitchFamily="34" charset="-120"/>
              </a:rPr>
              <a:t>3.  </a:t>
            </a:r>
            <a:pPr indent="0" marL="0">
              <a:spcAft>
                <a:spcPts val="800"/>
              </a:spcAft>
              <a:buNone/>
            </a:pPr>
            <a:r>
              <a:rPr lang="en-US" sz="2200" dirty="0">
                <a:solidFill>
                  <a:srgbClr val="F0F4FF"/>
                </a:solidFill>
                <a:latin typeface="Calibri" pitchFamily="34" charset="0"/>
                <a:ea typeface="Calibri" pitchFamily="34" charset="-122"/>
                <a:cs typeface="Calibri" pitchFamily="34" charset="-120"/>
              </a:rPr>
              <a:t>Reach for SPFx-native deliberately, not by default.</a:t>
            </a:r>
            <a:endParaRPr lang="en-US" sz="2200" dirty="0"/>
          </a:p>
        </p:txBody>
      </p:sp>
      <p:sp>
        <p:nvSpPr>
          <p:cNvPr id="5" name="Text 3"/>
          <p:cNvSpPr/>
          <p:nvPr/>
        </p:nvSpPr>
        <p:spPr>
          <a:xfrm>
            <a:off x="457200" y="4617720"/>
            <a:ext cx="11274552" cy="365760"/>
          </a:xfrm>
          <a:prstGeom prst="rect">
            <a:avLst/>
          </a:prstGeom>
          <a:noFill/>
          <a:ln/>
        </p:spPr>
        <p:txBody>
          <a:bodyPr wrap="square" rtlCol="0" anchor="ctr"/>
          <a:lstStyle/>
          <a:p>
            <a:pPr indent="0" marL="0">
              <a:buNone/>
            </a:pPr>
            <a:r>
              <a:rPr lang="en-US" sz="1400" b="1" dirty="0">
                <a:solidFill>
                  <a:srgbClr val="B580FF"/>
                </a:solidFill>
                <a:latin typeface="Calibri" pitchFamily="34" charset="0"/>
                <a:ea typeface="Calibri" pitchFamily="34" charset="-122"/>
                <a:cs typeface="Calibri" pitchFamily="34" charset="-120"/>
              </a:rPr>
              <a:t>Resources</a:t>
            </a:r>
            <a:endParaRPr lang="en-US" sz="1400" dirty="0"/>
          </a:p>
        </p:txBody>
      </p:sp>
      <p:sp>
        <p:nvSpPr>
          <p:cNvPr id="6" name="Text 4"/>
          <p:cNvSpPr/>
          <p:nvPr/>
        </p:nvSpPr>
        <p:spPr>
          <a:xfrm>
            <a:off x="457200" y="4937760"/>
            <a:ext cx="11274552" cy="1371600"/>
          </a:xfrm>
          <a:prstGeom prst="rect">
            <a:avLst/>
          </a:prstGeom>
          <a:noFill/>
          <a:ln/>
        </p:spPr>
        <p:txBody>
          <a:bodyPr wrap="square" rtlCol="0" anchor="t"/>
          <a:lstStyle/>
          <a:p>
            <a:pPr marL="342900" indent="-342900">
              <a:spcAft>
                <a:spcPts val="200"/>
              </a:spcAft>
              <a:buSzPct val="100000"/>
              <a:buChar char="●"/>
            </a:pPr>
            <a:r>
              <a:rPr lang="en-US" sz="1300" dirty="0">
                <a:solidFill>
                  <a:srgbClr val="F0F4FF"/>
                </a:solidFill>
                <a:latin typeface="Calibri" pitchFamily="34" charset="0"/>
                <a:ea typeface="Calibri" pitchFamily="34" charset="-122"/>
                <a:cs typeface="Calibri" pitchFamily="34" charset="-120"/>
              </a:rPr>
              <a:t>PnPjs docs — https://pnp.github.io/pnpjs/</a:t>
            </a:r>
            <a:endParaRPr lang="en-US" sz="1300" dirty="0"/>
          </a:p>
          <a:p>
            <a:pPr marL="342900" indent="-342900">
              <a:spcAft>
                <a:spcPts val="200"/>
              </a:spcAft>
              <a:buSzPct val="100000"/>
              <a:buChar char="●"/>
            </a:pPr>
            <a:r>
              <a:rPr lang="en-US" sz="1300" dirty="0">
                <a:solidFill>
                  <a:srgbClr val="F0F4FF"/>
                </a:solidFill>
                <a:latin typeface="Calibri" pitchFamily="34" charset="0"/>
                <a:ea typeface="Calibri" pitchFamily="34" charset="-122"/>
                <a:cs typeface="Calibri" pitchFamily="34" charset="-120"/>
              </a:rPr>
              <a:t>SPFx HTTP clients — https://learn.microsoft.com/sharepoint/dev/spfx/web-parts/basics/connect-to-sharepoint</a:t>
            </a:r>
            <a:endParaRPr lang="en-US" sz="1300" dirty="0"/>
          </a:p>
          <a:p>
            <a:pPr marL="342900" indent="-342900">
              <a:spcAft>
                <a:spcPts val="200"/>
              </a:spcAft>
              <a:buSzPct val="100000"/>
              <a:buChar char="●"/>
            </a:pPr>
            <a:r>
              <a:rPr lang="en-US" sz="1300" dirty="0">
                <a:solidFill>
                  <a:srgbClr val="F0F4FF"/>
                </a:solidFill>
                <a:latin typeface="Calibri" pitchFamily="34" charset="0"/>
                <a:ea typeface="Calibri" pitchFamily="34" charset="-122"/>
                <a:cs typeface="Calibri" pitchFamily="34" charset="-120"/>
              </a:rPr>
              <a:t>Microsoft Graph — https://learn.microsoft.com/graph/</a:t>
            </a:r>
            <a:endParaRPr lang="en-US" sz="1300" dirty="0"/>
          </a:p>
          <a:p>
            <a:pPr marL="342900" indent="-342900">
              <a:spcAft>
                <a:spcPts val="200"/>
              </a:spcAft>
              <a:buSzPct val="100000"/>
              <a:buChar char="●"/>
            </a:pPr>
            <a:r>
              <a:rPr lang="en-US" sz="1300" dirty="0">
                <a:solidFill>
                  <a:srgbClr val="F0F4FF"/>
                </a:solidFill>
                <a:latin typeface="Calibri" pitchFamily="34" charset="0"/>
                <a:ea typeface="Calibri" pitchFamily="34" charset="-122"/>
                <a:cs typeface="Calibri" pitchFamily="34" charset="-120"/>
              </a:rPr>
              <a:t>This demo project — https://github.com/DonKirkham/DataDemo</a:t>
            </a:r>
            <a:endParaRPr lang="en-US" sz="13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0E5FF"/>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2560320"/>
            <a:ext cx="11274552" cy="1463040"/>
          </a:xfrm>
          <a:prstGeom prst="rect">
            <a:avLst/>
          </a:prstGeom>
          <a:noFill/>
          <a:ln/>
        </p:spPr>
        <p:txBody>
          <a:bodyPr wrap="square" rtlCol="0" anchor="ctr"/>
          <a:lstStyle/>
          <a:p>
            <a:pPr algn="ctr" indent="0" marL="0">
              <a:buNone/>
            </a:pPr>
            <a:r>
              <a:rPr lang="en-US" sz="9600" b="1" dirty="0">
                <a:solidFill>
                  <a:srgbClr val="00E5FF"/>
                </a:solidFill>
                <a:latin typeface="Calibri" pitchFamily="34" charset="0"/>
                <a:ea typeface="Calibri" pitchFamily="34" charset="-122"/>
                <a:cs typeface="Calibri" pitchFamily="34" charset="-120"/>
              </a:rPr>
              <a:t>Q&amp;A</a:t>
            </a:r>
            <a:endParaRPr lang="en-US" sz="9600" dirty="0"/>
          </a:p>
        </p:txBody>
      </p:sp>
      <p:sp>
        <p:nvSpPr>
          <p:cNvPr id="3" name="Text 1"/>
          <p:cNvSpPr/>
          <p:nvPr/>
        </p:nvSpPr>
        <p:spPr>
          <a:xfrm>
            <a:off x="457200" y="4206240"/>
            <a:ext cx="11274552" cy="548640"/>
          </a:xfrm>
          <a:prstGeom prst="rect">
            <a:avLst/>
          </a:prstGeom>
          <a:noFill/>
          <a:ln/>
        </p:spPr>
        <p:txBody>
          <a:bodyPr wrap="square" rtlCol="0" anchor="ctr"/>
          <a:lstStyle/>
          <a:p>
            <a:pPr algn="ctr" indent="0" marL="0">
              <a:buNone/>
            </a:pPr>
            <a:r>
              <a:rPr lang="en-US" sz="2400" i="1" dirty="0">
                <a:solidFill>
                  <a:srgbClr val="B580FF"/>
                </a:solidFill>
                <a:latin typeface="Calibri" pitchFamily="34" charset="0"/>
                <a:ea typeface="Calibri" pitchFamily="34" charset="-122"/>
                <a:cs typeface="Calibri"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Solution Foundry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Reading and Writing SharePoint Data from SPFx</dc:title>
  <dc:subject>PptxGenJS Presentation</dc:subject>
  <dc:creator>Don Kirkham</dc:creator>
  <cp:lastModifiedBy>Don Kirkham</cp:lastModifiedBy>
  <cp:revision>1</cp:revision>
  <dcterms:created xsi:type="dcterms:W3CDTF">2026-05-04T14:39:35Z</dcterms:created>
  <dcterms:modified xsi:type="dcterms:W3CDTF">2026-05-04T14:39:35Z</dcterms:modified>
</cp:coreProperties>
</file>