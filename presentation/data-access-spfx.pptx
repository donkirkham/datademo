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5" d="100"/>
          <a:sy n="155" d="100"/>
        </p:scale>
        <p:origin x="264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7304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problem" is a Speaking Events list — Title, Speaker, Session, SessionDate, SessionType, EventLogo, EventSite, SessionLink. Same CRUD operations against the same list. Six implementations.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ever written fetch against /_api/web, you know the headers dance. SPFx hides that. That's already a win over raw fetch."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URL — $select, $expand, $filter, $orderby. Memorize this URL shape; it matters in 30 minutes. Highlight the as IEventItem[] cast — TypeScript trusts you, SharePoint doesn't validate.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"use Graph for everything" advice falls down. Graph is great for non-SP workloads. For SP lists, REST is often cleaner.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Prefer header is a fallback for non-indexed columns — unreliable. Indexing is the real fix. "If you've never seen these errors, that's because you've been using PnPjs and you didn't know it was hiding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Pause here. Don't rush. "We just wrote three services. Every one of them needs the same five things added before it's production-ready. We're going to write the same three services again with PnPjs, and you're going to watch all five columns light up."
Disambiguation: the [DataDemo] lines in console aren't the data layer logging — those are component-level Logger.info calls announcing user actions. The empty-cell claim is about automatic request/response logging at the data layer, which we wire up for free in the PnPjs pass. Keep DevTools focused on Network tab during Pass 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Stay on it. The audience needs to leave this slide trusting that PnPjs isn't doing anything weird underneath. That trust is what makes the next slides land.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upgrade in the demo is a single-line toggle (a property pane checkbox for logging, an uncomment for caching, a commented block swap for batching). No live editing of fluent chains under pressure. The Caching demo is the visceral one — Click → wait → click → instant. The batching demo is the architectural 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Tease: "If you're shipping into production without observability on your data calls, this is the easiest win you'll ever take." The wrapper isn't a hard requirement — Logger.subscribe(ConsoleListener()) works out of the box. The wrapper just lets us prefix [DataDemo] and route through console.info/console.debug for the collapsible-tree affordance.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$batch is not transactional. If page 3 fails, pages 1 and 2 still came back. PnPjs surfaces per-operation results so you can detect partial failures. The demo uses paginated reads because the Speaking Events list isn't big enough for a bulk-write story to land. The pattern is identical for writes.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to be ready for:
- "Does PnPjs work with app-only auth?" → Yes, but not via SPFx behavior — you provide your own MSAL token via using().
- "Bundle impact?" → Tree-shakes well. Import the selectives (@pnp/sp/webs, @pnp/sp/lists, @pnp/sp/items) not the barrel.
- "PnPjs v3 vs v4?" → v4 is current. v3 → v4 was the batching API rewrite (sp.createBatch() → sp.batched()).
- "Why not just use Graph for everything?" → You saw the expand=fields mess. SP REST is cleaner for SP data.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PACE_BASE">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274320" y="274320"/>
            <a:ext cx="73152" cy="73152"/>
          </a:xfrm>
          <a:prstGeom prst="rect">
            <a:avLst/>
          </a:prstGeom>
          <a:solidFill>
            <a:srgbClr val="00E5FF"/>
          </a:solidFill>
          <a:ln w="12700">
            <a:solidFill>
              <a:srgbClr val="00E5FF"/>
            </a:solidFill>
            <a:prstDash val="solid"/>
          </a:ln>
        </p:spPr>
      </p:sp>
      <p:sp>
        <p:nvSpPr>
          <p:cNvPr id="3" name="Shape 1"/>
          <p:cNvSpPr/>
          <p:nvPr/>
        </p:nvSpPr>
        <p:spPr>
          <a:xfrm>
            <a:off x="411480" y="384048"/>
            <a:ext cx="45720" cy="45720"/>
          </a:xfrm>
          <a:prstGeom prst="rect">
            <a:avLst/>
          </a:prstGeom>
          <a:solidFill>
            <a:srgbClr val="B580FF"/>
          </a:solidFill>
          <a:ln w="12700">
            <a:solidFill>
              <a:srgbClr val="B580FF"/>
            </a:solidFill>
            <a:prstDash val="solid"/>
          </a:ln>
        </p:spPr>
      </p:sp>
      <p:sp>
        <p:nvSpPr>
          <p:cNvPr id="4" name="Shape 2"/>
          <p:cNvSpPr/>
          <p:nvPr/>
        </p:nvSpPr>
        <p:spPr>
          <a:xfrm>
            <a:off x="502920" y="292608"/>
            <a:ext cx="36576" cy="36576"/>
          </a:xfrm>
          <a:prstGeom prst="rect">
            <a:avLst/>
          </a:prstGeom>
          <a:solidFill>
            <a:srgbClr val="00E5FF"/>
          </a:solidFill>
          <a:ln w="12700">
            <a:solidFill>
              <a:srgbClr val="00E5FF"/>
            </a:solidFill>
            <a:prstDash val="solid"/>
          </a:ln>
        </p:spPr>
      </p:sp>
      <p:sp>
        <p:nvSpPr>
          <p:cNvPr id="5" name="Shape 3"/>
          <p:cNvSpPr/>
          <p:nvPr/>
        </p:nvSpPr>
        <p:spPr>
          <a:xfrm>
            <a:off x="457200" y="6446520"/>
            <a:ext cx="11274552" cy="0"/>
          </a:xfrm>
          <a:prstGeom prst="line">
            <a:avLst/>
          </a:prstGeom>
          <a:noFill/>
          <a:ln w="9525">
            <a:solidFill>
              <a:srgbClr val="2A3258"/>
            </a:solidFill>
            <a:prstDash val="solid"/>
          </a:ln>
        </p:spPr>
      </p:sp>
      <p:sp>
        <p:nvSpPr>
          <p:cNvPr id="6" name="Text 4"/>
          <p:cNvSpPr/>
          <p:nvPr/>
        </p:nvSpPr>
        <p:spPr>
          <a:xfrm>
            <a:off x="457200" y="6492240"/>
            <a:ext cx="9601200" cy="274320"/>
          </a:xfrm>
          <a:prstGeom prst="rect">
            <a:avLst/>
          </a:prstGeom>
          <a:noFill/>
          <a:ln/>
        </p:spPr>
        <p:txBody>
          <a:bodyPr wrap="square" rtlCol="0" anchor="ctr"/>
          <a:lstStyle/>
          <a:p>
            <a:pPr marL="0" indent="0">
              <a:buNone/>
            </a:pPr>
            <a:r>
              <a:rPr lang="en-US" sz="900" dirty="0">
                <a:solidFill>
                  <a:srgbClr val="A4ADCE"/>
                </a:solidFill>
                <a:latin typeface="Calibri" pitchFamily="34" charset="0"/>
                <a:ea typeface="Calibri" pitchFamily="34" charset="-122"/>
                <a:cs typeface="Calibri" pitchFamily="34" charset="-120"/>
              </a:rPr>
              <a:t>Don Kirkham · Solution Foundry · Reading and Writing SharePoint Data from SPFx</a:t>
            </a:r>
            <a:endParaRPr lang="en-US" sz="900" dirty="0"/>
          </a:p>
        </p:txBody>
      </p:sp>
      <p:sp>
        <p:nvSpPr>
          <p:cNvPr id="7" name="Text 5"/>
          <p:cNvSpPr/>
          <p:nvPr/>
        </p:nvSpPr>
        <p:spPr>
          <a:xfrm>
            <a:off x="10515600" y="6492240"/>
            <a:ext cx="1188720" cy="274320"/>
          </a:xfrm>
          <a:prstGeom prst="rect">
            <a:avLst/>
          </a:prstGeom>
          <a:noFill/>
          <a:ln/>
        </p:spPr>
        <p:txBody>
          <a:bodyPr wrap="square" rtlCol="0" anchor="ctr"/>
          <a:lstStyle/>
          <a:p>
            <a:pPr marL="0" indent="0" algn="r">
              <a:buNone/>
            </a:pPr>
            <a:r>
              <a:rPr lang="en-US" sz="900" dirty="0">
                <a:solidFill>
                  <a:srgbClr val="00E5FF"/>
                </a:solidFill>
                <a:latin typeface="Calibri" pitchFamily="34" charset="0"/>
                <a:ea typeface="Calibri" pitchFamily="34" charset="-122"/>
                <a:cs typeface="Calibri" pitchFamily="34" charset="-120"/>
              </a:rPr>
              <a:t>PAGE_NUM</a:t>
            </a:r>
            <a:endParaRPr lang="en-US" sz="9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PACE_SECTION">
    <p:bg>
      <p:bgPr>
        <a:solidFill>
          <a:srgbClr val="0A0E27"/>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377440"/>
            <a:ext cx="11274552" cy="1097280"/>
          </a:xfrm>
          <a:prstGeom prst="rect">
            <a:avLst/>
          </a:prstGeom>
          <a:noFill/>
          <a:ln/>
        </p:spPr>
        <p:txBody>
          <a:bodyPr wrap="square" rtlCol="0" anchor="ctr"/>
          <a:lstStyle/>
          <a:p>
            <a:pPr marL="0" indent="0" algn="ctr">
              <a:buNone/>
            </a:pPr>
            <a:r>
              <a:rPr lang="en-US" sz="5600" b="1" dirty="0">
                <a:solidFill>
                  <a:srgbClr val="00E5FF"/>
                </a:solidFill>
                <a:latin typeface="Calibri" pitchFamily="34" charset="0"/>
                <a:ea typeface="Calibri" pitchFamily="34" charset="-122"/>
                <a:cs typeface="Calibri" pitchFamily="34" charset="-120"/>
              </a:rPr>
              <a:t>TITLE SLIDE</a:t>
            </a:r>
            <a:endParaRPr lang="en-US" sz="5600" dirty="0"/>
          </a:p>
        </p:txBody>
      </p:sp>
      <p:sp>
        <p:nvSpPr>
          <p:cNvPr id="3" name="Text 1"/>
          <p:cNvSpPr/>
          <p:nvPr/>
        </p:nvSpPr>
        <p:spPr>
          <a:xfrm>
            <a:off x="457200" y="3566160"/>
            <a:ext cx="11274552" cy="548640"/>
          </a:xfrm>
          <a:prstGeom prst="rect">
            <a:avLst/>
          </a:prstGeom>
          <a:noFill/>
          <a:ln/>
        </p:spPr>
        <p:txBody>
          <a:bodyPr wrap="square" rtlCol="0" anchor="ctr"/>
          <a:lstStyle/>
          <a:p>
            <a:pPr marL="0" indent="0" algn="ctr">
              <a:buNone/>
            </a:pPr>
            <a:r>
              <a:rPr lang="en-US" sz="2000" i="1" dirty="0">
                <a:solidFill>
                  <a:srgbClr val="A4ADCE"/>
                </a:solidFill>
                <a:latin typeface="Calibri" pitchFamily="34" charset="0"/>
                <a:ea typeface="Calibri" pitchFamily="34" charset="-122"/>
                <a:cs typeface="Calibri" pitchFamily="34" charset="-120"/>
              </a:rPr>
              <a:t>(replace with your own)</a:t>
            </a:r>
            <a:endParaRPr lang="en-US" sz="2000" dirty="0"/>
          </a:p>
        </p:txBody>
      </p:sp>
      <p:sp>
        <p:nvSpPr>
          <p:cNvPr id="4" name="Text 2"/>
          <p:cNvSpPr/>
          <p:nvPr/>
        </p:nvSpPr>
        <p:spPr>
          <a:xfrm>
            <a:off x="457200" y="4206240"/>
            <a:ext cx="11274552" cy="457200"/>
          </a:xfrm>
          <a:prstGeom prst="rect">
            <a:avLst/>
          </a:prstGeom>
          <a:noFill/>
          <a:ln/>
        </p:spPr>
        <p:txBody>
          <a:bodyPr wrap="square" rtlCol="0" anchor="ctr"/>
          <a:lstStyle/>
          <a:p>
            <a:pPr marL="0" indent="0" algn="ctr">
              <a:buNone/>
            </a:pPr>
            <a:r>
              <a:rPr lang="en-US" sz="1800" dirty="0">
                <a:solidFill>
                  <a:srgbClr val="B580FF"/>
                </a:solidFill>
                <a:latin typeface="Calibri" pitchFamily="34" charset="0"/>
                <a:ea typeface="Calibri" pitchFamily="34" charset="-122"/>
                <a:cs typeface="Calibri" pitchFamily="34" charset="-120"/>
              </a:rPr>
              <a:t>Don Kirkham · Solution Foundry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377440"/>
            <a:ext cx="11274552" cy="1097280"/>
          </a:xfrm>
          <a:prstGeom prst="rect">
            <a:avLst/>
          </a:prstGeom>
          <a:noFill/>
          <a:ln/>
        </p:spPr>
        <p:txBody>
          <a:bodyPr wrap="square" rtlCol="0" anchor="ctr"/>
          <a:lstStyle/>
          <a:p>
            <a:pPr marL="0" indent="0" algn="ctr">
              <a:buNone/>
            </a:pPr>
            <a:r>
              <a:rPr lang="en-US" sz="5600" b="1" dirty="0">
                <a:solidFill>
                  <a:srgbClr val="00E5FF"/>
                </a:solidFill>
                <a:latin typeface="Calibri" pitchFamily="34" charset="0"/>
                <a:ea typeface="Calibri" pitchFamily="34" charset="-122"/>
                <a:cs typeface="Calibri" pitchFamily="34" charset="-120"/>
              </a:rPr>
              <a:t>ABOUT ME</a:t>
            </a:r>
            <a:endParaRPr lang="en-US" sz="5600" dirty="0"/>
          </a:p>
        </p:txBody>
      </p:sp>
      <p:sp>
        <p:nvSpPr>
          <p:cNvPr id="3" name="Text 1"/>
          <p:cNvSpPr/>
          <p:nvPr/>
        </p:nvSpPr>
        <p:spPr>
          <a:xfrm>
            <a:off x="457200" y="3566160"/>
            <a:ext cx="11274552" cy="548640"/>
          </a:xfrm>
          <a:prstGeom prst="rect">
            <a:avLst/>
          </a:prstGeom>
          <a:noFill/>
          <a:ln/>
        </p:spPr>
        <p:txBody>
          <a:bodyPr wrap="square" rtlCol="0" anchor="ctr"/>
          <a:lstStyle/>
          <a:p>
            <a:pPr marL="0" indent="0" algn="ctr">
              <a:buNone/>
            </a:pPr>
            <a:r>
              <a:rPr lang="en-US" sz="2000" i="1" dirty="0">
                <a:solidFill>
                  <a:srgbClr val="A4ADCE"/>
                </a:solidFill>
                <a:latin typeface="Calibri" pitchFamily="34" charset="0"/>
                <a:ea typeface="Calibri" pitchFamily="34" charset="-122"/>
                <a:cs typeface="Calibri" pitchFamily="34" charset="-120"/>
              </a:rPr>
              <a:t>(replace with your own)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Why this talk</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You have four ways to get data into an SPFx web part</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SP REST via SPHttpClient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MS Graph via MSGraphClientV3</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Anonymous external APIs via HttpClient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PnPjs (@pnp/sp, @pnp/graph, @pnp/queryable) — wraps the first three </a:t>
            </a:r>
            <a:r>
              <a:rPr lang="en-US" sz="1800" i="1" dirty="0">
                <a:solidFill>
                  <a:srgbClr val="B580FF"/>
                </a:solidFill>
                <a:latin typeface="Calibri" pitchFamily="34" charset="0"/>
                <a:ea typeface="Calibri" pitchFamily="34" charset="-122"/>
                <a:cs typeface="Calibri" pitchFamily="34" charset="-120"/>
              </a:rPr>
              <a:t>Most tutorials pick one and move on. Today we compare them on the same problem.</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The roadmap</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3657600" cy="4206240"/>
          </a:xfrm>
          <a:prstGeom prst="roundRect">
            <a:avLst>
              <a:gd name="adj" fmla="val 2500"/>
            </a:avLst>
          </a:prstGeom>
          <a:solidFill>
            <a:srgbClr val="141937"/>
          </a:solidFill>
          <a:ln w="19050">
            <a:solidFill>
              <a:srgbClr val="00E5FF"/>
            </a:solidFill>
            <a:prstDash val="solid"/>
          </a:ln>
        </p:spPr>
        <p:txBody>
          <a:bodyPr/>
          <a:lstStyle/>
          <a:p>
            <a:endParaRPr lang="en-US"/>
          </a:p>
        </p:txBody>
      </p:sp>
      <p:sp>
        <p:nvSpPr>
          <p:cNvPr id="5" name="Text 3"/>
          <p:cNvSpPr/>
          <p:nvPr/>
        </p:nvSpPr>
        <p:spPr>
          <a:xfrm>
            <a:off x="640080" y="1901952"/>
            <a:ext cx="3291840" cy="457200"/>
          </a:xfrm>
          <a:prstGeom prst="rect">
            <a:avLst/>
          </a:prstGeom>
          <a:noFill/>
          <a:ln/>
        </p:spPr>
        <p:txBody>
          <a:bodyPr wrap="square" rtlCol="0" anchor="ctr"/>
          <a:lstStyle/>
          <a:p>
            <a:pPr marL="0" indent="0">
              <a:buNone/>
            </a:pPr>
            <a:r>
              <a:rPr lang="en-US" sz="1600" b="1" dirty="0">
                <a:solidFill>
                  <a:srgbClr val="00E5FF"/>
                </a:solidFill>
                <a:latin typeface="Calibri" pitchFamily="34" charset="0"/>
                <a:ea typeface="Calibri" pitchFamily="34" charset="-122"/>
                <a:cs typeface="Calibri" pitchFamily="34" charset="-120"/>
              </a:rPr>
              <a:t>PASS 1 — SPFx native</a:t>
            </a:r>
            <a:endParaRPr lang="en-US" sz="1600" dirty="0"/>
          </a:p>
        </p:txBody>
      </p:sp>
      <p:sp>
        <p:nvSpPr>
          <p:cNvPr id="6" name="Text 4"/>
          <p:cNvSpPr/>
          <p:nvPr/>
        </p:nvSpPr>
        <p:spPr>
          <a:xfrm>
            <a:off x="640080" y="2377440"/>
            <a:ext cx="3291840" cy="320040"/>
          </a:xfrm>
          <a:prstGeom prst="rect">
            <a:avLst/>
          </a:prstGeom>
          <a:noFill/>
          <a:ln/>
        </p:spPr>
        <p:txBody>
          <a:bodyPr wrap="square" rtlCol="0" anchor="ctr"/>
          <a:lstStyle/>
          <a:p>
            <a:pPr marL="0" indent="0">
              <a:buNone/>
            </a:pPr>
            <a:r>
              <a:rPr lang="en-US" sz="1100" i="1" dirty="0">
                <a:solidFill>
                  <a:srgbClr val="A4ADCE"/>
                </a:solidFill>
                <a:latin typeface="Calibri" pitchFamily="34" charset="0"/>
                <a:ea typeface="Calibri" pitchFamily="34" charset="-122"/>
                <a:cs typeface="Calibri" pitchFamily="34" charset="-120"/>
              </a:rPr>
              <a:t>≈20 min</a:t>
            </a:r>
            <a:endParaRPr lang="en-US" sz="1100" dirty="0"/>
          </a:p>
        </p:txBody>
      </p:sp>
      <p:sp>
        <p:nvSpPr>
          <p:cNvPr id="7" name="Text 5"/>
          <p:cNvSpPr/>
          <p:nvPr/>
        </p:nvSpPr>
        <p:spPr>
          <a:xfrm>
            <a:off x="640080"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SP REST against the list</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MS Graph against the same list (and Graph Explorer)</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Anonymous calls to a public API</a:t>
            </a:r>
            <a:endParaRPr lang="en-US" sz="1400" dirty="0"/>
          </a:p>
        </p:txBody>
      </p:sp>
      <p:sp>
        <p:nvSpPr>
          <p:cNvPr id="8" name="Shape 6"/>
          <p:cNvSpPr/>
          <p:nvPr/>
        </p:nvSpPr>
        <p:spPr>
          <a:xfrm>
            <a:off x="4233672" y="1737360"/>
            <a:ext cx="3657600" cy="4206240"/>
          </a:xfrm>
          <a:prstGeom prst="roundRect">
            <a:avLst>
              <a:gd name="adj" fmla="val 2500"/>
            </a:avLst>
          </a:prstGeom>
          <a:solidFill>
            <a:srgbClr val="141937"/>
          </a:solidFill>
          <a:ln w="19050">
            <a:solidFill>
              <a:srgbClr val="FFB347"/>
            </a:solidFill>
            <a:prstDash val="solid"/>
          </a:ln>
        </p:spPr>
        <p:txBody>
          <a:bodyPr/>
          <a:lstStyle/>
          <a:p>
            <a:endParaRPr lang="en-US"/>
          </a:p>
        </p:txBody>
      </p:sp>
      <p:sp>
        <p:nvSpPr>
          <p:cNvPr id="9" name="Text 7"/>
          <p:cNvSpPr/>
          <p:nvPr/>
        </p:nvSpPr>
        <p:spPr>
          <a:xfrm>
            <a:off x="4416552" y="1901952"/>
            <a:ext cx="3291840" cy="457200"/>
          </a:xfrm>
          <a:prstGeom prst="rect">
            <a:avLst/>
          </a:prstGeom>
          <a:noFill/>
          <a:ln/>
        </p:spPr>
        <p:txBody>
          <a:bodyPr wrap="square" rtlCol="0" anchor="ctr"/>
          <a:lstStyle/>
          <a:p>
            <a:pPr marL="0" indent="0">
              <a:buNone/>
            </a:pPr>
            <a:r>
              <a:rPr lang="en-US" sz="1600" b="1" dirty="0">
                <a:solidFill>
                  <a:srgbClr val="FFB347"/>
                </a:solidFill>
                <a:latin typeface="Calibri" pitchFamily="34" charset="0"/>
                <a:ea typeface="Calibri" pitchFamily="34" charset="-122"/>
                <a:cs typeface="Calibri" pitchFamily="34" charset="-120"/>
              </a:rPr>
              <a:t>PIVOT</a:t>
            </a:r>
            <a:endParaRPr lang="en-US" sz="1600" dirty="0"/>
          </a:p>
        </p:txBody>
      </p:sp>
      <p:sp>
        <p:nvSpPr>
          <p:cNvPr id="10" name="Text 8"/>
          <p:cNvSpPr/>
          <p:nvPr/>
        </p:nvSpPr>
        <p:spPr>
          <a:xfrm>
            <a:off x="4416552" y="2377440"/>
            <a:ext cx="3291840" cy="320040"/>
          </a:xfrm>
          <a:prstGeom prst="rect">
            <a:avLst/>
          </a:prstGeom>
          <a:noFill/>
          <a:ln/>
        </p:spPr>
        <p:txBody>
          <a:bodyPr wrap="square" rtlCol="0" anchor="ctr"/>
          <a:lstStyle/>
          <a:p>
            <a:pPr marL="0" indent="0">
              <a:buNone/>
            </a:pPr>
            <a:r>
              <a:rPr lang="en-US" sz="1100" i="1" dirty="0">
                <a:solidFill>
                  <a:srgbClr val="A4ADCE"/>
                </a:solidFill>
                <a:latin typeface="Calibri" pitchFamily="34" charset="0"/>
                <a:ea typeface="Calibri" pitchFamily="34" charset="-122"/>
                <a:cs typeface="Calibri" pitchFamily="34" charset="-120"/>
              </a:rPr>
              <a:t>≈2 min</a:t>
            </a:r>
            <a:endParaRPr lang="en-US" sz="1100" dirty="0"/>
          </a:p>
        </p:txBody>
      </p:sp>
      <p:sp>
        <p:nvSpPr>
          <p:cNvPr id="11" name="Text 9"/>
          <p:cNvSpPr/>
          <p:nvPr/>
        </p:nvSpPr>
        <p:spPr>
          <a:xfrm>
            <a:off x="4416552"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What's missing?</a:t>
            </a:r>
            <a:endParaRPr lang="en-US" sz="1400" dirty="0"/>
          </a:p>
        </p:txBody>
      </p:sp>
      <p:sp>
        <p:nvSpPr>
          <p:cNvPr id="12" name="Shape 10"/>
          <p:cNvSpPr/>
          <p:nvPr/>
        </p:nvSpPr>
        <p:spPr>
          <a:xfrm>
            <a:off x="8010144" y="1737360"/>
            <a:ext cx="3657600" cy="4206240"/>
          </a:xfrm>
          <a:prstGeom prst="roundRect">
            <a:avLst>
              <a:gd name="adj" fmla="val 2500"/>
            </a:avLst>
          </a:prstGeom>
          <a:solidFill>
            <a:srgbClr val="141937"/>
          </a:solidFill>
          <a:ln w="19050">
            <a:solidFill>
              <a:srgbClr val="B580FF"/>
            </a:solidFill>
            <a:prstDash val="solid"/>
          </a:ln>
        </p:spPr>
        <p:txBody>
          <a:bodyPr/>
          <a:lstStyle/>
          <a:p>
            <a:endParaRPr lang="en-US"/>
          </a:p>
        </p:txBody>
      </p:sp>
      <p:sp>
        <p:nvSpPr>
          <p:cNvPr id="13" name="Text 11"/>
          <p:cNvSpPr/>
          <p:nvPr/>
        </p:nvSpPr>
        <p:spPr>
          <a:xfrm>
            <a:off x="8193024" y="1901952"/>
            <a:ext cx="3291840" cy="457200"/>
          </a:xfrm>
          <a:prstGeom prst="rect">
            <a:avLst/>
          </a:prstGeom>
          <a:noFill/>
          <a:ln/>
        </p:spPr>
        <p:txBody>
          <a:bodyPr wrap="square" rtlCol="0" anchor="ctr"/>
          <a:lstStyle/>
          <a:p>
            <a:pPr marL="0" indent="0">
              <a:buNone/>
            </a:pPr>
            <a:r>
              <a:rPr lang="en-US" sz="1600" b="1" dirty="0">
                <a:solidFill>
                  <a:srgbClr val="B580FF"/>
                </a:solidFill>
                <a:latin typeface="Calibri" pitchFamily="34" charset="0"/>
                <a:ea typeface="Calibri" pitchFamily="34" charset="-122"/>
                <a:cs typeface="Calibri" pitchFamily="34" charset="-120"/>
              </a:rPr>
              <a:t>PASS 2 — PnPjs</a:t>
            </a:r>
            <a:endParaRPr lang="en-US" sz="1600" dirty="0"/>
          </a:p>
        </p:txBody>
      </p:sp>
      <p:sp>
        <p:nvSpPr>
          <p:cNvPr id="14" name="Text 12"/>
          <p:cNvSpPr/>
          <p:nvPr/>
        </p:nvSpPr>
        <p:spPr>
          <a:xfrm>
            <a:off x="8193024" y="2377440"/>
            <a:ext cx="3291840" cy="320040"/>
          </a:xfrm>
          <a:prstGeom prst="rect">
            <a:avLst/>
          </a:prstGeom>
          <a:noFill/>
          <a:ln/>
        </p:spPr>
        <p:txBody>
          <a:bodyPr wrap="square" rtlCol="0" anchor="ctr"/>
          <a:lstStyle/>
          <a:p>
            <a:pPr marL="0" indent="0">
              <a:buNone/>
            </a:pPr>
            <a:r>
              <a:rPr lang="en-US" sz="1100" i="1" dirty="0">
                <a:solidFill>
                  <a:srgbClr val="A4ADCE"/>
                </a:solidFill>
                <a:latin typeface="Calibri" pitchFamily="34" charset="0"/>
                <a:ea typeface="Calibri" pitchFamily="34" charset="-122"/>
                <a:cs typeface="Calibri" pitchFamily="34" charset="-120"/>
              </a:rPr>
              <a:t>≈20 min</a:t>
            </a:r>
            <a:endParaRPr lang="en-US" sz="1100" dirty="0"/>
          </a:p>
        </p:txBody>
      </p:sp>
      <p:sp>
        <p:nvSpPr>
          <p:cNvPr id="15" name="Text 13"/>
          <p:cNvSpPr/>
          <p:nvPr/>
        </p:nvSpPr>
        <p:spPr>
          <a:xfrm>
            <a:off x="8193024" y="2743200"/>
            <a:ext cx="3291840" cy="3017520"/>
          </a:xfrm>
          <a:prstGeom prst="rect">
            <a:avLst/>
          </a:prstGeom>
          <a:noFill/>
          <a:ln/>
        </p:spPr>
        <p:txBody>
          <a:bodyPr wrap="square" rtlCol="0" anchor="t"/>
          <a:lstStyle/>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Same SP operations, fluent</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Same Graph operations, fluent</a:t>
            </a:r>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Same Anonymous calls to public API</a:t>
            </a:r>
            <a:endParaRPr lang="en-US" sz="1400" dirty="0"/>
          </a:p>
          <a:p>
            <a:pPr marL="342900" indent="-342900">
              <a:spcAft>
                <a:spcPts val="600"/>
              </a:spcAft>
              <a:buSzPct val="100000"/>
              <a:buChar char="●"/>
            </a:pPr>
            <a:r>
              <a:rPr lang="en-US" sz="1400" dirty="0">
                <a:solidFill>
                  <a:srgbClr val="F0F4FF"/>
                </a:solidFill>
                <a:latin typeface="Calibri" pitchFamily="34" charset="0"/>
                <a:ea typeface="Calibri" pitchFamily="34" charset="-122"/>
                <a:cs typeface="Calibri" pitchFamily="34" charset="-120"/>
              </a:rPr>
              <a:t>The free upgrades: logging, caching, batching</a:t>
            </a:r>
            <a:endParaRPr lang="en-US" sz="1400" dirty="0"/>
          </a:p>
        </p:txBody>
      </p:sp>
      <p:sp>
        <p:nvSpPr>
          <p:cNvPr id="16" name="Text 14"/>
          <p:cNvSpPr/>
          <p:nvPr/>
        </p:nvSpPr>
        <p:spPr>
          <a:xfrm>
            <a:off x="457200" y="6080760"/>
            <a:ext cx="11274552" cy="365760"/>
          </a:xfrm>
          <a:prstGeom prst="rect">
            <a:avLst/>
          </a:prstGeom>
          <a:noFill/>
          <a:ln/>
        </p:spPr>
        <p:txBody>
          <a:bodyPr wrap="square" rtlCol="0" anchor="ctr"/>
          <a:lstStyle/>
          <a:p>
            <a:pPr marL="0" indent="0" algn="ctr">
              <a:buNone/>
            </a:pPr>
            <a:r>
              <a:rPr lang="en-US" sz="1300" i="1" dirty="0">
                <a:solidFill>
                  <a:srgbClr val="A4ADCE"/>
                </a:solidFill>
                <a:latin typeface="Calibri" pitchFamily="34" charset="0"/>
                <a:ea typeface="Calibri" pitchFamily="34" charset="-122"/>
                <a:cs typeface="Calibri" pitchFamily="34" charset="-120"/>
              </a:rPr>
              <a:t>Wrap (≈8 min) — when to still use SPFx-native, decision cheat sheet, Q&amp;A</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marL="0" indent="0" algn="ctr">
              <a:buNone/>
            </a:pPr>
            <a:r>
              <a:rPr lang="en-US" sz="1800" kern="0" spc="1200" dirty="0">
                <a:solidFill>
                  <a:srgbClr val="B580FF"/>
                </a:solidFill>
                <a:latin typeface="Calibri" pitchFamily="34" charset="0"/>
                <a:ea typeface="Calibri" pitchFamily="34" charset="-122"/>
                <a:cs typeface="Calibri" pitchFamily="34" charset="-120"/>
              </a:rPr>
              <a:t>PASS 1</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marL="0" indent="0" algn="ctr">
              <a:buNone/>
            </a:pPr>
            <a:r>
              <a:rPr lang="en-US" sz="6400" b="1" dirty="0">
                <a:solidFill>
                  <a:srgbClr val="00E5FF"/>
                </a:solidFill>
                <a:latin typeface="Calibri" pitchFamily="34" charset="0"/>
                <a:ea typeface="Calibri" pitchFamily="34" charset="-122"/>
                <a:cs typeface="Calibri" pitchFamily="34" charset="-120"/>
              </a:rPr>
              <a:t>The SPFx Way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SPHttpClient: the mechanics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A fetch wrapper from @microsoft/sp-http, already authenticated to your site</a:t>
            </a:r>
            <a:endParaRPr lang="en-US" sz="1600" dirty="0"/>
          </a:p>
        </p:txBody>
      </p:sp>
      <p:sp>
        <p:nvSpPr>
          <p:cNvPr id="5" name="Text 3"/>
          <p:cNvSpPr/>
          <p:nvPr/>
        </p:nvSpPr>
        <p:spPr>
          <a:xfrm>
            <a:off x="457200" y="1737360"/>
            <a:ext cx="5486400" cy="365760"/>
          </a:xfrm>
          <a:prstGeom prst="rect">
            <a:avLst/>
          </a:prstGeom>
          <a:noFill/>
          <a:ln/>
        </p:spPr>
        <p:txBody>
          <a:bodyPr wrap="square" rtlCol="0" anchor="ctr"/>
          <a:lstStyle/>
          <a:p>
            <a:pPr marL="0" indent="0">
              <a:buNone/>
            </a:pPr>
            <a:r>
              <a:rPr lang="en-US" sz="1600" b="1" dirty="0">
                <a:solidFill>
                  <a:srgbClr val="7EE787"/>
                </a:solidFill>
                <a:latin typeface="Calibri" pitchFamily="34" charset="0"/>
                <a:ea typeface="Calibri" pitchFamily="34" charset="-122"/>
                <a:cs typeface="Calibri" pitchFamily="34" charset="-120"/>
              </a:rPr>
              <a:t>What you get for free</a:t>
            </a:r>
            <a:endParaRPr lang="en-US" sz="1600" dirty="0"/>
          </a:p>
        </p:txBody>
      </p:sp>
      <p:sp>
        <p:nvSpPr>
          <p:cNvPr id="6" name="Text 4"/>
          <p:cNvSpPr/>
          <p:nvPr/>
        </p:nvSpPr>
        <p:spPr>
          <a:xfrm>
            <a:off x="457200" y="2194560"/>
            <a:ext cx="5486400" cy="393192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Auth headers (cookies + bearer)</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Form digest on writes</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Sensible defaults</a:t>
            </a:r>
            <a:r>
              <a:rPr lang="en-US" sz="1300" dirty="0">
                <a:solidFill>
                  <a:srgbClr val="A4ADCE"/>
                </a:solidFill>
                <a:latin typeface="Consolas" pitchFamily="34" charset="0"/>
                <a:ea typeface="Consolas" pitchFamily="34" charset="-122"/>
                <a:cs typeface="Consolas" pitchFamily="34" charset="-120"/>
              </a:rPr>
              <a:t>  Accept: application/json;odata=nometadata</a:t>
            </a:r>
            <a:endParaRPr lang="en-US" sz="1600" dirty="0"/>
          </a:p>
        </p:txBody>
      </p:sp>
      <p:sp>
        <p:nvSpPr>
          <p:cNvPr id="7" name="Text 5"/>
          <p:cNvSpPr/>
          <p:nvPr/>
        </p:nvSpPr>
        <p:spPr>
          <a:xfrm>
            <a:off x="6245352" y="1737360"/>
            <a:ext cx="5486400" cy="365760"/>
          </a:xfrm>
          <a:prstGeom prst="rect">
            <a:avLst/>
          </a:prstGeom>
          <a:noFill/>
          <a:ln/>
        </p:spPr>
        <p:txBody>
          <a:bodyPr wrap="square" rtlCol="0" anchor="ctr"/>
          <a:lstStyle/>
          <a:p>
            <a:pPr marL="0" indent="0">
              <a:buNone/>
            </a:pPr>
            <a:r>
              <a:rPr lang="en-US" sz="1600" b="1" dirty="0">
                <a:solidFill>
                  <a:srgbClr val="FF6B6B"/>
                </a:solidFill>
                <a:latin typeface="Calibri" pitchFamily="34" charset="0"/>
                <a:ea typeface="Calibri" pitchFamily="34" charset="-122"/>
                <a:cs typeface="Calibri" pitchFamily="34" charset="-120"/>
              </a:rPr>
              <a:t>What you don't</a:t>
            </a:r>
            <a:endParaRPr lang="en-US" sz="1600" dirty="0"/>
          </a:p>
        </p:txBody>
      </p:sp>
      <p:sp>
        <p:nvSpPr>
          <p:cNvPr id="8" name="Text 6"/>
          <p:cNvSpPr/>
          <p:nvPr/>
        </p:nvSpPr>
        <p:spPr>
          <a:xfrm>
            <a:off x="6245352" y="2194560"/>
            <a:ext cx="5486400" cy="393192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Logging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Caching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Batching</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Retry</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Type-safe results</a:t>
            </a:r>
            <a:endParaRPr lang="en-US" sz="16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SPFx + SP REST: read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3657600"/>
          </a:xfrm>
          <a:prstGeom prst="roundRect">
            <a:avLst>
              <a:gd name="adj" fmla="val 2000"/>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343814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public async getItems(list: IListIdentifier): Promise&lt;IEventItem[]&gt;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url = `${this.siteUrl}/_api/web/lists/getbytitle('${list.title}')/items`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 `?$select=Id,Title,Session,SessionDate,SessionType,EventSite,SessionLink,`</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   `Speaker/Id,Speaker/Title,Speaker/EMail`</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 `&amp;$expand=Speaker`</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 `&amp;$filter=${encodeURIComponent(`SessionDate ge datetime'${startOfTodayIso()}'`)}`</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 `&amp;$orderby=SessionDate asc`;</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response = await this.spHttpClient.get(url, SPHttpClient.configurations.v1);</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if (!response.ok) throw new Error(`Failed to get items: ${response.statusText}`);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data = await response.json();</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return data.value as IEventItem[];</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5532120"/>
            <a:ext cx="11274552" cy="457200"/>
          </a:xfrm>
          <a:prstGeom prst="rect">
            <a:avLst/>
          </a:prstGeom>
          <a:noFill/>
          <a:ln/>
        </p:spPr>
        <p:txBody>
          <a:bodyPr wrap="square" rtlCol="0" anchor="ctr"/>
          <a:lstStyle/>
          <a:p>
            <a:pPr marL="0" indent="0">
              <a:buNone/>
            </a:pPr>
            <a:r>
              <a:rPr lang="en-US" sz="1600" i="1" dirty="0">
                <a:solidFill>
                  <a:srgbClr val="B580FF"/>
                </a:solidFill>
                <a:latin typeface="Calibri" pitchFamily="34" charset="0"/>
                <a:ea typeface="Calibri" pitchFamily="34" charset="-122"/>
                <a:cs typeface="Calibri" pitchFamily="34" charset="-120"/>
              </a:rPr>
              <a:t>It works. It's also a string-concatenated URL, a manual cast, and zero observability.</a:t>
            </a:r>
            <a:endParaRPr lang="en-US" sz="16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SPFx + SP REST: write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2926080"/>
          </a:xfrm>
          <a:prstGeom prst="roundRect">
            <a:avLst>
              <a:gd name="adj" fmla="val 2500"/>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270662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public async updateItem(list, itemId, item): Promise&lt;IEventItem&gt;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url = `${this.siteUrl}/_api/web/lists/getbytitle('${list.title}')/items(${itemId})`;</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options =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headers: { 'IF-MATCH': '*', 'X-HTTP-Method': 'MERGE'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body: JSON.stringify(toSpWritePayload(item))</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const response = await this.spHttpClient.post(url, SPHttpClient.configurations.v1, options);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if (!response.ok) throw new Error(`Failed to update item ${itemId}: ${response.statusText}`);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return { ...item, Id: itemId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a:t>
            </a:r>
            <a:endParaRPr lang="en-US" sz="1200" dirty="0"/>
          </a:p>
        </p:txBody>
      </p:sp>
      <p:sp>
        <p:nvSpPr>
          <p:cNvPr id="6" name="Text 4"/>
          <p:cNvSpPr/>
          <p:nvPr/>
        </p:nvSpPr>
        <p:spPr>
          <a:xfrm>
            <a:off x="457200" y="4800600"/>
            <a:ext cx="11274552" cy="365760"/>
          </a:xfrm>
          <a:prstGeom prst="rect">
            <a:avLst/>
          </a:prstGeom>
          <a:noFill/>
          <a:ln/>
        </p:spPr>
        <p:txBody>
          <a:bodyPr wrap="square" rtlCol="0" anchor="ctr"/>
          <a:lstStyle/>
          <a:p>
            <a:pPr marL="0" indent="0">
              <a:buNone/>
            </a:pPr>
            <a:r>
              <a:rPr lang="en-US" sz="1400" b="1" dirty="0">
                <a:solidFill>
                  <a:srgbClr val="FFB347"/>
                </a:solidFill>
                <a:latin typeface="Calibri" pitchFamily="34" charset="0"/>
                <a:ea typeface="Calibri" pitchFamily="34" charset="-122"/>
                <a:cs typeface="Calibri" pitchFamily="34" charset="-120"/>
              </a:rPr>
              <a:t>Note the ceremony</a:t>
            </a:r>
            <a:endParaRPr lang="en-US" sz="1400" dirty="0"/>
          </a:p>
        </p:txBody>
      </p:sp>
      <p:sp>
        <p:nvSpPr>
          <p:cNvPr id="7" name="Text 5"/>
          <p:cNvSpPr/>
          <p:nvPr/>
        </p:nvSpPr>
        <p:spPr>
          <a:xfrm>
            <a:off x="457200" y="5120640"/>
            <a:ext cx="11274552" cy="1188720"/>
          </a:xfrm>
          <a:prstGeom prst="rect">
            <a:avLst/>
          </a:prstGeom>
          <a:noFill/>
          <a:ln/>
        </p:spPr>
        <p:txBody>
          <a:bodyPr wrap="square" rtlCol="0" anchor="t"/>
          <a:lstStyle/>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IF-MATCH: '*' — opt out of ETag concurrency</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X-HTTP-Method: MERGE — because it's a POST pretending to be a PATCH</a:t>
            </a:r>
            <a:endParaRPr lang="en-US" sz="1400" dirty="0"/>
          </a:p>
          <a:p>
            <a:pPr marL="342900" indent="-342900">
              <a:spcAft>
                <a:spcPts val="400"/>
              </a:spcAft>
              <a:buSzPct val="100000"/>
              <a:buChar char="●"/>
            </a:pPr>
            <a:r>
              <a:rPr lang="en-US" sz="1400" dirty="0">
                <a:solidFill>
                  <a:srgbClr val="F0F4FF"/>
                </a:solidFill>
                <a:latin typeface="Calibri" pitchFamily="34" charset="0"/>
                <a:ea typeface="Calibri" pitchFamily="34" charset="-122"/>
                <a:cs typeface="Calibri" pitchFamily="34" charset="-120"/>
              </a:rPr>
              <a:t>A separate toSpWritePayload(item) mapper for SharePoint field shapes</a:t>
            </a:r>
            <a:endParaRPr lang="en-US" sz="1400" dirty="0"/>
          </a:p>
        </p:txBody>
      </p:sp>
      <p:sp>
        <p:nvSpPr>
          <p:cNvPr id="8" name="Text 6"/>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1</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When SP REST stops being enough</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Reach for MS Graph when…</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need data outside SharePoint (Outlook, Teams, OneDrive, users, groups)</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need to span sites or tenants without site-collection-scoped tokens</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 want one API instead of three </a:t>
            </a:r>
          </a:p>
          <a:p>
            <a:pPr marL="800100" lvl="1" indent="-342900">
              <a:spcAft>
                <a:spcPts val="600"/>
              </a:spcAft>
              <a:buSzPct val="100000"/>
              <a:buChar char="●"/>
            </a:pPr>
            <a:r>
              <a:rPr lang="en-US" i="1" dirty="0">
                <a:solidFill>
                  <a:srgbClr val="FFB347"/>
                </a:solidFill>
                <a:latin typeface="Calibri" pitchFamily="34" charset="0"/>
                <a:ea typeface="Calibri" pitchFamily="34" charset="-122"/>
                <a:cs typeface="Calibri" pitchFamily="34" charset="-120"/>
              </a:rPr>
              <a:t>Caveat: Graph for SharePoint list items is awkward. You'll see why in a minute.</a:t>
            </a:r>
            <a:endParaRPr lang="en-US"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SPFx + Graph: read list items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252374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const qs =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`expand=fields(select=${GRAPH_FIELD_SELECT})`,            // &lt;-- no $ on expand</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`$filter=fields/SessionDate ge '${startOfTodayIsoNoMs()}'`,// &lt;-- single-quoted ISO</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`$orderby=fields/SessionDate asc`</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].join('&amp;');</a:t>
            </a:r>
            <a:endParaRPr lang="en-US" sz="1200" dirty="0"/>
          </a:p>
          <a:p>
            <a:pPr marL="0" indent="0">
              <a:buNone/>
            </a:pP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const response = await this.graphClient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.api(`/sites/${this.siteId}/lists/${list.id}/items`)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.version('v1.0')</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.header('Prefer', 'HonorNonIndexedQueriesWarningMayFailRandomly')</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.query(qs)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.get();</a:t>
            </a:r>
            <a:endParaRPr lang="en-US" sz="1200" dirty="0"/>
          </a:p>
        </p:txBody>
      </p:sp>
      <p:sp>
        <p:nvSpPr>
          <p:cNvPr id="6" name="Text 4"/>
          <p:cNvSpPr/>
          <p:nvPr/>
        </p:nvSpPr>
        <p:spPr>
          <a:xfrm>
            <a:off x="457200" y="4617720"/>
            <a:ext cx="11274552" cy="365760"/>
          </a:xfrm>
          <a:prstGeom prst="rect">
            <a:avLst/>
          </a:prstGeom>
          <a:noFill/>
          <a:ln/>
        </p:spPr>
        <p:txBody>
          <a:bodyPr wrap="square" rtlCol="0" anchor="ctr"/>
          <a:lstStyle/>
          <a:p>
            <a:pPr marL="0" indent="0">
              <a:buNone/>
            </a:pPr>
            <a:r>
              <a:rPr lang="en-US" sz="1400" b="1" dirty="0">
                <a:solidFill>
                  <a:srgbClr val="FFB347"/>
                </a:solidFill>
                <a:latin typeface="Calibri" pitchFamily="34" charset="0"/>
                <a:ea typeface="Calibri" pitchFamily="34" charset="-122"/>
                <a:cs typeface="Calibri" pitchFamily="34" charset="-120"/>
              </a:rPr>
              <a:t>Three Graph-specific gotchas already on this slide</a:t>
            </a:r>
            <a:endParaRPr lang="en-US" sz="1400" dirty="0"/>
          </a:p>
        </p:txBody>
      </p:sp>
      <p:sp>
        <p:nvSpPr>
          <p:cNvPr id="7" name="Text 5"/>
          <p:cNvSpPr/>
          <p:nvPr/>
        </p:nvSpPr>
        <p:spPr>
          <a:xfrm>
            <a:off x="457200" y="4937760"/>
            <a:ext cx="11274552" cy="1188720"/>
          </a:xfrm>
          <a:prstGeom prst="rect">
            <a:avLst/>
          </a:prstGeom>
          <a:noFill/>
          <a:ln/>
        </p:spPr>
        <p:txBody>
          <a:bodyPr wrap="square" rtlCol="0" anchor="t"/>
          <a:lstStyle/>
          <a:p>
            <a:pPr marL="342900" indent="-342900">
              <a:spcAft>
                <a:spcPts val="400"/>
              </a:spcAft>
              <a:buAutoNum type="arabicPeriod"/>
            </a:pPr>
            <a:r>
              <a:rPr lang="en-US" sz="1400" dirty="0">
                <a:solidFill>
                  <a:srgbClr val="F0F4FF"/>
                </a:solidFill>
                <a:latin typeface="Calibri" pitchFamily="34" charset="0"/>
                <a:ea typeface="Calibri" pitchFamily="34" charset="-122"/>
                <a:cs typeface="Calibri" pitchFamily="34" charset="-120"/>
              </a:rPr>
              <a:t>expand=fields(select=...) — no $. With $expand you get an OData parser error.</a:t>
            </a:r>
          </a:p>
          <a:p>
            <a:pPr marL="342900" indent="-342900">
              <a:spcAft>
                <a:spcPts val="400"/>
              </a:spcAft>
              <a:buAutoNum type="arabicPeriod"/>
            </a:pPr>
            <a:r>
              <a:rPr lang="en-US" sz="1400" dirty="0">
                <a:solidFill>
                  <a:srgbClr val="F0F4FF"/>
                </a:solidFill>
                <a:latin typeface="Calibri" pitchFamily="34" charset="0"/>
                <a:ea typeface="Calibri" pitchFamily="34" charset="-122"/>
                <a:cs typeface="Calibri" pitchFamily="34" charset="-120"/>
              </a:rPr>
              <a:t>Datetime literal must be a single-quoted ISO 8601 string. datetime'...' returns 400.</a:t>
            </a:r>
          </a:p>
          <a:p>
            <a:pPr marL="342900" indent="-342900">
              <a:spcAft>
                <a:spcPts val="400"/>
              </a:spcAft>
              <a:buAutoNum type="arabicPeriod"/>
            </a:pPr>
            <a:r>
              <a:rPr lang="en-US" sz="1400" dirty="0">
                <a:solidFill>
                  <a:srgbClr val="F0F4FF"/>
                </a:solidFill>
                <a:latin typeface="Calibri" pitchFamily="34" charset="0"/>
                <a:ea typeface="Calibri" pitchFamily="34" charset="-122"/>
                <a:cs typeface="Calibri" pitchFamily="34" charset="-120"/>
              </a:rPr>
              <a:t>$filter / $orderby against fields/&lt;column&gt; requires the column to be indexed.</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The Graph Explorer detour</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Same SPFx MSGraphClientV3, no list at all — just path → JSON</a:t>
            </a:r>
            <a:endParaRPr lang="en-US" sz="1600" dirty="0"/>
          </a:p>
        </p:txBody>
      </p:sp>
      <p:sp>
        <p:nvSpPr>
          <p:cNvPr id="5" name="Shape 3"/>
          <p:cNvSpPr/>
          <p:nvPr/>
        </p:nvSpPr>
        <p:spPr>
          <a:xfrm>
            <a:off x="457200" y="1828800"/>
            <a:ext cx="11274552" cy="1280160"/>
          </a:xfrm>
          <a:prstGeom prst="roundRect">
            <a:avLst>
              <a:gd name="adj" fmla="val 5714"/>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938528"/>
            <a:ext cx="10945368" cy="1060704"/>
          </a:xfrm>
          <a:prstGeom prst="rect">
            <a:avLst/>
          </a:prstGeom>
          <a:noFill/>
          <a:ln/>
        </p:spPr>
        <p:txBody>
          <a:bodyPr wrap="square" rtlCol="0" anchor="t"/>
          <a:lstStyle/>
          <a:p>
            <a:pPr marL="0" indent="0">
              <a:buNone/>
            </a:pPr>
            <a:r>
              <a:rPr lang="en-US" sz="1400" dirty="0">
                <a:solidFill>
                  <a:srgbClr val="F0F4FF"/>
                </a:solidFill>
                <a:latin typeface="Consolas" pitchFamily="34" charset="0"/>
                <a:ea typeface="Consolas" pitchFamily="34" charset="-122"/>
                <a:cs typeface="Consolas" pitchFamily="34" charset="-120"/>
              </a:rPr>
              <a:t>public async runQuery(path: string): Promise&lt;unknown&gt; {</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return await this.graphClient.api(path).version('v1.0').get();</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457200" y="3383280"/>
            <a:ext cx="11274552" cy="1371600"/>
          </a:xfrm>
          <a:prstGeom prst="rect">
            <a:avLst/>
          </a:prstGeom>
          <a:noFill/>
          <a:ln/>
        </p:spPr>
        <p:txBody>
          <a:bodyPr wrap="square" rtlCol="0" anchor="t"/>
          <a:lstStyle/>
          <a:p>
            <a:pPr marL="0" indent="0">
              <a:buNone/>
            </a:pPr>
            <a:r>
              <a:rPr lang="en-US" sz="1600" dirty="0">
                <a:solidFill>
                  <a:srgbClr val="F0F4FF"/>
                </a:solidFill>
                <a:latin typeface="Calibri" pitchFamily="34" charset="0"/>
                <a:ea typeface="Calibri" pitchFamily="34" charset="-122"/>
                <a:cs typeface="Calibri" pitchFamily="34" charset="-120"/>
              </a:rPr>
              <a:t>Use this in real life when prototyping or exploring a Graph endpoint before you commit to a service implementation. Cheaper than Postman because the auth is already there.</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2</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SPFx + anonymous APIs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The third HTTP client in @microsoft/sp-http: HttpClient. No auth. Plain fetch.</a:t>
            </a:r>
            <a:endParaRPr lang="en-US" sz="1600" dirty="0"/>
          </a:p>
        </p:txBody>
      </p:sp>
      <p:sp>
        <p:nvSpPr>
          <p:cNvPr id="5" name="Shape 3"/>
          <p:cNvSpPr/>
          <p:nvPr/>
        </p:nvSpPr>
        <p:spPr>
          <a:xfrm>
            <a:off x="457200" y="1828800"/>
            <a:ext cx="11274552" cy="2011680"/>
          </a:xfrm>
          <a:prstGeom prst="roundRect">
            <a:avLst>
              <a:gd name="adj" fmla="val 3636"/>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938528"/>
            <a:ext cx="10945368" cy="1792224"/>
          </a:xfrm>
          <a:prstGeom prst="rect">
            <a:avLst/>
          </a:prstGeom>
          <a:noFill/>
          <a:ln/>
        </p:spPr>
        <p:txBody>
          <a:bodyPr wrap="square" rtlCol="0" anchor="t"/>
          <a:lstStyle/>
          <a:p>
            <a:pPr marL="0" indent="0">
              <a:buNone/>
            </a:pPr>
            <a:r>
              <a:rPr lang="en-US" sz="1400" dirty="0">
                <a:solidFill>
                  <a:srgbClr val="F0F4FF"/>
                </a:solidFill>
                <a:latin typeface="Consolas" pitchFamily="34" charset="0"/>
                <a:ea typeface="Consolas" pitchFamily="34" charset="-122"/>
                <a:cs typeface="Consolas" pitchFamily="34" charset="-120"/>
              </a:rPr>
              <a:t>const response = await this.httpClient.get(</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'https://official-joke-api.appspot.com/random_joke',</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HttpClient.configurations.v1</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const joke: IJokeResponse = await response.json();</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return { id: joke.id, setup: joke.setup, punchline: joke.punchline };</a:t>
            </a:r>
            <a:endParaRPr lang="en-US" sz="1400" dirty="0"/>
          </a:p>
        </p:txBody>
      </p:sp>
      <p:sp>
        <p:nvSpPr>
          <p:cNvPr id="7" name="Text 5"/>
          <p:cNvSpPr/>
          <p:nvPr/>
        </p:nvSpPr>
        <p:spPr>
          <a:xfrm>
            <a:off x="457200" y="4114800"/>
            <a:ext cx="11274552" cy="457200"/>
          </a:xfrm>
          <a:prstGeom prst="rect">
            <a:avLst/>
          </a:prstGeom>
          <a:noFill/>
          <a:ln/>
        </p:spPr>
        <p:txBody>
          <a:bodyPr wrap="square" rtlCol="0" anchor="ctr"/>
          <a:lstStyle/>
          <a:p>
            <a:pPr marL="0" indent="0">
              <a:buNone/>
            </a:pPr>
            <a:r>
              <a:rPr lang="en-US" sz="1600" i="1" dirty="0">
                <a:solidFill>
                  <a:srgbClr val="B580FF"/>
                </a:solidFill>
                <a:latin typeface="Calibri" pitchFamily="34" charset="0"/>
                <a:ea typeface="Calibri" pitchFamily="34" charset="-122"/>
                <a:cs typeface="Calibri" pitchFamily="34" charset="-120"/>
              </a:rPr>
              <a:t>Use this for any external API that doesn't need your tenant's auth.</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3</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Pivot: notice anything?</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Look at what we wrote across three services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0"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1706270">
                  <a:extLst>
                    <a:ext uri="{9D8B030D-6E8A-4147-A177-3AD203B41FA5}">
                      <a16:colId xmlns:a16="http://schemas.microsoft.com/office/drawing/2014/main" val="20001"/>
                    </a:ext>
                  </a:extLst>
                </a:gridCol>
                <a:gridCol w="1706270">
                  <a:extLst>
                    <a:ext uri="{9D8B030D-6E8A-4147-A177-3AD203B41FA5}">
                      <a16:colId xmlns:a16="http://schemas.microsoft.com/office/drawing/2014/main" val="20002"/>
                    </a:ext>
                  </a:extLst>
                </a:gridCol>
                <a:gridCol w="1706270">
                  <a:extLst>
                    <a:ext uri="{9D8B030D-6E8A-4147-A177-3AD203B41FA5}">
                      <a16:colId xmlns:a16="http://schemas.microsoft.com/office/drawing/2014/main" val="20003"/>
                    </a:ext>
                  </a:extLst>
                </a:gridCol>
                <a:gridCol w="1706270">
                  <a:extLst>
                    <a:ext uri="{9D8B030D-6E8A-4147-A177-3AD203B41FA5}">
                      <a16:colId xmlns:a16="http://schemas.microsoft.com/office/drawing/2014/main" val="20004"/>
                    </a:ext>
                  </a:extLst>
                </a:gridCol>
                <a:gridCol w="1706270">
                  <a:extLst>
                    <a:ext uri="{9D8B030D-6E8A-4147-A177-3AD203B41FA5}">
                      <a16:colId xmlns:a16="http://schemas.microsoft.com/office/drawing/2014/main" val="20005"/>
                    </a:ext>
                  </a:extLst>
                </a:gridCol>
              </a:tblGrid>
              <a:tr h="502920">
                <a:tc>
                  <a:txBody>
                    <a:bodyPr/>
                    <a:lstStyle/>
                    <a:p>
                      <a:pPr marL="0" indent="0" algn="l">
                        <a:buNone/>
                      </a:pP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lgn="ctr">
                        <a:buNone/>
                      </a:pPr>
                      <a:r>
                        <a:rPr lang="en-US" sz="1600" b="1" dirty="0">
                          <a:solidFill>
                            <a:srgbClr val="00E5FF"/>
                          </a:solidFill>
                          <a:latin typeface="Calibri" pitchFamily="34" charset="0"/>
                          <a:ea typeface="Calibri" pitchFamily="34" charset="-122"/>
                          <a:cs typeface="Calibri" pitchFamily="34" charset="-120"/>
                        </a:rPr>
                        <a:t>Logging</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lgn="ctr">
                        <a:buNone/>
                      </a:pPr>
                      <a:r>
                        <a:rPr lang="en-US" sz="1600" b="1" dirty="0">
                          <a:solidFill>
                            <a:srgbClr val="00E5FF"/>
                          </a:solidFill>
                          <a:latin typeface="Calibri" pitchFamily="34" charset="0"/>
                          <a:ea typeface="Calibri" pitchFamily="34" charset="-122"/>
                          <a:cs typeface="Calibri" pitchFamily="34" charset="-120"/>
                        </a:rPr>
                        <a:t>Caching</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lgn="ctr">
                        <a:buNone/>
                      </a:pPr>
                      <a:r>
                        <a:rPr lang="en-US" sz="1600" b="1" dirty="0">
                          <a:solidFill>
                            <a:srgbClr val="00E5FF"/>
                          </a:solidFill>
                          <a:latin typeface="Calibri" pitchFamily="34" charset="0"/>
                          <a:ea typeface="Calibri" pitchFamily="34" charset="-122"/>
                          <a:cs typeface="Calibri" pitchFamily="34" charset="-120"/>
                        </a:rPr>
                        <a:t>Batching</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lgn="ctr">
                        <a:buNone/>
                      </a:pPr>
                      <a:r>
                        <a:rPr lang="en-US" sz="1600" b="1" dirty="0">
                          <a:solidFill>
                            <a:srgbClr val="00E5FF"/>
                          </a:solidFill>
                          <a:latin typeface="Calibri" pitchFamily="34" charset="0"/>
                          <a:ea typeface="Calibri" pitchFamily="34" charset="-122"/>
                          <a:cs typeface="Calibri" pitchFamily="34" charset="-120"/>
                        </a:rPr>
                        <a:t>Retry</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lgn="ctr">
                        <a:buNone/>
                      </a:pPr>
                      <a:r>
                        <a:rPr lang="en-US" sz="1600" b="1" dirty="0">
                          <a:solidFill>
                            <a:srgbClr val="00E5FF"/>
                          </a:solidFill>
                          <a:latin typeface="Calibri" pitchFamily="34" charset="0"/>
                          <a:ea typeface="Calibri" pitchFamily="34" charset="-122"/>
                          <a:cs typeface="Calibri" pitchFamily="34" charset="-120"/>
                        </a:rPr>
                        <a:t>Types</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extLst>
                  <a:ext uri="{0D108BD9-81ED-4DB2-BD59-A6C34878D82A}">
                    <a16:rowId xmlns:a16="http://schemas.microsoft.com/office/drawing/2014/main" val="10000"/>
                  </a:ext>
                </a:extLst>
              </a:tr>
              <a:tr h="502920">
                <a:tc>
                  <a:txBody>
                    <a:bodyPr/>
                    <a:lstStyle/>
                    <a:p>
                      <a:pPr marL="0" indent="0" algn="l">
                        <a:buNone/>
                      </a:pPr>
                      <a:r>
                        <a:rPr lang="en-US" sz="1600" b="1" dirty="0">
                          <a:solidFill>
                            <a:srgbClr val="F0F4FF"/>
                          </a:solidFill>
                          <a:latin typeface="Calibri" pitchFamily="34" charset="0"/>
                          <a:ea typeface="Calibri" pitchFamily="34" charset="-122"/>
                          <a:cs typeface="Calibri" pitchFamily="34" charset="-120"/>
                        </a:rPr>
                        <a:t>SPHttpClient</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1"/>
                  </a:ext>
                </a:extLst>
              </a:tr>
              <a:tr h="502920">
                <a:tc>
                  <a:txBody>
                    <a:bodyPr/>
                    <a:lstStyle/>
                    <a:p>
                      <a:pPr marL="0" indent="0" algn="l">
                        <a:buNone/>
                      </a:pPr>
                      <a:r>
                        <a:rPr lang="en-US" sz="1600" b="1" dirty="0">
                          <a:solidFill>
                            <a:srgbClr val="F0F4FF"/>
                          </a:solidFill>
                          <a:latin typeface="Calibri" pitchFamily="34" charset="0"/>
                          <a:ea typeface="Calibri" pitchFamily="34" charset="-122"/>
                          <a:cs typeface="Calibri" pitchFamily="34" charset="-120"/>
                        </a:rPr>
                        <a:t>MSGraphClientV3</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2"/>
                  </a:ext>
                </a:extLst>
              </a:tr>
              <a:tr h="502920">
                <a:tc>
                  <a:txBody>
                    <a:bodyPr/>
                    <a:lstStyle/>
                    <a:p>
                      <a:pPr marL="0" indent="0" algn="l">
                        <a:buNone/>
                      </a:pPr>
                      <a:r>
                        <a:rPr lang="en-US" sz="1600" b="1" dirty="0">
                          <a:solidFill>
                            <a:srgbClr val="F0F4FF"/>
                          </a:solidFill>
                          <a:latin typeface="Calibri" pitchFamily="34" charset="0"/>
                          <a:ea typeface="Calibri" pitchFamily="34" charset="-122"/>
                          <a:cs typeface="Calibri" pitchFamily="34" charset="-120"/>
                        </a:rPr>
                        <a:t>HttpClient</a:t>
                      </a:r>
                      <a:endParaRPr lang="en-US" sz="16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6B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lgn="ctr">
                        <a:buNone/>
                      </a:pPr>
                      <a:r>
                        <a:rPr lang="en-US" sz="1800" dirty="0">
                          <a:solidFill>
                            <a:srgbClr val="FFB347"/>
                          </a:solidFill>
                          <a:latin typeface="Consolas" pitchFamily="34" charset="0"/>
                          <a:ea typeface="Consolas" pitchFamily="34" charset="-122"/>
                          <a:cs typeface="Consolas" pitchFamily="34" charset="-120"/>
                        </a:rPr>
                        <a:t>cast</a:t>
                      </a:r>
                      <a:endParaRPr lang="en-US" sz="1800" dirty="0">
                        <a:latin typeface="Consolas" charset="0"/>
                        <a:ea typeface="Consolas" charset="0"/>
                        <a:cs typeface="Consolas"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4206240"/>
            <a:ext cx="54864" cy="1280160"/>
          </a:xfrm>
          <a:prstGeom prst="rect">
            <a:avLst/>
          </a:prstGeom>
          <a:solidFill>
            <a:srgbClr val="B580FF"/>
          </a:solidFill>
          <a:ln w="12700">
            <a:solidFill>
              <a:srgbClr val="B580FF"/>
            </a:solidFill>
            <a:prstDash val="solid"/>
          </a:ln>
        </p:spPr>
        <p:txBody>
          <a:bodyPr/>
          <a:lstStyle/>
          <a:p>
            <a:endParaRPr lang="en-US"/>
          </a:p>
        </p:txBody>
      </p:sp>
      <p:sp>
        <p:nvSpPr>
          <p:cNvPr id="7" name="Text 4"/>
          <p:cNvSpPr/>
          <p:nvPr/>
        </p:nvSpPr>
        <p:spPr>
          <a:xfrm>
            <a:off x="685800" y="4206240"/>
            <a:ext cx="10972800" cy="1280160"/>
          </a:xfrm>
          <a:prstGeom prst="rect">
            <a:avLst/>
          </a:prstGeom>
          <a:noFill/>
          <a:ln/>
        </p:spPr>
        <p:txBody>
          <a:bodyPr wrap="square" rtlCol="0" anchor="ctr"/>
          <a:lstStyle/>
          <a:p>
            <a:pPr marL="0" indent="0">
              <a:spcAft>
                <a:spcPts val="600"/>
              </a:spcAft>
              <a:buNone/>
            </a:pPr>
            <a:r>
              <a:rPr lang="en-US" sz="2200" b="1" dirty="0">
                <a:solidFill>
                  <a:srgbClr val="F0F4FF"/>
                </a:solidFill>
                <a:latin typeface="Calibri" pitchFamily="34" charset="0"/>
                <a:ea typeface="Calibri" pitchFamily="34" charset="-122"/>
                <a:cs typeface="Calibri" pitchFamily="34" charset="-120"/>
              </a:rPr>
              <a:t>Every empty cell is a problem you'd solve yourself.</a:t>
            </a:r>
            <a:endParaRPr lang="en-US" sz="2200" dirty="0"/>
          </a:p>
          <a:p>
            <a:pPr marL="0" indent="0">
              <a:spcAft>
                <a:spcPts val="600"/>
              </a:spcAft>
              <a:buNone/>
            </a:pPr>
            <a:r>
              <a:rPr lang="en-US" sz="2200" b="1" dirty="0">
                <a:solidFill>
                  <a:srgbClr val="00E5FF"/>
                </a:solidFill>
                <a:latin typeface="Calibri" pitchFamily="34" charset="0"/>
                <a:ea typeface="Calibri" pitchFamily="34" charset="-122"/>
                <a:cs typeface="Calibri" pitchFamily="34" charset="-120"/>
              </a:rPr>
              <a:t>PnPjs already solved them.</a:t>
            </a:r>
            <a:endParaRPr lang="en-US" sz="2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marL="0" indent="0" algn="ctr">
              <a:buNone/>
            </a:pPr>
            <a:r>
              <a:rPr lang="en-US" sz="1800" kern="0" spc="1200" dirty="0">
                <a:solidFill>
                  <a:srgbClr val="B580FF"/>
                </a:solidFill>
                <a:latin typeface="Calibri" pitchFamily="34" charset="0"/>
                <a:ea typeface="Calibri" pitchFamily="34" charset="-122"/>
                <a:cs typeface="Calibri" pitchFamily="34" charset="-120"/>
              </a:rPr>
              <a:t>PASS 2</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marL="0" indent="0" algn="ctr">
              <a:buNone/>
            </a:pPr>
            <a:r>
              <a:rPr lang="en-US" sz="6400" b="1" dirty="0">
                <a:solidFill>
                  <a:srgbClr val="00E5FF"/>
                </a:solidFill>
                <a:latin typeface="Calibri" pitchFamily="34" charset="0"/>
                <a:ea typeface="Calibri" pitchFamily="34" charset="-122"/>
                <a:cs typeface="Calibri" pitchFamily="34" charset="-120"/>
              </a:rPr>
              <a:t>The PnPjs Way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What PnPjs is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A fluent, composable HTTP pipeline for SharePoint, Graph, and arbitrary endpoints</a:t>
            </a:r>
            <a:endParaRPr lang="en-US" sz="1600" dirty="0"/>
          </a:p>
        </p:txBody>
      </p:sp>
      <p:sp>
        <p:nvSpPr>
          <p:cNvPr id="5" name="Text 3"/>
          <p:cNvSpPr/>
          <p:nvPr/>
        </p:nvSpPr>
        <p:spPr>
          <a:xfrm>
            <a:off x="457200" y="1737360"/>
            <a:ext cx="11274552" cy="365760"/>
          </a:xfrm>
          <a:prstGeom prst="rect">
            <a:avLst/>
          </a:prstGeom>
          <a:noFill/>
          <a:ln/>
        </p:spPr>
        <p:txBody>
          <a:bodyPr wrap="square" rtlCol="0" anchor="ctr"/>
          <a:lstStyle/>
          <a:p>
            <a:pPr marL="0" indent="0">
              <a:buNone/>
            </a:pPr>
            <a:r>
              <a:rPr lang="en-US" sz="1600" b="1" dirty="0">
                <a:solidFill>
                  <a:srgbClr val="B580FF"/>
                </a:solidFill>
                <a:latin typeface="Calibri" pitchFamily="34" charset="0"/>
                <a:ea typeface="Calibri" pitchFamily="34" charset="-122"/>
                <a:cs typeface="Calibri" pitchFamily="34" charset="-120"/>
              </a:rPr>
              <a:t>Three packages today</a:t>
            </a:r>
            <a:endParaRPr lang="en-US" sz="1600" dirty="0"/>
          </a:p>
        </p:txBody>
      </p:sp>
      <p:sp>
        <p:nvSpPr>
          <p:cNvPr id="6" name="Text 4"/>
          <p:cNvSpPr/>
          <p:nvPr/>
        </p:nvSpPr>
        <p:spPr>
          <a:xfrm>
            <a:off x="457200" y="2103120"/>
            <a:ext cx="11274552" cy="1371600"/>
          </a:xfrm>
          <a:prstGeom prst="rect">
            <a:avLst/>
          </a:prstGeom>
          <a:noFill/>
          <a:ln/>
        </p:spPr>
        <p:txBody>
          <a:bodyPr wrap="square" rtlCol="0" anchor="t"/>
          <a:lstStyle/>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@pnp/sp — SharePoint REST, fluent</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@pnp/graph — MS Graph, fluent</a:t>
            </a:r>
            <a:endParaRPr lang="en-US" sz="1600" dirty="0"/>
          </a:p>
          <a:p>
            <a:pPr marL="342900" indent="-342900">
              <a:spcAft>
                <a:spcPts val="600"/>
              </a:spcAft>
              <a:buSzPct val="100000"/>
              <a:buChar char="●"/>
            </a:pPr>
            <a:r>
              <a:rPr lang="en-US" sz="1600" dirty="0">
                <a:solidFill>
                  <a:srgbClr val="F0F4FF"/>
                </a:solidFill>
                <a:latin typeface="Calibri" pitchFamily="34" charset="0"/>
                <a:ea typeface="Calibri" pitchFamily="34" charset="-122"/>
                <a:cs typeface="Calibri" pitchFamily="34" charset="-120"/>
              </a:rPr>
              <a:t>@pnp/queryable — the underlying pipeline (also works against any URL)</a:t>
            </a:r>
            <a:endParaRPr lang="en-US" sz="1600" dirty="0"/>
          </a:p>
        </p:txBody>
      </p:sp>
      <p:sp>
        <p:nvSpPr>
          <p:cNvPr id="7" name="Text 5"/>
          <p:cNvSpPr/>
          <p:nvPr/>
        </p:nvSpPr>
        <p:spPr>
          <a:xfrm>
            <a:off x="457200" y="3520440"/>
            <a:ext cx="11274552" cy="365760"/>
          </a:xfrm>
          <a:prstGeom prst="rect">
            <a:avLst/>
          </a:prstGeom>
          <a:noFill/>
          <a:ln/>
        </p:spPr>
        <p:txBody>
          <a:bodyPr wrap="square" rtlCol="0" anchor="ctr"/>
          <a:lstStyle/>
          <a:p>
            <a:pPr marL="0" indent="0">
              <a:buNone/>
            </a:pPr>
            <a:r>
              <a:rPr lang="en-US" sz="1400" b="1" dirty="0">
                <a:solidFill>
                  <a:srgbClr val="B580FF"/>
                </a:solidFill>
                <a:latin typeface="Calibri" pitchFamily="34" charset="0"/>
                <a:ea typeface="Calibri" pitchFamily="34" charset="-122"/>
                <a:cs typeface="Calibri" pitchFamily="34" charset="-120"/>
              </a:rPr>
              <a:t>Init pattern (once per service)</a:t>
            </a:r>
            <a:endParaRPr lang="en-US" sz="1400" dirty="0"/>
          </a:p>
        </p:txBody>
      </p:sp>
      <p:sp>
        <p:nvSpPr>
          <p:cNvPr id="8" name="Shape 6"/>
          <p:cNvSpPr/>
          <p:nvPr/>
        </p:nvSpPr>
        <p:spPr>
          <a:xfrm>
            <a:off x="457200" y="3886200"/>
            <a:ext cx="11274552" cy="1097280"/>
          </a:xfrm>
          <a:prstGeom prst="roundRect">
            <a:avLst>
              <a:gd name="adj" fmla="val 6667"/>
            </a:avLst>
          </a:prstGeom>
          <a:solidFill>
            <a:srgbClr val="141937"/>
          </a:solidFill>
          <a:ln w="9525">
            <a:solidFill>
              <a:srgbClr val="2A3258"/>
            </a:solidFill>
            <a:prstDash val="solid"/>
          </a:ln>
        </p:spPr>
        <p:txBody>
          <a:bodyPr/>
          <a:lstStyle/>
          <a:p>
            <a:endParaRPr lang="en-US"/>
          </a:p>
        </p:txBody>
      </p:sp>
      <p:sp>
        <p:nvSpPr>
          <p:cNvPr id="9" name="Text 7"/>
          <p:cNvSpPr/>
          <p:nvPr/>
        </p:nvSpPr>
        <p:spPr>
          <a:xfrm>
            <a:off x="621792" y="3995928"/>
            <a:ext cx="10945368" cy="877824"/>
          </a:xfrm>
          <a:prstGeom prst="rect">
            <a:avLst/>
          </a:prstGeom>
          <a:noFill/>
          <a:ln/>
        </p:spPr>
        <p:txBody>
          <a:bodyPr wrap="square" rtlCol="0" anchor="t"/>
          <a:lstStyle/>
          <a:p>
            <a:pPr marL="0" indent="0">
              <a:buNone/>
            </a:pPr>
            <a:r>
              <a:rPr lang="en-US" sz="1400" dirty="0">
                <a:solidFill>
                  <a:srgbClr val="F0F4FF"/>
                </a:solidFill>
                <a:latin typeface="Consolas" pitchFamily="34" charset="0"/>
                <a:ea typeface="Consolas" pitchFamily="34" charset="-122"/>
                <a:cs typeface="Consolas" pitchFamily="34" charset="-120"/>
              </a:rPr>
              <a:t>const sp    = spfi(siteUrl).using(spSPFx(this.context));</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const graph = graphfi().using(graphSPFx(this.context));</a:t>
            </a:r>
            <a:endParaRPr lang="en-US" sz="1400" dirty="0"/>
          </a:p>
        </p:txBody>
      </p:sp>
      <p:sp>
        <p:nvSpPr>
          <p:cNvPr id="10" name="Text 8"/>
          <p:cNvSpPr/>
          <p:nvPr/>
        </p:nvSpPr>
        <p:spPr>
          <a:xfrm>
            <a:off x="457200" y="5120640"/>
            <a:ext cx="11274552" cy="640080"/>
          </a:xfrm>
          <a:prstGeom prst="rect">
            <a:avLst/>
          </a:prstGeom>
          <a:noFill/>
          <a:ln/>
        </p:spPr>
        <p:txBody>
          <a:bodyPr wrap="square" rtlCol="0" anchor="t"/>
          <a:lstStyle/>
          <a:p>
            <a:pPr marL="0" indent="0">
              <a:buNone/>
            </a:pPr>
            <a:r>
              <a:rPr lang="en-US" sz="1400" i="1" dirty="0">
                <a:solidFill>
                  <a:srgbClr val="B580FF"/>
                </a:solidFill>
                <a:latin typeface="Calibri" pitchFamily="34" charset="0"/>
                <a:ea typeface="Calibri" pitchFamily="34" charset="-122"/>
                <a:cs typeface="Calibri" pitchFamily="34" charset="-120"/>
              </a:rPr>
              <a:t>Same SPFx context, same auth. PnPjs is not a separate auth story — it rides on top of the SPFx clients you already have.</a:t>
            </a:r>
            <a:endParaRPr lang="en-US" sz="14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The URL reveal</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463040"/>
            <a:ext cx="5486400" cy="365760"/>
          </a:xfrm>
          <a:prstGeom prst="rect">
            <a:avLst/>
          </a:prstGeom>
          <a:noFill/>
          <a:ln/>
        </p:spPr>
        <p:txBody>
          <a:bodyPr wrap="square" rtlCol="0" anchor="ctr"/>
          <a:lstStyle/>
          <a:p>
            <a:pPr marL="0" indent="0">
              <a:buNone/>
            </a:pPr>
            <a:r>
              <a:rPr lang="en-US" sz="1400" b="1" dirty="0">
                <a:solidFill>
                  <a:srgbClr val="FFB347"/>
                </a:solidFill>
                <a:latin typeface="Calibri" pitchFamily="34" charset="0"/>
                <a:ea typeface="Calibri" pitchFamily="34" charset="-122"/>
                <a:cs typeface="Calibri" pitchFamily="34" charset="-120"/>
              </a:rPr>
              <a:t>SPFx-native</a:t>
            </a:r>
            <a:endParaRPr lang="en-US" sz="1400" dirty="0"/>
          </a:p>
        </p:txBody>
      </p:sp>
      <p:sp>
        <p:nvSpPr>
          <p:cNvPr id="5" name="Shape 3"/>
          <p:cNvSpPr/>
          <p:nvPr/>
        </p:nvSpPr>
        <p:spPr>
          <a:xfrm>
            <a:off x="457200" y="1828800"/>
            <a:ext cx="5632704" cy="2011680"/>
          </a:xfrm>
          <a:prstGeom prst="roundRect">
            <a:avLst>
              <a:gd name="adj" fmla="val 3636"/>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938528"/>
            <a:ext cx="5303520" cy="1792224"/>
          </a:xfrm>
          <a:prstGeom prst="rect">
            <a:avLst/>
          </a:prstGeom>
          <a:noFill/>
          <a:ln/>
        </p:spPr>
        <p:txBody>
          <a:bodyPr wrap="square" rtlCol="0" anchor="t"/>
          <a:lstStyle/>
          <a:p>
            <a:pPr marL="0" indent="0">
              <a:buNone/>
            </a:pPr>
            <a:r>
              <a:rPr lang="en-US" sz="1100" dirty="0">
                <a:solidFill>
                  <a:srgbClr val="F0F4FF"/>
                </a:solidFill>
                <a:latin typeface="Consolas" pitchFamily="34" charset="0"/>
                <a:ea typeface="Consolas" pitchFamily="34" charset="-122"/>
                <a:cs typeface="Consolas" pitchFamily="34" charset="-120"/>
              </a:rPr>
              <a:t>spHttpClient.get(</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`${siteUrl}/_api/web/lists/getbytitle('Speaking Events')/items`</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 `?$select=Id,Title,SessionDate&amp;$orderby=SessionDate desc&amp;$top=50`,</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SPHttpClient.configurations.v1</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a:t>
            </a:r>
            <a:endParaRPr lang="en-US" sz="1100" dirty="0"/>
          </a:p>
        </p:txBody>
      </p:sp>
      <p:sp>
        <p:nvSpPr>
          <p:cNvPr id="7" name="Text 5"/>
          <p:cNvSpPr/>
          <p:nvPr/>
        </p:nvSpPr>
        <p:spPr>
          <a:xfrm>
            <a:off x="6245352" y="1463040"/>
            <a:ext cx="5486400" cy="365760"/>
          </a:xfrm>
          <a:prstGeom prst="rect">
            <a:avLst/>
          </a:prstGeom>
          <a:noFill/>
          <a:ln/>
        </p:spPr>
        <p:txBody>
          <a:bodyPr wrap="square" rtlCol="0" anchor="ctr"/>
          <a:lstStyle/>
          <a:p>
            <a:pPr marL="0" indent="0">
              <a:buNone/>
            </a:pPr>
            <a:r>
              <a:rPr lang="en-US" sz="1400" b="1" dirty="0">
                <a:solidFill>
                  <a:srgbClr val="7EE787"/>
                </a:solidFill>
                <a:latin typeface="Calibri" pitchFamily="34" charset="0"/>
                <a:ea typeface="Calibri" pitchFamily="34" charset="-122"/>
                <a:cs typeface="Calibri" pitchFamily="34" charset="-120"/>
              </a:rPr>
              <a:t>PnPjs</a:t>
            </a:r>
            <a:endParaRPr lang="en-US" sz="1400" dirty="0"/>
          </a:p>
        </p:txBody>
      </p:sp>
      <p:sp>
        <p:nvSpPr>
          <p:cNvPr id="8" name="Shape 6"/>
          <p:cNvSpPr/>
          <p:nvPr/>
        </p:nvSpPr>
        <p:spPr>
          <a:xfrm>
            <a:off x="6245352" y="1828800"/>
            <a:ext cx="5486400" cy="2011680"/>
          </a:xfrm>
          <a:prstGeom prst="roundRect">
            <a:avLst>
              <a:gd name="adj" fmla="val 3636"/>
            </a:avLst>
          </a:prstGeom>
          <a:solidFill>
            <a:srgbClr val="141937"/>
          </a:solidFill>
          <a:ln w="9525">
            <a:solidFill>
              <a:srgbClr val="2A3258"/>
            </a:solidFill>
            <a:prstDash val="solid"/>
          </a:ln>
        </p:spPr>
        <p:txBody>
          <a:bodyPr/>
          <a:lstStyle/>
          <a:p>
            <a:endParaRPr lang="en-US"/>
          </a:p>
        </p:txBody>
      </p:sp>
      <p:sp>
        <p:nvSpPr>
          <p:cNvPr id="9" name="Text 7"/>
          <p:cNvSpPr/>
          <p:nvPr/>
        </p:nvSpPr>
        <p:spPr>
          <a:xfrm>
            <a:off x="6409944" y="1938528"/>
            <a:ext cx="5157216" cy="1792224"/>
          </a:xfrm>
          <a:prstGeom prst="rect">
            <a:avLst/>
          </a:prstGeom>
          <a:noFill/>
          <a:ln/>
        </p:spPr>
        <p:txBody>
          <a:bodyPr wrap="square" rtlCol="0" anchor="t"/>
          <a:lstStyle/>
          <a:p>
            <a:pPr marL="0" indent="0">
              <a:buNone/>
            </a:pPr>
            <a:r>
              <a:rPr lang="en-US" sz="1100" dirty="0">
                <a:solidFill>
                  <a:srgbClr val="F0F4FF"/>
                </a:solidFill>
                <a:latin typeface="Consolas" pitchFamily="34" charset="0"/>
                <a:ea typeface="Consolas" pitchFamily="34" charset="-122"/>
                <a:cs typeface="Consolas" pitchFamily="34" charset="-120"/>
              </a:rPr>
              <a:t>sp.web.lists.getByTitle('Speaking Events').items</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.select('Id', 'Title', 'SessionDate')</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.orderBy('SessionDate', false)</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.top(50)();</a:t>
            </a:r>
            <a:endParaRPr lang="en-US" sz="1100" dirty="0"/>
          </a:p>
        </p:txBody>
      </p:sp>
      <p:sp>
        <p:nvSpPr>
          <p:cNvPr id="10" name="Shape 8"/>
          <p:cNvSpPr/>
          <p:nvPr/>
        </p:nvSpPr>
        <p:spPr>
          <a:xfrm>
            <a:off x="457200" y="4114800"/>
            <a:ext cx="54864" cy="1463040"/>
          </a:xfrm>
          <a:prstGeom prst="rect">
            <a:avLst/>
          </a:prstGeom>
          <a:solidFill>
            <a:srgbClr val="00E5FF"/>
          </a:solidFill>
          <a:ln w="12700">
            <a:solidFill>
              <a:srgbClr val="00E5FF"/>
            </a:solidFill>
            <a:prstDash val="solid"/>
          </a:ln>
        </p:spPr>
        <p:txBody>
          <a:bodyPr/>
          <a:lstStyle/>
          <a:p>
            <a:endParaRPr lang="en-US"/>
          </a:p>
        </p:txBody>
      </p:sp>
      <p:sp>
        <p:nvSpPr>
          <p:cNvPr id="11" name="Text 9"/>
          <p:cNvSpPr/>
          <p:nvPr/>
        </p:nvSpPr>
        <p:spPr>
          <a:xfrm>
            <a:off x="685800" y="4114800"/>
            <a:ext cx="10972800" cy="1463040"/>
          </a:xfrm>
          <a:prstGeom prst="rect">
            <a:avLst/>
          </a:prstGeom>
          <a:noFill/>
          <a:ln/>
        </p:spPr>
        <p:txBody>
          <a:bodyPr wrap="square" rtlCol="0" anchor="ctr"/>
          <a:lstStyle/>
          <a:p>
            <a:pPr marL="0" indent="0">
              <a:spcAft>
                <a:spcPts val="400"/>
              </a:spcAft>
              <a:buNone/>
            </a:pPr>
            <a:r>
              <a:rPr lang="en-US" sz="2200" b="1" dirty="0">
                <a:solidFill>
                  <a:srgbClr val="F0F4FF"/>
                </a:solidFill>
                <a:latin typeface="Calibri" pitchFamily="34" charset="0"/>
                <a:ea typeface="Calibri" pitchFamily="34" charset="-122"/>
                <a:cs typeface="Calibri" pitchFamily="34" charset="-120"/>
              </a:rPr>
              <a:t>Both produce the same network request.</a:t>
            </a:r>
            <a:endParaRPr lang="en-US" sz="2200" dirty="0"/>
          </a:p>
          <a:p>
            <a:pPr marL="0" indent="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marL="0" indent="0">
              <a:spcAft>
                <a:spcPts val="400"/>
              </a:spcAft>
              <a:buNone/>
            </a:pPr>
            <a:r>
              <a:rPr lang="en-US" sz="1800" i="1" dirty="0">
                <a:solidFill>
                  <a:srgbClr val="00E5FF"/>
                </a:solidFill>
                <a:latin typeface="Calibri" pitchFamily="34" charset="0"/>
                <a:ea typeface="Calibri" pitchFamily="34" charset="-122"/>
                <a:cs typeface="Calibri" pitchFamily="34" charset="-120"/>
              </a:rPr>
              <a:t>PnPjs is not magic.</a:t>
            </a:r>
            <a:endParaRPr lang="en-US" sz="2200" dirty="0"/>
          </a:p>
          <a:p>
            <a:pPr marL="0" indent="0">
              <a:spcAft>
                <a:spcPts val="400"/>
              </a:spcAft>
              <a:buNone/>
            </a:pPr>
            <a:r>
              <a:rPr lang="en-US" sz="1800" i="1" dirty="0">
                <a:solidFill>
                  <a:srgbClr val="00E5FF"/>
                </a:solidFill>
                <a:latin typeface="Calibri" pitchFamily="34" charset="0"/>
                <a:ea typeface="Calibri" pitchFamily="34" charset="-122"/>
                <a:cs typeface="Calibri" pitchFamily="34" charset="-120"/>
              </a:rPr>
              <a:t>It's the URL you'd write anyway, just typed for you.</a:t>
            </a:r>
            <a:endParaRPr lang="en-US" sz="2200" dirty="0"/>
          </a:p>
        </p:txBody>
      </p:sp>
      <p:sp>
        <p:nvSpPr>
          <p:cNvPr id="12" name="Text 10"/>
          <p:cNvSpPr/>
          <p:nvPr/>
        </p:nvSpPr>
        <p:spPr>
          <a:xfrm>
            <a:off x="8686800" y="5989320"/>
            <a:ext cx="30449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4 — keystone</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PnPjs + SP REST: read</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3291840"/>
          </a:xfrm>
          <a:prstGeom prst="roundRect">
            <a:avLst>
              <a:gd name="adj" fmla="val 2222"/>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3072384"/>
          </a:xfrm>
          <a:prstGeom prst="rect">
            <a:avLst/>
          </a:prstGeom>
          <a:noFill/>
          <a:ln/>
        </p:spPr>
        <p:txBody>
          <a:bodyPr wrap="square" rtlCol="0" anchor="t"/>
          <a:lstStyle/>
          <a:p>
            <a:pPr marL="0" indent="0">
              <a:buNone/>
            </a:pPr>
            <a:r>
              <a:rPr lang="en-US" sz="1300" dirty="0">
                <a:solidFill>
                  <a:srgbClr val="F0F4FF"/>
                </a:solidFill>
                <a:latin typeface="Consolas" pitchFamily="34" charset="0"/>
                <a:ea typeface="Consolas" pitchFamily="34" charset="-122"/>
                <a:cs typeface="Consolas" pitchFamily="34" charset="-120"/>
              </a:rPr>
              <a:t>public async getItems(list): Promise&lt;IEventItem[]&gt; {</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return await this.sp.web.lists</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.getByTitle(list.title)</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.items</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.select('Id', 'Title', 'Session', 'SessionDate', 'SessionType',</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'EventSite', 'SessionLink',</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'Speaker/Id', 'Speaker/Title', 'Speaker/EMail')</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.expand('Speaker')</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.filter(`SessionDate ge datetime'${startOfTodayIso()}'`)</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    .orderBy('SessionDate', true)() as IEventItem[];</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457200" y="5212080"/>
            <a:ext cx="11274552" cy="365760"/>
          </a:xfrm>
          <a:prstGeom prst="rect">
            <a:avLst/>
          </a:prstGeom>
          <a:noFill/>
          <a:ln/>
        </p:spPr>
        <p:txBody>
          <a:bodyPr wrap="square" rtlCol="0" anchor="ctr"/>
          <a:lstStyle/>
          <a:p>
            <a:pPr marL="0" indent="0">
              <a:buNone/>
            </a:pPr>
            <a:r>
              <a:rPr lang="en-US" sz="1600" dirty="0">
                <a:solidFill>
                  <a:srgbClr val="F0F4FF"/>
                </a:solidFill>
                <a:latin typeface="Calibri" pitchFamily="34" charset="0"/>
                <a:ea typeface="Calibri" pitchFamily="34" charset="-122"/>
                <a:cs typeface="Calibri" pitchFamily="34" charset="-120"/>
              </a:rPr>
              <a:t>Same fields. Same filter. Same order.</a:t>
            </a:r>
            <a:endParaRPr lang="en-US" sz="1600" dirty="0"/>
          </a:p>
        </p:txBody>
      </p:sp>
      <p:sp>
        <p:nvSpPr>
          <p:cNvPr id="7" name="Text 5"/>
          <p:cNvSpPr/>
          <p:nvPr/>
        </p:nvSpPr>
        <p:spPr>
          <a:xfrm>
            <a:off x="457200" y="5532120"/>
            <a:ext cx="11274552" cy="365760"/>
          </a:xfrm>
          <a:prstGeom prst="rect">
            <a:avLst/>
          </a:prstGeom>
          <a:noFill/>
          <a:ln/>
        </p:spPr>
        <p:txBody>
          <a:bodyPr wrap="square" rtlCol="0" anchor="ctr"/>
          <a:lstStyle/>
          <a:p>
            <a:pPr marL="0" indent="0">
              <a:buNone/>
            </a:pPr>
            <a:r>
              <a:rPr lang="en-US" sz="1600" b="1" dirty="0">
                <a:solidFill>
                  <a:srgbClr val="00E5FF"/>
                </a:solidFill>
                <a:latin typeface="Calibri" pitchFamily="34" charset="0"/>
                <a:ea typeface="Calibri" pitchFamily="34" charset="-122"/>
                <a:cs typeface="Calibri" pitchFamily="34" charset="-120"/>
              </a:rPr>
              <a:t>No URL string. No response.ok check. No response.json().</a:t>
            </a:r>
            <a:endParaRPr lang="en-US" sz="1600" dirty="0"/>
          </a:p>
        </p:txBody>
      </p:sp>
      <p:sp>
        <p:nvSpPr>
          <p:cNvPr id="8" name="Text 6"/>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5</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PnPjs + SP REST: write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2377440"/>
          </a:xfrm>
          <a:prstGeom prst="roundRect">
            <a:avLst>
              <a:gd name="adj" fmla="val 3077"/>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2157984"/>
          </a:xfrm>
          <a:prstGeom prst="rect">
            <a:avLst/>
          </a:prstGeom>
          <a:noFill/>
          <a:ln/>
        </p:spPr>
        <p:txBody>
          <a:bodyPr wrap="square" rtlCol="0" anchor="t"/>
          <a:lstStyle/>
          <a:p>
            <a:pPr marL="0" indent="0">
              <a:buNone/>
            </a:pPr>
            <a:r>
              <a:rPr lang="en-US" sz="1400" dirty="0">
                <a:solidFill>
                  <a:srgbClr val="F0F4FF"/>
                </a:solidFill>
                <a:latin typeface="Consolas" pitchFamily="34" charset="0"/>
                <a:ea typeface="Consolas" pitchFamily="34" charset="-122"/>
                <a:cs typeface="Consolas" pitchFamily="34" charset="-120"/>
              </a:rPr>
              <a:t>public async updateItem(list, itemId, item): Promise&lt;IEventItem&gt; {</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await this.sp.web.lists</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.getByTitle(list.title)</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.items</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.getById(itemId)</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.update(toSpWritePayload(item));</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  return { ...item, Id: itemId };</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a:t>
            </a:r>
            <a:endParaRPr lang="en-US" sz="1400" dirty="0"/>
          </a:p>
        </p:txBody>
      </p:sp>
      <p:sp>
        <p:nvSpPr>
          <p:cNvPr id="6" name="Text 4"/>
          <p:cNvSpPr/>
          <p:nvPr/>
        </p:nvSpPr>
        <p:spPr>
          <a:xfrm>
            <a:off x="457200" y="4297680"/>
            <a:ext cx="11274552" cy="365760"/>
          </a:xfrm>
          <a:prstGeom prst="rect">
            <a:avLst/>
          </a:prstGeom>
          <a:noFill/>
          <a:ln/>
        </p:spPr>
        <p:txBody>
          <a:bodyPr wrap="square" rtlCol="0" anchor="ctr"/>
          <a:lstStyle/>
          <a:p>
            <a:pPr marL="0" indent="0">
              <a:buNone/>
            </a:pPr>
            <a:r>
              <a:rPr lang="en-US" sz="1400" b="1" dirty="0">
                <a:solidFill>
                  <a:srgbClr val="B580FF"/>
                </a:solidFill>
                <a:latin typeface="Calibri" pitchFamily="34" charset="0"/>
                <a:ea typeface="Calibri" pitchFamily="34" charset="-122"/>
                <a:cs typeface="Calibri" pitchFamily="34" charset="-120"/>
              </a:rPr>
              <a:t>Compare to SPFx</a:t>
            </a:r>
            <a:endParaRPr lang="en-US" sz="1400" dirty="0"/>
          </a:p>
        </p:txBody>
      </p:sp>
      <p:sp>
        <p:nvSpPr>
          <p:cNvPr id="7" name="Text 5"/>
          <p:cNvSpPr/>
          <p:nvPr/>
        </p:nvSpPr>
        <p:spPr>
          <a:xfrm>
            <a:off x="457200" y="4617720"/>
            <a:ext cx="11274552" cy="1280160"/>
          </a:xfrm>
          <a:prstGeom prst="rect">
            <a:avLst/>
          </a:prstGeom>
          <a:noFill/>
          <a:ln/>
        </p:spPr>
        <p:txBody>
          <a:bodyPr wrap="square" rtlCol="0" anchor="t"/>
          <a:lstStyle/>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IF-MATCH header.</a:t>
            </a:r>
            <a:endParaRPr lang="en-US" sz="1600" dirty="0"/>
          </a:p>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X-HTTP-Method: MERGE.</a:t>
            </a:r>
            <a:endParaRPr lang="en-US" sz="1600" dirty="0"/>
          </a:p>
          <a:p>
            <a:pPr marL="342900" indent="-342900">
              <a:spcAft>
                <a:spcPts val="400"/>
              </a:spcAft>
              <a:buSzPct val="100000"/>
              <a:buChar char="●"/>
            </a:pPr>
            <a:r>
              <a:rPr lang="en-US" sz="1600" dirty="0">
                <a:solidFill>
                  <a:srgbClr val="F0F4FF"/>
                </a:solidFill>
                <a:latin typeface="Calibri" pitchFamily="34" charset="0"/>
                <a:ea typeface="Calibri" pitchFamily="34" charset="-122"/>
                <a:cs typeface="Calibri" pitchFamily="34" charset="-120"/>
              </a:rPr>
              <a:t>No URL.</a:t>
            </a:r>
            <a:endParaRPr lang="en-US" sz="1600" dirty="0"/>
          </a:p>
        </p:txBody>
      </p:sp>
      <p:sp>
        <p:nvSpPr>
          <p:cNvPr id="8" name="Text 6"/>
          <p:cNvSpPr/>
          <p:nvPr/>
        </p:nvSpPr>
        <p:spPr>
          <a:xfrm>
            <a:off x="457200" y="5897880"/>
            <a:ext cx="11274552" cy="457200"/>
          </a:xfrm>
          <a:prstGeom prst="rect">
            <a:avLst/>
          </a:prstGeom>
          <a:noFill/>
          <a:ln/>
        </p:spPr>
        <p:txBody>
          <a:bodyPr wrap="square" rtlCol="0" anchor="ctr"/>
          <a:lstStyle/>
          <a:p>
            <a:pPr marL="0" indent="0">
              <a:buNone/>
            </a:pPr>
            <a:r>
              <a:rPr lang="en-US" sz="1300" i="1" dirty="0">
                <a:solidFill>
                  <a:srgbClr val="A4ADCE"/>
                </a:solidFill>
                <a:latin typeface="Calibri" pitchFamily="34" charset="0"/>
                <a:ea typeface="Calibri" pitchFamily="34" charset="-122"/>
                <a:cs typeface="Calibri" pitchFamily="34" charset="-120"/>
              </a:rPr>
              <a:t>Same toSpWritePayload mapper — that's a SharePoint shape problem, not an HTTP-client problem.</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PnPjs + Graph: same operations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3200400"/>
          </a:xfrm>
          <a:prstGeom prst="roundRect">
            <a:avLst>
              <a:gd name="adj" fmla="val 2286"/>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298094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const itemsQuery = this.graph.sites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.getById(this.siteId)</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.lists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.getById(list.id)</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.items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.using(InjectHeaders({ Prefer: 'HonorNonIndexedQueriesWarningMayFailRandomly' }));</a:t>
            </a:r>
            <a:endParaRPr lang="en-US" sz="1200" dirty="0"/>
          </a:p>
          <a:p>
            <a:pPr marL="0" indent="0">
              <a:buNone/>
            </a:pP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itemsQuery.query.set('expand', `fields(select=${GRAPH_FIELD_SELECT})`);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itemsQuery.query.set('$filter', `fields/SessionDate ge '${startOfTodayIsoNoMs()}'`);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itemsQuery.query.set('$orderby', 'fields/SessionDate asc');</a:t>
            </a:r>
            <a:endParaRPr lang="en-US" sz="1200" dirty="0"/>
          </a:p>
          <a:p>
            <a:pPr marL="0" indent="0">
              <a:buNone/>
            </a:pP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const items = await itemsQuery() as IGraphListItem[];</a:t>
            </a:r>
            <a:endParaRPr lang="en-US" sz="1200" dirty="0"/>
          </a:p>
        </p:txBody>
      </p:sp>
      <p:sp>
        <p:nvSpPr>
          <p:cNvPr id="6" name="Text 4"/>
          <p:cNvSpPr/>
          <p:nvPr/>
        </p:nvSpPr>
        <p:spPr>
          <a:xfrm>
            <a:off x="457200" y="5120640"/>
            <a:ext cx="11274552" cy="365760"/>
          </a:xfrm>
          <a:prstGeom prst="rect">
            <a:avLst/>
          </a:prstGeom>
          <a:noFill/>
          <a:ln/>
        </p:spPr>
        <p:txBody>
          <a:bodyPr wrap="square" rtlCol="0" anchor="ctr"/>
          <a:lstStyle/>
          <a:p>
            <a:pPr marL="0" indent="0">
              <a:buNone/>
            </a:pPr>
            <a:r>
              <a:rPr lang="en-US" sz="1400" b="1" dirty="0">
                <a:solidFill>
                  <a:srgbClr val="FFB347"/>
                </a:solidFill>
                <a:latin typeface="Calibri" pitchFamily="34" charset="0"/>
                <a:ea typeface="Calibri" pitchFamily="34" charset="-122"/>
                <a:cs typeface="Calibri" pitchFamily="34" charset="-120"/>
              </a:rPr>
              <a:t>Honesty check</a:t>
            </a:r>
            <a:endParaRPr lang="en-US" sz="1400" dirty="0"/>
          </a:p>
        </p:txBody>
      </p:sp>
      <p:sp>
        <p:nvSpPr>
          <p:cNvPr id="7" name="Text 5"/>
          <p:cNvSpPr/>
          <p:nvPr/>
        </p:nvSpPr>
        <p:spPr>
          <a:xfrm>
            <a:off x="457200" y="5440680"/>
            <a:ext cx="11274552" cy="822960"/>
          </a:xfrm>
          <a:prstGeom prst="rect">
            <a:avLst/>
          </a:prstGeom>
          <a:noFill/>
          <a:ln/>
        </p:spPr>
        <p:txBody>
          <a:bodyPr wrap="square" rtlCol="0" anchor="t"/>
          <a:lstStyle/>
          <a:p>
            <a:pPr marL="0" indent="0">
              <a:buNone/>
            </a:pPr>
            <a:r>
              <a:rPr lang="en-US" sz="1400" dirty="0">
                <a:solidFill>
                  <a:srgbClr val="F0F4FF"/>
                </a:solidFill>
                <a:latin typeface="Calibri" pitchFamily="34" charset="0"/>
                <a:ea typeface="Calibri" pitchFamily="34" charset="-122"/>
                <a:cs typeface="Calibri" pitchFamily="34" charset="-120"/>
              </a:rPr>
              <a:t>The Graph SP-list awkwardness is a Graph problem, not a PnPjs problem. Both clients have to deal with it. PnPjs at least gives you InjectHeaders and a query builder.</a:t>
            </a:r>
            <a:endParaRPr lang="en-US" sz="1400" dirty="0"/>
          </a:p>
        </p:txBody>
      </p:sp>
      <p:sp>
        <p:nvSpPr>
          <p:cNvPr id="8" name="Text 6"/>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6</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PnPjs + anonymous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Yes, that works too</a:t>
            </a:r>
            <a:endParaRPr lang="en-US" sz="1600" dirty="0"/>
          </a:p>
        </p:txBody>
      </p:sp>
      <p:sp>
        <p:nvSpPr>
          <p:cNvPr id="5" name="Shape 3"/>
          <p:cNvSpPr/>
          <p:nvPr/>
        </p:nvSpPr>
        <p:spPr>
          <a:xfrm>
            <a:off x="457200" y="1828800"/>
            <a:ext cx="11274552" cy="1554480"/>
          </a:xfrm>
          <a:prstGeom prst="roundRect">
            <a:avLst>
              <a:gd name="adj" fmla="val 4706"/>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938528"/>
            <a:ext cx="10945368" cy="1335024"/>
          </a:xfrm>
          <a:prstGeom prst="rect">
            <a:avLst/>
          </a:prstGeom>
          <a:noFill/>
          <a:ln/>
        </p:spPr>
        <p:txBody>
          <a:bodyPr wrap="square" rtlCol="0" anchor="t"/>
          <a:lstStyle/>
          <a:p>
            <a:pPr marL="0" indent="0">
              <a:buNone/>
            </a:pPr>
            <a:r>
              <a:rPr lang="en-US" sz="1400" dirty="0">
                <a:solidFill>
                  <a:srgbClr val="F0F4FF"/>
                </a:solidFill>
                <a:latin typeface="Consolas" pitchFamily="34" charset="0"/>
                <a:ea typeface="Consolas" pitchFamily="34" charset="-122"/>
                <a:cs typeface="Consolas" pitchFamily="34" charset="-120"/>
              </a:rPr>
              <a:t>const q = new Queryable('https://official-joke-api.appspot.com/random_joke');</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q.using(BrowserFetch(), RejectOnError(), ResolveOnData(), JSONParse());</a:t>
            </a:r>
            <a:endParaRPr lang="en-US" sz="1400" dirty="0"/>
          </a:p>
          <a:p>
            <a:pPr marL="0" indent="0">
              <a:buNone/>
            </a:pPr>
            <a:r>
              <a:rPr lang="en-US" sz="1400" dirty="0">
                <a:solidFill>
                  <a:srgbClr val="F0F4FF"/>
                </a:solidFill>
                <a:latin typeface="Consolas" pitchFamily="34" charset="0"/>
                <a:ea typeface="Consolas" pitchFamily="34" charset="-122"/>
                <a:cs typeface="Consolas" pitchFamily="34" charset="-120"/>
              </a:rPr>
              <a:t>const joke: IJokeResponse = await q();</a:t>
            </a:r>
            <a:endParaRPr lang="en-US" sz="1400" dirty="0"/>
          </a:p>
        </p:txBody>
      </p:sp>
      <p:sp>
        <p:nvSpPr>
          <p:cNvPr id="7" name="Text 5"/>
          <p:cNvSpPr/>
          <p:nvPr/>
        </p:nvSpPr>
        <p:spPr>
          <a:xfrm>
            <a:off x="457200" y="3657600"/>
            <a:ext cx="11274552" cy="640080"/>
          </a:xfrm>
          <a:prstGeom prst="rect">
            <a:avLst/>
          </a:prstGeom>
          <a:noFill/>
          <a:ln/>
        </p:spPr>
        <p:txBody>
          <a:bodyPr wrap="square" rtlCol="0" anchor="t"/>
          <a:lstStyle/>
          <a:p>
            <a:pPr marL="0" indent="0">
              <a:buNone/>
            </a:pPr>
            <a:r>
              <a:rPr lang="en-US" sz="1600" dirty="0">
                <a:solidFill>
                  <a:srgbClr val="F0F4FF"/>
                </a:solidFill>
                <a:latin typeface="Calibri" pitchFamily="34" charset="0"/>
                <a:ea typeface="Calibri" pitchFamily="34" charset="-122"/>
                <a:cs typeface="Calibri" pitchFamily="34" charset="-120"/>
              </a:rPr>
              <a:t>The same pipeline that talks to SharePoint can talk to anything. You just compose the behaviors you need.</a:t>
            </a:r>
            <a:endParaRPr lang="en-US" sz="1600" dirty="0"/>
          </a:p>
        </p:txBody>
      </p:sp>
      <p:sp>
        <p:nvSpPr>
          <p:cNvPr id="8" name="Text 6"/>
          <p:cNvSpPr/>
          <p:nvPr/>
        </p:nvSpPr>
        <p:spPr>
          <a:xfrm>
            <a:off x="457200" y="4434840"/>
            <a:ext cx="11274552" cy="457200"/>
          </a:xfrm>
          <a:prstGeom prst="rect">
            <a:avLst/>
          </a:prstGeom>
          <a:noFill/>
          <a:ln/>
        </p:spPr>
        <p:txBody>
          <a:bodyPr wrap="square" rtlCol="0" anchor="ctr"/>
          <a:lstStyle/>
          <a:p>
            <a:pPr marL="0" indent="0">
              <a:buNone/>
            </a:pPr>
            <a:r>
              <a:rPr lang="en-US" sz="1300" i="1" dirty="0">
                <a:solidFill>
                  <a:srgbClr val="A4ADCE"/>
                </a:solidFill>
                <a:latin typeface="Calibri" pitchFamily="34" charset="0"/>
                <a:ea typeface="Calibri" pitchFamily="34" charset="-122"/>
                <a:cs typeface="Calibri" pitchFamily="34" charset="-120"/>
              </a:rPr>
              <a:t>Real-world note: strip X-PnPjs-RequestId on external calls to avoid CORS preflight — see the source.</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The free upgrades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Three real problems gone with a few lines of code.</a:t>
            </a:r>
            <a:endParaRPr lang="en-US" sz="1600" dirty="0"/>
          </a:p>
        </p:txBody>
      </p:sp>
      <p:sp>
        <p:nvSpPr>
          <p:cNvPr id="5" name="Shape 3"/>
          <p:cNvSpPr/>
          <p:nvPr/>
        </p:nvSpPr>
        <p:spPr>
          <a:xfrm>
            <a:off x="457200" y="1737360"/>
            <a:ext cx="11274552" cy="4114800"/>
          </a:xfrm>
          <a:prstGeom prst="roundRect">
            <a:avLst>
              <a:gd name="adj" fmla="val 1778"/>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847088"/>
            <a:ext cx="10945368" cy="3895344"/>
          </a:xfrm>
          <a:prstGeom prst="rect">
            <a:avLst/>
          </a:prstGeom>
          <a:noFill/>
          <a:ln/>
        </p:spPr>
        <p:txBody>
          <a:bodyPr wrap="square" rtlCol="0" anchor="t"/>
          <a:lstStyle/>
          <a:p>
            <a:pPr marL="0" indent="0">
              <a:buNone/>
            </a:pPr>
            <a:r>
              <a:rPr lang="en-US" sz="1100" dirty="0">
                <a:solidFill>
                  <a:srgbClr val="F0F4FF"/>
                </a:solidFill>
                <a:latin typeface="Consolas" pitchFamily="34" charset="0"/>
                <a:ea typeface="Consolas" pitchFamily="34" charset="-122"/>
                <a:cs typeface="Consolas" pitchFamily="34" charset="-120"/>
              </a:rPr>
              <a:t>// 1. Logging — @pnp/logging wrapped once; level driven by a property-pane toggle.</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Logger.attachConsoleListener();</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Logger.setLevel(this.properties.enhancedLogging ? LogLevel.Verbose : LogLevel.Warning);</a:t>
            </a:r>
            <a:endParaRPr lang="en-US" sz="1100" dirty="0"/>
          </a:p>
          <a:p>
            <a:pPr marL="0" indent="0">
              <a:buNone/>
            </a:pP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2. Caching — one extra option on the SPFI call. Can be overwritten (or implemented) on individual calls</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const sp = spfi(siteUrl)</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.using(spSPFx(this.context))</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.using(Caching({ store: 'session' }));   // &lt;-- the only line that flips</a:t>
            </a:r>
            <a:endParaRPr lang="en-US" sz="1100" dirty="0"/>
          </a:p>
          <a:p>
            <a:pPr marL="0" indent="0">
              <a:buNone/>
            </a:pP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3. Batching — pack many reads (or writes) into one $batch envelope.</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const [batchedSp, execute] = sp.batched({ maxRequests: 100 });</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for (let i = 0; i &lt; pageCount; i++) {</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pagePromises.push(</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batchedSp.web.lists.getByTitle('Speaking Events').items</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.top(pageSize).skip(i * pageSize)() as Promise&lt;IEventItem[]&gt;</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F0F4FF"/>
                </a:solidFill>
                <a:latin typeface="Consolas" pitchFamily="34" charset="0"/>
                <a:ea typeface="Consolas" pitchFamily="34" charset="-122"/>
                <a:cs typeface="Consolas" pitchFamily="34" charset="-120"/>
              </a:rPr>
              <a:t>await execute();   // one HTTP request to /_api/$batch</a:t>
            </a:r>
            <a:endParaRPr lang="en-US" sz="1100" dirty="0"/>
          </a:p>
        </p:txBody>
      </p:sp>
      <p:sp>
        <p:nvSpPr>
          <p:cNvPr id="7" name="Text 5"/>
          <p:cNvSpPr/>
          <p:nvPr/>
        </p:nvSpPr>
        <p:spPr>
          <a:xfrm>
            <a:off x="10058400" y="5989320"/>
            <a:ext cx="1673352" cy="320040"/>
          </a:xfrm>
          <a:prstGeom prst="rect">
            <a:avLst/>
          </a:prstGeom>
          <a:noFill/>
          <a:ln/>
        </p:spPr>
        <p:txBody>
          <a:bodyPr wrap="square" rtlCol="0" anchor="ctr"/>
          <a:lstStyle/>
          <a:p>
            <a:pPr marL="0" indent="0" algn="r">
              <a:buNone/>
            </a:pPr>
            <a:r>
              <a:rPr lang="en-US" sz="1200" b="1" dirty="0">
                <a:solidFill>
                  <a:srgbClr val="00E5FF"/>
                </a:solidFill>
                <a:latin typeface="Calibri" pitchFamily="34" charset="0"/>
                <a:ea typeface="Calibri" pitchFamily="34" charset="-122"/>
                <a:cs typeface="Calibri" pitchFamily="34" charset="-120"/>
              </a:rPr>
              <a:t>▶ Demo 7</a:t>
            </a:r>
            <a:endParaRPr lang="en-US" sz="12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What logging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Shape 2"/>
          <p:cNvSpPr/>
          <p:nvPr/>
        </p:nvSpPr>
        <p:spPr>
          <a:xfrm>
            <a:off x="457200" y="1737360"/>
            <a:ext cx="11274552" cy="1645920"/>
          </a:xfrm>
          <a:prstGeom prst="roundRect">
            <a:avLst>
              <a:gd name="adj" fmla="val 4444"/>
            </a:avLst>
          </a:prstGeom>
          <a:solidFill>
            <a:srgbClr val="141937"/>
          </a:solidFill>
          <a:ln w="9525">
            <a:solidFill>
              <a:srgbClr val="2A3258"/>
            </a:solidFill>
            <a:prstDash val="solid"/>
          </a:ln>
        </p:spPr>
        <p:txBody>
          <a:bodyPr/>
          <a:lstStyle/>
          <a:p>
            <a:endParaRPr lang="en-US"/>
          </a:p>
        </p:txBody>
      </p:sp>
      <p:sp>
        <p:nvSpPr>
          <p:cNvPr id="5" name="Text 3"/>
          <p:cNvSpPr/>
          <p:nvPr/>
        </p:nvSpPr>
        <p:spPr>
          <a:xfrm>
            <a:off x="621792" y="1847088"/>
            <a:ext cx="10945368" cy="1426464"/>
          </a:xfrm>
          <a:prstGeom prst="rect">
            <a:avLst/>
          </a:prstGeom>
          <a:noFill/>
          <a:ln/>
        </p:spPr>
        <p:txBody>
          <a:bodyPr wrap="square" rtlCol="0" anchor="t"/>
          <a:lstStyle/>
          <a:p>
            <a:pPr marL="0" indent="0">
              <a:buNone/>
            </a:pPr>
            <a:r>
              <a:rPr lang="en-US" sz="1300" dirty="0">
                <a:solidFill>
                  <a:srgbClr val="F0F4FF"/>
                </a:solidFill>
                <a:latin typeface="Consolas" pitchFamily="34" charset="0"/>
                <a:ea typeface="Consolas" pitchFamily="34" charset="-122"/>
                <a:cs typeface="Consolas" pitchFamily="34" charset="-120"/>
              </a:rPr>
              <a:t>[DataDemo] onInit: starting (enhancedLogging=on)</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[DataDemo] loadItems: requesting items from list Speaking Events</a:t>
            </a:r>
            <a:endParaRPr lang="en-US" sz="1300" dirty="0"/>
          </a:p>
          <a:p>
            <a:pPr marL="0" indent="0">
              <a:buNone/>
            </a:pPr>
            <a:r>
              <a:rPr lang="en-US" sz="1300" dirty="0">
                <a:solidFill>
                  <a:srgbClr val="F0F4FF"/>
                </a:solidFill>
                <a:latin typeface="Consolas" pitchFamily="34" charset="0"/>
                <a:ea typeface="Consolas" pitchFamily="34" charset="-122"/>
                <a:cs typeface="Consolas" pitchFamily="34" charset="-120"/>
              </a:rPr>
              <a:t>[DataDemo] loadItems: received 12 item(s)        ▶ (12) [{…}, {…}, …]</a:t>
            </a:r>
            <a:endParaRPr lang="en-US" sz="1300" dirty="0"/>
          </a:p>
        </p:txBody>
      </p:sp>
      <p:sp>
        <p:nvSpPr>
          <p:cNvPr id="6" name="Text 4"/>
          <p:cNvSpPr/>
          <p:nvPr/>
        </p:nvSpPr>
        <p:spPr>
          <a:xfrm>
            <a:off x="457200" y="3657600"/>
            <a:ext cx="11274552" cy="1371600"/>
          </a:xfrm>
          <a:prstGeom prst="rect">
            <a:avLst/>
          </a:prstGeom>
          <a:noFill/>
          <a:ln/>
        </p:spPr>
        <p:txBody>
          <a:bodyPr wrap="square" rtlCol="0" anchor="t"/>
          <a:lstStyle/>
          <a:p>
            <a:pPr marL="0" indent="0">
              <a:buNone/>
            </a:pPr>
            <a:r>
              <a:rPr lang="en-US" sz="1500" dirty="0">
                <a:solidFill>
                  <a:srgbClr val="F0F4FF"/>
                </a:solidFill>
                <a:latin typeface="Calibri" pitchFamily="34" charset="0"/>
                <a:ea typeface="Calibri" pitchFamily="34" charset="-122"/>
                <a:cs typeface="Calibri" pitchFamily="34" charset="-120"/>
              </a:rPr>
              <a:t>A thin wrapper over @pnp/logging (info / debug / warn / error) emits via console.* so object payloads render as collapsible trees. Listeners are pluggable — ConsoleListener today, App Insights tomorrow. Same call sites.</a:t>
            </a:r>
            <a:endParaRPr lang="en-US" sz="15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What caching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Two scopes. Pick one.</a:t>
            </a:r>
            <a:endParaRPr lang="en-US" sz="1600" dirty="0"/>
          </a:p>
        </p:txBody>
      </p:sp>
      <p:sp>
        <p:nvSpPr>
          <p:cNvPr id="5" name="Shape 3"/>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847088"/>
            <a:ext cx="10945368" cy="252374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 Global: every read on this SPFI is cached.</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const sp = spfi(siteUrl)</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.using(spSPFx(this.context))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.using(Caching({ store: 'session' }));   // 'session' | 'local'</a:t>
            </a:r>
            <a:endParaRPr lang="en-US" sz="1200" dirty="0"/>
          </a:p>
          <a:p>
            <a:pPr marL="0" indent="0">
              <a:buNone/>
            </a:pP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Per-call: opt one query out of caching when global is on.</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.items.using(CacheNever())()</a:t>
            </a:r>
            <a:endParaRPr lang="en-US" sz="1200" dirty="0"/>
          </a:p>
          <a:p>
            <a:pPr marL="0" indent="0">
              <a:buNone/>
            </a:pP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Per-call: opt one query in with a custom expiry when global is off.</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.items.using(Caching({ store: 'session', expireFunc: () =&gt; addMinutes(new Date(), 5) }))()</a:t>
            </a:r>
            <a:endParaRPr lang="en-US" sz="1200" dirty="0"/>
          </a:p>
        </p:txBody>
      </p:sp>
      <p:sp>
        <p:nvSpPr>
          <p:cNvPr id="7" name="Text 5"/>
          <p:cNvSpPr/>
          <p:nvPr/>
        </p:nvSpPr>
        <p:spPr>
          <a:xfrm>
            <a:off x="457200" y="4617720"/>
            <a:ext cx="11274552" cy="640080"/>
          </a:xfrm>
          <a:prstGeom prst="rect">
            <a:avLst/>
          </a:prstGeom>
          <a:noFill/>
          <a:ln/>
        </p:spPr>
        <p:txBody>
          <a:bodyPr wrap="square" rtlCol="0" anchor="t"/>
          <a:lstStyle/>
          <a:p>
            <a:pPr marL="0" indent="0">
              <a:buNone/>
            </a:pPr>
            <a:r>
              <a:rPr lang="en-US" sz="1300" i="1" dirty="0">
                <a:solidFill>
                  <a:srgbClr val="B580FF"/>
                </a:solidFill>
                <a:latin typeface="Calibri" pitchFamily="34" charset="0"/>
                <a:ea typeface="Calibri" pitchFamily="34" charset="-122"/>
                <a:cs typeface="Calibri" pitchFamily="34" charset="-120"/>
              </a:rPr>
              <a:t>Defaults: 60-second expiry, keyed by URL. 'session' survives a hard refresh; 'local' survives a tab close. Default is in-memory and dies with the page.</a:t>
            </a:r>
            <a:endParaRPr lang="en-US" sz="1300" dirty="0"/>
          </a:p>
        </p:txBody>
      </p:sp>
      <p:sp>
        <p:nvSpPr>
          <p:cNvPr id="8" name="Text 6"/>
          <p:cNvSpPr/>
          <p:nvPr/>
        </p:nvSpPr>
        <p:spPr>
          <a:xfrm>
            <a:off x="457200" y="5349240"/>
            <a:ext cx="11274552" cy="914400"/>
          </a:xfrm>
          <a:prstGeom prst="rect">
            <a:avLst/>
          </a:prstGeom>
          <a:noFill/>
          <a:ln/>
        </p:spPr>
        <p:txBody>
          <a:bodyPr wrap="square" rtlCol="0" anchor="t"/>
          <a:lstStyle/>
          <a:p>
            <a:pPr marL="0" indent="0">
              <a:spcAft>
                <a:spcPts val="400"/>
              </a:spcAft>
              <a:buNone/>
            </a:pPr>
            <a:r>
              <a:rPr lang="en-US" sz="1300" b="1" dirty="0">
                <a:solidFill>
                  <a:srgbClr val="7EE787"/>
                </a:solidFill>
                <a:latin typeface="Calibri" pitchFamily="34" charset="0"/>
                <a:ea typeface="Calibri" pitchFamily="34" charset="-122"/>
                <a:cs typeface="Calibri" pitchFamily="34" charset="-120"/>
              </a:rPr>
              <a:t>Use it for:  </a:t>
            </a:r>
            <a:r>
              <a:rPr lang="en-US" sz="1300" dirty="0">
                <a:solidFill>
                  <a:srgbClr val="F0F4FF"/>
                </a:solidFill>
                <a:latin typeface="Calibri" pitchFamily="34" charset="0"/>
                <a:ea typeface="Calibri" pitchFamily="34" charset="-122"/>
                <a:cs typeface="Calibri" pitchFamily="34" charset="-120"/>
              </a:rPr>
              <a:t>reference data · repeated reads · anything you'd hate to re-fetch on tab switch</a:t>
            </a:r>
            <a:endParaRPr lang="en-US" sz="1300" dirty="0"/>
          </a:p>
          <a:p>
            <a:pPr marL="0" indent="0">
              <a:spcAft>
                <a:spcPts val="400"/>
              </a:spcAft>
              <a:buNone/>
            </a:pPr>
            <a:r>
              <a:rPr lang="en-US" sz="1300" b="1" dirty="0">
                <a:solidFill>
                  <a:srgbClr val="FF6B6B"/>
                </a:solidFill>
                <a:latin typeface="Calibri" pitchFamily="34" charset="0"/>
                <a:ea typeface="Calibri" pitchFamily="34" charset="-122"/>
                <a:cs typeface="Calibri" pitchFamily="34" charset="-120"/>
              </a:rPr>
              <a:t>Avoid for:  </a:t>
            </a:r>
            <a:r>
              <a:rPr lang="en-US" sz="1300" dirty="0">
                <a:solidFill>
                  <a:srgbClr val="F0F4FF"/>
                </a:solidFill>
                <a:latin typeface="Calibri" pitchFamily="34" charset="0"/>
                <a:ea typeface="Calibri" pitchFamily="34" charset="-122"/>
                <a:cs typeface="Calibri" pitchFamily="34" charset="-120"/>
              </a:rPr>
              <a:t>frequently-changing transactional data · anything where stale = wrong (use CacheNever() there)</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What batching gets you</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Reads, in our demo. Writes work the same way.</a:t>
            </a:r>
            <a:endParaRPr lang="en-US" sz="1600" dirty="0"/>
          </a:p>
        </p:txBody>
      </p:sp>
      <p:sp>
        <p:nvSpPr>
          <p:cNvPr id="5" name="Shape 3"/>
          <p:cNvSpPr/>
          <p:nvPr/>
        </p:nvSpPr>
        <p:spPr>
          <a:xfrm>
            <a:off x="457200" y="1737360"/>
            <a:ext cx="11274552" cy="2743200"/>
          </a:xfrm>
          <a:prstGeom prst="roundRect">
            <a:avLst>
              <a:gd name="adj" fmla="val 2667"/>
            </a:avLst>
          </a:prstGeom>
          <a:solidFill>
            <a:srgbClr val="141937"/>
          </a:solidFill>
          <a:ln w="9525">
            <a:solidFill>
              <a:srgbClr val="2A3258"/>
            </a:solidFill>
            <a:prstDash val="solid"/>
          </a:ln>
        </p:spPr>
        <p:txBody>
          <a:bodyPr/>
          <a:lstStyle/>
          <a:p>
            <a:endParaRPr lang="en-US"/>
          </a:p>
        </p:txBody>
      </p:sp>
      <p:sp>
        <p:nvSpPr>
          <p:cNvPr id="6" name="Text 4"/>
          <p:cNvSpPr/>
          <p:nvPr/>
        </p:nvSpPr>
        <p:spPr>
          <a:xfrm>
            <a:off x="621792" y="1847088"/>
            <a:ext cx="10945368" cy="2523744"/>
          </a:xfrm>
          <a:prstGeom prst="rect">
            <a:avLst/>
          </a:prstGeom>
          <a:noFill/>
          <a:ln/>
        </p:spPr>
        <p:txBody>
          <a:bodyPr wrap="square" rtlCol="0" anchor="t"/>
          <a:lstStyle/>
          <a:p>
            <a:pPr marL="0" indent="0">
              <a:buNone/>
            </a:pPr>
            <a:r>
              <a:rPr lang="en-US" sz="1200" dirty="0">
                <a:solidFill>
                  <a:srgbClr val="F0F4FF"/>
                </a:solidFill>
                <a:latin typeface="Consolas" pitchFamily="34" charset="0"/>
                <a:ea typeface="Consolas" pitchFamily="34" charset="-122"/>
                <a:cs typeface="Consolas" pitchFamily="34" charset="-120"/>
              </a:rPr>
              <a:t>const [batchedSp, execute] = this.sp.batched({ maxRequests: 100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const pagePromises: Promise&lt;IEventItem[]&gt;[] =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for (let i = 0; i &lt; pageCount; i++)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pagePromises.push(</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batchedSp.web.lists.getByTitle(list.title).items</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.select('Id', 'Title', 'SessionDate', /* ...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.orderBy('SessionDate', true)</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.top(pageSize).skip(i * pageSize)() as Promise&lt;IEventItem[]&gt;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await execute();</a:t>
            </a:r>
            <a:endParaRPr lang="en-US" sz="1200" dirty="0"/>
          </a:p>
          <a:p>
            <a:pPr marL="0" indent="0">
              <a:buNone/>
            </a:pPr>
            <a:r>
              <a:rPr lang="en-US" sz="1200" dirty="0">
                <a:solidFill>
                  <a:srgbClr val="F0F4FF"/>
                </a:solidFill>
                <a:latin typeface="Consolas" pitchFamily="34" charset="0"/>
                <a:ea typeface="Consolas" pitchFamily="34" charset="-122"/>
                <a:cs typeface="Consolas" pitchFamily="34" charset="-120"/>
              </a:rPr>
              <a:t>const items = (await Promise.all(pagePromises)).flat();</a:t>
            </a:r>
            <a:endParaRPr lang="en-US" sz="1200" dirty="0"/>
          </a:p>
        </p:txBody>
      </p:sp>
      <p:sp>
        <p:nvSpPr>
          <p:cNvPr id="7" name="Text 5"/>
          <p:cNvSpPr/>
          <p:nvPr/>
        </p:nvSpPr>
        <p:spPr>
          <a:xfrm>
            <a:off x="457200" y="4617720"/>
            <a:ext cx="11274552" cy="457200"/>
          </a:xfrm>
          <a:prstGeom prst="rect">
            <a:avLst/>
          </a:prstGeom>
          <a:noFill/>
          <a:ln/>
        </p:spPr>
        <p:txBody>
          <a:bodyPr wrap="square" rtlCol="0" anchor="ctr"/>
          <a:lstStyle/>
          <a:p>
            <a:pPr marL="0" indent="0">
              <a:buNone/>
            </a:pPr>
            <a:r>
              <a:rPr lang="en-US" sz="1600" b="1" dirty="0">
                <a:solidFill>
                  <a:srgbClr val="00E5FF"/>
                </a:solidFill>
                <a:latin typeface="Calibri" pitchFamily="34" charset="0"/>
                <a:ea typeface="Calibri" pitchFamily="34" charset="-122"/>
                <a:cs typeface="Calibri" pitchFamily="34" charset="-120"/>
              </a:rPr>
              <a:t>100 paginated reads → one HTTP request to /_api/$batch. The same wiring works for add/update/delete.</a:t>
            </a:r>
            <a:endParaRPr lang="en-US" sz="1600" dirty="0"/>
          </a:p>
        </p:txBody>
      </p:sp>
      <p:sp>
        <p:nvSpPr>
          <p:cNvPr id="8" name="Text 6"/>
          <p:cNvSpPr/>
          <p:nvPr/>
        </p:nvSpPr>
        <p:spPr>
          <a:xfrm>
            <a:off x="457200" y="5166360"/>
            <a:ext cx="11274552" cy="365760"/>
          </a:xfrm>
          <a:prstGeom prst="rect">
            <a:avLst/>
          </a:prstGeom>
          <a:noFill/>
          <a:ln/>
        </p:spPr>
        <p:txBody>
          <a:bodyPr wrap="square" rtlCol="0" anchor="ctr"/>
          <a:lstStyle/>
          <a:p>
            <a:pPr marL="0" indent="0">
              <a:buNone/>
            </a:pPr>
            <a:r>
              <a:rPr lang="en-US" sz="1300" b="1" dirty="0">
                <a:solidFill>
                  <a:srgbClr val="B580FF"/>
                </a:solidFill>
                <a:latin typeface="Calibri" pitchFamily="34" charset="0"/>
                <a:ea typeface="Calibri" pitchFamily="34" charset="-122"/>
                <a:cs typeface="Calibri" pitchFamily="34" charset="-120"/>
              </a:rPr>
              <a:t>Why it matters</a:t>
            </a:r>
            <a:endParaRPr lang="en-US" sz="1300" dirty="0"/>
          </a:p>
        </p:txBody>
      </p:sp>
      <p:sp>
        <p:nvSpPr>
          <p:cNvPr id="9" name="Text 7"/>
          <p:cNvSpPr/>
          <p:nvPr/>
        </p:nvSpPr>
        <p:spPr>
          <a:xfrm>
            <a:off x="457200" y="5440680"/>
            <a:ext cx="11274552" cy="914400"/>
          </a:xfrm>
          <a:prstGeom prst="rect">
            <a:avLst/>
          </a:prstGeom>
          <a:noFill/>
          <a:ln/>
        </p:spPr>
        <p:txBody>
          <a:bodyPr wrap="square" rtlCol="0" anchor="t"/>
          <a:lstStyle/>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Latency: one round trip beats N. Especially over slow links.</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Throttling: SharePoint counts requests, not inner operations. Your throttle escape hatch.</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Atomicity-ish: not a real transaction, but closer than N independent calls.</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286000"/>
            <a:ext cx="11274552" cy="731520"/>
          </a:xfrm>
          <a:prstGeom prst="rect">
            <a:avLst/>
          </a:prstGeom>
          <a:noFill/>
          <a:ln/>
        </p:spPr>
        <p:txBody>
          <a:bodyPr wrap="square" rtlCol="0" anchor="ctr"/>
          <a:lstStyle/>
          <a:p>
            <a:pPr marL="0" indent="0" algn="ctr">
              <a:buNone/>
            </a:pPr>
            <a:r>
              <a:rPr lang="en-US" sz="1800" kern="0" spc="1200" dirty="0">
                <a:solidFill>
                  <a:srgbClr val="B580FF"/>
                </a:solidFill>
                <a:latin typeface="Calibri" pitchFamily="34" charset="0"/>
                <a:ea typeface="Calibri" pitchFamily="34" charset="-122"/>
                <a:cs typeface="Calibri" pitchFamily="34" charset="-120"/>
              </a:rPr>
              <a:t>WRAP</a:t>
            </a:r>
            <a:endParaRPr lang="en-US" sz="1800" dirty="0"/>
          </a:p>
        </p:txBody>
      </p:sp>
      <p:sp>
        <p:nvSpPr>
          <p:cNvPr id="3" name="Text 1"/>
          <p:cNvSpPr/>
          <p:nvPr/>
        </p:nvSpPr>
        <p:spPr>
          <a:xfrm>
            <a:off x="457200" y="3017520"/>
            <a:ext cx="11274552" cy="1280160"/>
          </a:xfrm>
          <a:prstGeom prst="rect">
            <a:avLst/>
          </a:prstGeom>
          <a:noFill/>
          <a:ln/>
        </p:spPr>
        <p:txBody>
          <a:bodyPr wrap="square" rtlCol="0" anchor="ctr"/>
          <a:lstStyle/>
          <a:p>
            <a:pPr marL="0" indent="0" algn="ctr">
              <a:buNone/>
            </a:pPr>
            <a:r>
              <a:rPr lang="en-US" sz="6400" b="1" dirty="0">
                <a:solidFill>
                  <a:srgbClr val="00E5FF"/>
                </a:solidFill>
                <a:latin typeface="Calibri" pitchFamily="34" charset="0"/>
                <a:ea typeface="Calibri" pitchFamily="34" charset="-122"/>
                <a:cs typeface="Calibri" pitchFamily="34" charset="-120"/>
              </a:rPr>
              <a:t>When and Why</a:t>
            </a:r>
            <a:endParaRPr lang="en-US" sz="6400" dirty="0"/>
          </a:p>
        </p:txBody>
      </p:sp>
      <p:sp>
        <p:nvSpPr>
          <p:cNvPr id="4" name="Shape 2"/>
          <p:cNvSpPr/>
          <p:nvPr/>
        </p:nvSpPr>
        <p:spPr>
          <a:xfrm>
            <a:off x="5641848" y="4434840"/>
            <a:ext cx="914400" cy="45720"/>
          </a:xfrm>
          <a:prstGeom prst="rect">
            <a:avLst/>
          </a:prstGeom>
          <a:solidFill>
            <a:srgbClr val="B580FF"/>
          </a:solidFill>
          <a:ln w="12700">
            <a:solidFill>
              <a:srgbClr val="B580FF"/>
            </a:solidFill>
            <a:prstDash val="solid"/>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When to still reach for SPFx-native</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207008"/>
            <a:ext cx="11274552" cy="365760"/>
          </a:xfrm>
          <a:prstGeom prst="rect">
            <a:avLst/>
          </a:prstGeom>
          <a:noFill/>
          <a:ln/>
        </p:spPr>
        <p:txBody>
          <a:bodyPr wrap="square" rtlCol="0" anchor="ctr"/>
          <a:lstStyle/>
          <a:p>
            <a:pPr marL="0" indent="0">
              <a:buNone/>
            </a:pPr>
            <a:r>
              <a:rPr lang="en-US" sz="1600" i="1" dirty="0">
                <a:solidFill>
                  <a:srgbClr val="A4ADCE"/>
                </a:solidFill>
                <a:latin typeface="Calibri" pitchFamily="34" charset="0"/>
                <a:ea typeface="Calibri" pitchFamily="34" charset="-122"/>
                <a:cs typeface="Calibri" pitchFamily="34" charset="-120"/>
              </a:rPr>
              <a:t>PnPjs is the default. But it's not free.</a:t>
            </a:r>
            <a:endParaRPr lang="en-US" sz="1600" dirty="0"/>
          </a:p>
        </p:txBody>
      </p:sp>
      <p:sp>
        <p:nvSpPr>
          <p:cNvPr id="5" name="Text 3"/>
          <p:cNvSpPr/>
          <p:nvPr/>
        </p:nvSpPr>
        <p:spPr>
          <a:xfrm>
            <a:off x="457200" y="1737360"/>
            <a:ext cx="11274552" cy="4572000"/>
          </a:xfrm>
          <a:prstGeom prst="rect">
            <a:avLst/>
          </a:prstGeom>
          <a:noFill/>
          <a:ln/>
        </p:spPr>
        <p:txBody>
          <a:bodyPr wrap="square" rtlCol="0" anchor="t"/>
          <a:lstStyle/>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Bundle size matters. PnPjs adds ~50–80 KB depending on imports. For a single-purpose tile that does one Graph call, that's a lot.</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One-off calls with no list interaction (a single /me ping, a webhook trigger).</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Debugging a network issue — fewer abstractions between you and the wire.</a:t>
            </a:r>
            <a:endParaRPr lang="en-US" sz="1800" dirty="0"/>
          </a:p>
          <a:p>
            <a:pPr marL="342900" indent="-342900">
              <a:spcAft>
                <a:spcPts val="600"/>
              </a:spcAft>
              <a:buSzPct val="100000"/>
              <a:buChar char="●"/>
            </a:pPr>
            <a:r>
              <a:rPr lang="en-US" sz="1800" dirty="0">
                <a:solidFill>
                  <a:srgbClr val="F0F4FF"/>
                </a:solidFill>
                <a:latin typeface="Calibri" pitchFamily="34" charset="0"/>
                <a:ea typeface="Calibri" pitchFamily="34" charset="-122"/>
                <a:cs typeface="Calibri" pitchFamily="34" charset="-120"/>
              </a:rPr>
              <a:t>Your team doesn't know PnPjs yet and the call is trivial. </a:t>
            </a:r>
          </a:p>
          <a:p>
            <a:pPr marL="342900" indent="-342900">
              <a:spcAft>
                <a:spcPts val="600"/>
              </a:spcAft>
              <a:buSzPct val="100000"/>
              <a:buChar char="●"/>
            </a:pPr>
            <a:endParaRPr lang="en-US" b="1" i="1" dirty="0">
              <a:solidFill>
                <a:srgbClr val="F0F4FF"/>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800" b="1" i="1" dirty="0">
              <a:solidFill>
                <a:srgbClr val="F0F4FF"/>
              </a:solidFill>
              <a:latin typeface="Calibri" pitchFamily="34" charset="0"/>
              <a:ea typeface="Calibri" pitchFamily="34" charset="-122"/>
              <a:cs typeface="Calibri" pitchFamily="34" charset="-120"/>
            </a:endParaRPr>
          </a:p>
          <a:p>
            <a:pPr>
              <a:spcAft>
                <a:spcPts val="600"/>
              </a:spcAft>
              <a:buSzPct val="100000"/>
            </a:pPr>
            <a:r>
              <a:rPr lang="en-US" sz="1800" b="1" i="1" dirty="0">
                <a:solidFill>
                  <a:srgbClr val="00E5FF"/>
                </a:solidFill>
                <a:latin typeface="Calibri" pitchFamily="34" charset="0"/>
                <a:ea typeface="Calibri" pitchFamily="34" charset="-122"/>
                <a:cs typeface="Calibri" pitchFamily="34" charset="-120"/>
              </a:rPr>
              <a:t>	Default: PnPjs. </a:t>
            </a:r>
          </a:p>
          <a:p>
            <a:pPr>
              <a:spcAft>
                <a:spcPts val="600"/>
              </a:spcAft>
              <a:buSzPct val="100000"/>
            </a:pPr>
            <a:r>
              <a:rPr lang="en-US" b="1" i="1" dirty="0">
                <a:solidFill>
                  <a:srgbClr val="00E5FF"/>
                </a:solidFill>
                <a:latin typeface="Calibri" pitchFamily="34" charset="0"/>
                <a:ea typeface="Calibri" pitchFamily="34" charset="-122"/>
                <a:cs typeface="Calibri" pitchFamily="34" charset="-120"/>
              </a:rPr>
              <a:t>	</a:t>
            </a:r>
            <a:r>
              <a:rPr lang="en-US" sz="1800" b="1" i="1" dirty="0">
                <a:solidFill>
                  <a:srgbClr val="00E5FF"/>
                </a:solidFill>
                <a:latin typeface="Calibri" pitchFamily="34" charset="0"/>
                <a:ea typeface="Calibri" pitchFamily="34" charset="-122"/>
                <a:cs typeface="Calibri" pitchFamily="34" charset="-120"/>
              </a:rPr>
              <a:t>Exceptions: above.</a:t>
            </a:r>
            <a:endParaRPr lang="en-US" sz="18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Decision cheat sheet</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3456432"/>
        </p:xfrm>
        <a:graphic>
          <a:graphicData uri="http://schemas.openxmlformats.org/drawingml/2006/table">
            <a:tbl>
              <a:tblPr/>
              <a:tblGrid>
                <a:gridCol w="5943600">
                  <a:extLst>
                    <a:ext uri="{9D8B030D-6E8A-4147-A177-3AD203B41FA5}">
                      <a16:colId xmlns:a16="http://schemas.microsoft.com/office/drawing/2014/main" val="20000"/>
                    </a:ext>
                  </a:extLst>
                </a:gridCol>
                <a:gridCol w="5330952">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00E5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tc>
                  <a:txBody>
                    <a:bodyPr/>
                    <a:lstStyle/>
                    <a:p>
                      <a:pPr marL="0" indent="0">
                        <a:buNone/>
                      </a:pPr>
                      <a:r>
                        <a:rPr lang="en-US" sz="1400" b="1" dirty="0">
                          <a:solidFill>
                            <a:srgbClr val="00E5FF"/>
                          </a:solidFill>
                          <a:latin typeface="Calibri" pitchFamily="34" charset="0"/>
                          <a:ea typeface="Calibri" pitchFamily="34" charset="-122"/>
                          <a:cs typeface="Calibri" pitchFamily="34" charset="-120"/>
                        </a:rPr>
                        <a:t>Use</a:t>
                      </a:r>
                      <a:endParaRPr lang="en-US" sz="14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B2348"/>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List CRUD on the current site</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PnPjs SP</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List CRUD across sites (one tenant)</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PnPjs Graph</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Cross-tenant or app-only</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PnPjs Graph (with custom auth)</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One-off anonymous fetch</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SPFx HttpClient</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Many anonymous fetches, want consistency</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PnPjs Queryable</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Prototyping a Graph endpoint</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SPFx MSGraphClientV3 (or Graph Explorer)</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Single-purpose perf-critical tile</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SPFx native</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7"/>
                  </a:ext>
                </a:extLst>
              </a:tr>
              <a:tr h="384048">
                <a:tc>
                  <a:txBody>
                    <a:bodyPr/>
                    <a:lstStyle/>
                    <a:p>
                      <a:pPr marL="0" indent="0">
                        <a:buNone/>
                      </a:pPr>
                      <a:r>
                        <a:rPr lang="en-US" sz="1300" dirty="0">
                          <a:solidFill>
                            <a:srgbClr val="F0F4FF"/>
                          </a:solidFill>
                          <a:latin typeface="Calibri" pitchFamily="34" charset="0"/>
                          <a:ea typeface="Calibri" pitchFamily="34" charset="-122"/>
                          <a:cs typeface="Calibri" pitchFamily="34" charset="-120"/>
                        </a:rPr>
                        <a:t>You need logging/caching/batching</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tc>
                  <a:txBody>
                    <a:bodyPr/>
                    <a:lstStyle/>
                    <a:p>
                      <a:pPr marL="0" indent="0">
                        <a:buNone/>
                      </a:pPr>
                      <a:r>
                        <a:rPr lang="en-US" sz="1300" b="1" dirty="0">
                          <a:solidFill>
                            <a:srgbClr val="00E5FF"/>
                          </a:solidFill>
                          <a:latin typeface="Calibri" pitchFamily="34" charset="0"/>
                          <a:ea typeface="Calibri" pitchFamily="34" charset="-122"/>
                          <a:cs typeface="Calibri" pitchFamily="34" charset="-120"/>
                        </a:rPr>
                        <a:t>PnPjs (every time)</a:t>
                      </a:r>
                      <a:endParaRPr lang="en-US" sz="1300" dirty="0">
                        <a:latin typeface="Calibri" charset="0"/>
                        <a:ea typeface="Calibri" charset="0"/>
                        <a:cs typeface="Calibri" charset="0"/>
                      </a:endParaRPr>
                    </a:p>
                  </a:txBody>
                  <a:tcPr>
                    <a:lnL w="9525" cap="flat" cmpd="sng" algn="ctr">
                      <a:solidFill>
                        <a:srgbClr val="2A3258"/>
                      </a:solidFill>
                      <a:prstDash val="solid"/>
                      <a:round/>
                      <a:headEnd type="none" w="med" len="med"/>
                      <a:tailEnd type="none" w="med" len="med"/>
                    </a:lnL>
                    <a:lnR w="9525" cap="flat" cmpd="sng" algn="ctr">
                      <a:solidFill>
                        <a:srgbClr val="2A3258"/>
                      </a:solidFill>
                      <a:prstDash val="solid"/>
                      <a:round/>
                      <a:headEnd type="none" w="med" len="med"/>
                      <a:tailEnd type="none" w="med" len="med"/>
                    </a:lnR>
                    <a:lnT w="9525" cap="flat" cmpd="sng" algn="ctr">
                      <a:solidFill>
                        <a:srgbClr val="2A3258"/>
                      </a:solidFill>
                      <a:prstDash val="solid"/>
                      <a:round/>
                      <a:headEnd type="none" w="med" len="med"/>
                      <a:tailEnd type="none" w="med" len="med"/>
                    </a:lnT>
                    <a:lnB w="9525" cap="flat" cmpd="sng" algn="ctr">
                      <a:solidFill>
                        <a:srgbClr val="2A3258"/>
                      </a:solidFill>
                      <a:prstDash val="solid"/>
                      <a:round/>
                      <a:headEnd type="none" w="med" len="med"/>
                      <a:tailEnd type="none" w="med" len="med"/>
                    </a:lnB>
                    <a:solidFill>
                      <a:srgbClr val="141937"/>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11274552" cy="640080"/>
          </a:xfrm>
          <a:prstGeom prst="rect">
            <a:avLst/>
          </a:prstGeom>
          <a:noFill/>
          <a:ln/>
        </p:spPr>
        <p:txBody>
          <a:bodyPr wrap="square" rtlCol="0" anchor="ctr"/>
          <a:lstStyle/>
          <a:p>
            <a:pPr marL="0" indent="0">
              <a:buNone/>
            </a:pPr>
            <a:r>
              <a:rPr lang="en-US" sz="3000" b="1" dirty="0">
                <a:solidFill>
                  <a:srgbClr val="00E5FF"/>
                </a:solidFill>
                <a:latin typeface="Calibri" pitchFamily="34" charset="0"/>
                <a:ea typeface="Calibri" pitchFamily="34" charset="-122"/>
                <a:cs typeface="Calibri" pitchFamily="34" charset="-120"/>
              </a:rPr>
              <a:t>Three takeaways</a:t>
            </a:r>
            <a:endParaRPr lang="en-US" sz="3000" dirty="0"/>
          </a:p>
        </p:txBody>
      </p:sp>
      <p:sp>
        <p:nvSpPr>
          <p:cNvPr id="3" name="Shape 1"/>
          <p:cNvSpPr/>
          <p:nvPr/>
        </p:nvSpPr>
        <p:spPr>
          <a:xfrm>
            <a:off x="457200" y="1097280"/>
            <a:ext cx="548640" cy="45720"/>
          </a:xfrm>
          <a:prstGeom prst="rect">
            <a:avLst/>
          </a:prstGeom>
          <a:solidFill>
            <a:srgbClr val="B580FF"/>
          </a:solidFill>
          <a:ln w="12700">
            <a:solidFill>
              <a:srgbClr val="B580FF"/>
            </a:solidFill>
            <a:prstDash val="solid"/>
          </a:ln>
        </p:spPr>
        <p:txBody>
          <a:bodyPr/>
          <a:lstStyle/>
          <a:p>
            <a:endParaRPr lang="en-US"/>
          </a:p>
        </p:txBody>
      </p:sp>
      <p:sp>
        <p:nvSpPr>
          <p:cNvPr id="4" name="Text 2"/>
          <p:cNvSpPr/>
          <p:nvPr/>
        </p:nvSpPr>
        <p:spPr>
          <a:xfrm>
            <a:off x="457200" y="1737360"/>
            <a:ext cx="11274552" cy="2743200"/>
          </a:xfrm>
          <a:prstGeom prst="rect">
            <a:avLst/>
          </a:prstGeom>
          <a:noFill/>
          <a:ln/>
        </p:spPr>
        <p:txBody>
          <a:bodyPr wrap="square" rtlCol="0" anchor="t"/>
          <a:lstStyle/>
          <a:p>
            <a:pPr marL="0" indent="0">
              <a:spcAft>
                <a:spcPts val="800"/>
              </a:spcAft>
              <a:buNone/>
            </a:pPr>
            <a:r>
              <a:rPr lang="en-US" sz="2200" b="1" dirty="0">
                <a:solidFill>
                  <a:srgbClr val="00E5FF"/>
                </a:solidFill>
                <a:latin typeface="Calibri" pitchFamily="34" charset="0"/>
                <a:ea typeface="Calibri" pitchFamily="34" charset="-122"/>
                <a:cs typeface="Calibri" pitchFamily="34" charset="-120"/>
              </a:rPr>
              <a:t>1.  </a:t>
            </a:r>
            <a:r>
              <a:rPr lang="en-US" sz="2200" dirty="0">
                <a:solidFill>
                  <a:srgbClr val="F0F4FF"/>
                </a:solidFill>
                <a:latin typeface="Calibri" pitchFamily="34" charset="0"/>
                <a:ea typeface="Calibri" pitchFamily="34" charset="-122"/>
                <a:cs typeface="Calibri" pitchFamily="34" charset="-120"/>
              </a:rPr>
              <a:t>PnPjs makes the same HTTP request, just typed for you.</a:t>
            </a:r>
            <a:endParaRPr lang="en-US" sz="2200" dirty="0"/>
          </a:p>
          <a:p>
            <a:pPr marL="0" indent="0">
              <a:spcAft>
                <a:spcPts val="8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marL="0" indent="0">
              <a:spcAft>
                <a:spcPts val="800"/>
              </a:spcAft>
              <a:buNone/>
            </a:pPr>
            <a:r>
              <a:rPr lang="en-US" sz="2200" b="1" dirty="0">
                <a:solidFill>
                  <a:srgbClr val="00E5FF"/>
                </a:solidFill>
                <a:latin typeface="Calibri" pitchFamily="34" charset="0"/>
                <a:ea typeface="Calibri" pitchFamily="34" charset="-122"/>
                <a:cs typeface="Calibri" pitchFamily="34" charset="-120"/>
              </a:rPr>
              <a:t>2.  </a:t>
            </a:r>
            <a:r>
              <a:rPr lang="en-US" sz="2200" dirty="0">
                <a:solidFill>
                  <a:srgbClr val="F0F4FF"/>
                </a:solidFill>
                <a:latin typeface="Calibri" pitchFamily="34" charset="0"/>
                <a:ea typeface="Calibri" pitchFamily="34" charset="-122"/>
                <a:cs typeface="Calibri" pitchFamily="34" charset="-120"/>
              </a:rPr>
              <a:t>Logging, caching, and batching are one toggle each.</a:t>
            </a:r>
            <a:endParaRPr lang="en-US" sz="2200" dirty="0"/>
          </a:p>
          <a:p>
            <a:pPr marL="0" indent="0">
              <a:spcAft>
                <a:spcPts val="800"/>
              </a:spcAft>
              <a:buNone/>
            </a:pPr>
            <a:r>
              <a:rPr lang="en-US" sz="800" dirty="0">
                <a:solidFill>
                  <a:srgbClr val="000000"/>
                </a:solidFill>
                <a:latin typeface="Calibri" pitchFamily="34" charset="0"/>
                <a:ea typeface="Calibri" pitchFamily="34" charset="-122"/>
                <a:cs typeface="Calibri" pitchFamily="34" charset="-120"/>
              </a:rPr>
              <a:t> </a:t>
            </a:r>
            <a:endParaRPr lang="en-US" sz="2200" dirty="0"/>
          </a:p>
          <a:p>
            <a:pPr marL="0" indent="0">
              <a:spcAft>
                <a:spcPts val="800"/>
              </a:spcAft>
              <a:buNone/>
            </a:pPr>
            <a:r>
              <a:rPr lang="en-US" sz="2200" b="1" dirty="0">
                <a:solidFill>
                  <a:srgbClr val="00E5FF"/>
                </a:solidFill>
                <a:latin typeface="Calibri" pitchFamily="34" charset="0"/>
                <a:ea typeface="Calibri" pitchFamily="34" charset="-122"/>
                <a:cs typeface="Calibri" pitchFamily="34" charset="-120"/>
              </a:rPr>
              <a:t>3.  </a:t>
            </a:r>
            <a:r>
              <a:rPr lang="en-US" sz="2200" dirty="0">
                <a:solidFill>
                  <a:srgbClr val="F0F4FF"/>
                </a:solidFill>
                <a:latin typeface="Calibri" pitchFamily="34" charset="0"/>
                <a:ea typeface="Calibri" pitchFamily="34" charset="-122"/>
                <a:cs typeface="Calibri" pitchFamily="34" charset="-120"/>
              </a:rPr>
              <a:t>Reach for SPFx-native deliberately, not by default.</a:t>
            </a:r>
            <a:endParaRPr lang="en-US" sz="2200" dirty="0"/>
          </a:p>
        </p:txBody>
      </p:sp>
      <p:sp>
        <p:nvSpPr>
          <p:cNvPr id="5" name="Text 3"/>
          <p:cNvSpPr/>
          <p:nvPr/>
        </p:nvSpPr>
        <p:spPr>
          <a:xfrm>
            <a:off x="457200" y="4617720"/>
            <a:ext cx="11274552" cy="365760"/>
          </a:xfrm>
          <a:prstGeom prst="rect">
            <a:avLst/>
          </a:prstGeom>
          <a:noFill/>
          <a:ln/>
        </p:spPr>
        <p:txBody>
          <a:bodyPr wrap="square" rtlCol="0" anchor="ctr"/>
          <a:lstStyle/>
          <a:p>
            <a:pPr marL="0" indent="0">
              <a:buNone/>
            </a:pPr>
            <a:r>
              <a:rPr lang="en-US" sz="1400" b="1" dirty="0">
                <a:solidFill>
                  <a:srgbClr val="B580FF"/>
                </a:solidFill>
                <a:latin typeface="Calibri" pitchFamily="34" charset="0"/>
                <a:ea typeface="Calibri" pitchFamily="34" charset="-122"/>
                <a:cs typeface="Calibri" pitchFamily="34" charset="-120"/>
              </a:rPr>
              <a:t>Resources</a:t>
            </a:r>
            <a:endParaRPr lang="en-US" sz="1400" dirty="0"/>
          </a:p>
        </p:txBody>
      </p:sp>
      <p:sp>
        <p:nvSpPr>
          <p:cNvPr id="6" name="Text 4"/>
          <p:cNvSpPr/>
          <p:nvPr/>
        </p:nvSpPr>
        <p:spPr>
          <a:xfrm>
            <a:off x="457200" y="4937760"/>
            <a:ext cx="11274552" cy="1371600"/>
          </a:xfrm>
          <a:prstGeom prst="rect">
            <a:avLst/>
          </a:prstGeom>
          <a:noFill/>
          <a:ln/>
        </p:spPr>
        <p:txBody>
          <a:bodyPr wrap="square" rtlCol="0" anchor="t"/>
          <a:lstStyle/>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PnPjs docs — https://pnp.github.io/pnpjs/</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SPFx HTTP clients — https://learn.microsoft.com/sharepoint/dev/spfx/web-parts/basics/connect-to-sharepoint</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Microsoft Graph — https://learn.microsoft.com/graph/</a:t>
            </a:r>
            <a:endParaRPr lang="en-US" sz="1300" dirty="0"/>
          </a:p>
          <a:p>
            <a:pPr marL="342900" indent="-342900">
              <a:spcAft>
                <a:spcPts val="200"/>
              </a:spcAft>
              <a:buSzPct val="100000"/>
              <a:buChar char="●"/>
            </a:pPr>
            <a:r>
              <a:rPr lang="en-US" sz="1300" dirty="0">
                <a:solidFill>
                  <a:srgbClr val="F0F4FF"/>
                </a:solidFill>
                <a:latin typeface="Calibri" pitchFamily="34" charset="0"/>
                <a:ea typeface="Calibri" pitchFamily="34" charset="-122"/>
                <a:cs typeface="Calibri" pitchFamily="34" charset="-120"/>
              </a:rPr>
              <a:t>This demo project — https://github.com/DonKirkham/DataDemo</a:t>
            </a:r>
            <a:endParaRPr lang="en-US" sz="1300" dirty="0"/>
          </a:p>
        </p:txBody>
      </p:sp>
      <p:sp>
        <p:nvSpPr>
          <p:cNvPr id="25" name="Slide Number Placeholder 0"/>
          <p:cNvSpPr>
            <a:spLocks noGrp="1"/>
          </p:cNvSpPr>
          <p:nvPr>
            <p:ph type="sldNum" sz="quarter" idx="4294967295"/>
          </p:nvPr>
        </p:nvSpPr>
        <p:spPr>
          <a:xfrm>
            <a:off x="10515600" y="6492240"/>
            <a:ext cx="11887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0E5FF"/>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560320"/>
            <a:ext cx="11274552" cy="1463040"/>
          </a:xfrm>
          <a:prstGeom prst="rect">
            <a:avLst/>
          </a:prstGeom>
          <a:noFill/>
          <a:ln/>
        </p:spPr>
        <p:txBody>
          <a:bodyPr wrap="square" rtlCol="0" anchor="ctr"/>
          <a:lstStyle/>
          <a:p>
            <a:pPr marL="0" indent="0" algn="ctr">
              <a:buNone/>
            </a:pPr>
            <a:r>
              <a:rPr lang="en-US" sz="9600" b="1" dirty="0">
                <a:solidFill>
                  <a:srgbClr val="00E5FF"/>
                </a:solidFill>
                <a:latin typeface="Calibri" pitchFamily="34" charset="0"/>
                <a:ea typeface="Calibri" pitchFamily="34" charset="-122"/>
                <a:cs typeface="Calibri" pitchFamily="34" charset="-120"/>
              </a:rPr>
              <a:t>Q&amp;A</a:t>
            </a:r>
            <a:endParaRPr lang="en-US" sz="9600" dirty="0"/>
          </a:p>
        </p:txBody>
      </p:sp>
      <p:sp>
        <p:nvSpPr>
          <p:cNvPr id="3" name="Text 1"/>
          <p:cNvSpPr/>
          <p:nvPr/>
        </p:nvSpPr>
        <p:spPr>
          <a:xfrm>
            <a:off x="457200" y="4206240"/>
            <a:ext cx="11274552" cy="548640"/>
          </a:xfrm>
          <a:prstGeom prst="rect">
            <a:avLst/>
          </a:prstGeom>
          <a:noFill/>
          <a:ln/>
        </p:spPr>
        <p:txBody>
          <a:bodyPr wrap="square" rtlCol="0" anchor="ctr"/>
          <a:lstStyle/>
          <a:p>
            <a:pPr marL="0" indent="0" algn="ctr">
              <a:buNone/>
            </a:pPr>
            <a:r>
              <a:rPr lang="en-US" sz="2400" i="1" dirty="0">
                <a:solidFill>
                  <a:srgbClr val="B580FF"/>
                </a:solidFill>
                <a:latin typeface="Calibri" pitchFamily="34" charset="0"/>
                <a:ea typeface="Calibri" pitchFamily="34" charset="-122"/>
                <a:cs typeface="Calibri"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3409</Words>
  <Application>Microsoft Office PowerPoint</Application>
  <PresentationFormat>Widescreen</PresentationFormat>
  <Paragraphs>386</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Solution Foundry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and Writing SharePoint Data from SPFx</dc:title>
  <dc:subject>PptxGenJS Presentation</dc:subject>
  <dc:creator>Don Kirkham</dc:creator>
  <cp:lastModifiedBy>Don Kirkham</cp:lastModifiedBy>
  <cp:revision>2</cp:revision>
  <dcterms:created xsi:type="dcterms:W3CDTF">2026-04-30T19:16:32Z</dcterms:created>
  <dcterms:modified xsi:type="dcterms:W3CDTF">2026-04-30T20:02:42Z</dcterms:modified>
</cp:coreProperties>
</file>